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varScale="1">
        <p:scale>
          <a:sx n="104" d="100"/>
          <a:sy n="104" d="100"/>
        </p:scale>
        <p:origin x="232" y="7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point-in-time, drawn from recent programme material. Confirm and date before submission.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5.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2.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C3A"/>
        </a:solidFill>
        <a:effectLst/>
      </p:bgPr>
    </p:bg>
    <p:spTree>
      <p:nvGrpSpPr>
        <p:cNvPr id="1" name=""/>
        <p:cNvGrpSpPr/>
        <p:nvPr/>
      </p:nvGrpSpPr>
      <p:grpSpPr>
        <a:xfrm>
          <a:off x="0" y="0"/>
          <a:ext cx="0" cy="0"/>
          <a:chOff x="0" y="0"/>
          <a:chExt cx="0" cy="0"/>
        </a:xfrm>
      </p:grpSpPr>
      <p:pic>
        <p:nvPicPr>
          <p:cNvPr id="2" name="Image 0" descr="/home/claude/deck/img/split_engineer.jpg"/>
          <p:cNvPicPr>
            <a:picLocks noChangeAspect="1"/>
          </p:cNvPicPr>
          <p:nvPr/>
        </p:nvPicPr>
        <p:blipFill>
          <a:blip r:embed="rId3"/>
          <a:srcRect b="3370"/>
          <a:stretch>
            <a:fillRect/>
          </a:stretch>
        </p:blipFill>
        <p:spPr>
          <a:xfrm>
            <a:off x="6684884" y="0"/>
            <a:ext cx="5507116" cy="6858000"/>
          </a:xfrm>
          <a:prstGeom prst="rect">
            <a:avLst/>
          </a:prstGeom>
        </p:spPr>
      </p:pic>
      <p:pic>
        <p:nvPicPr>
          <p:cNvPr id="3" name="Image 1" descr="/home/claude/deck/img/logo_rev.png"/>
          <p:cNvPicPr>
            <a:picLocks noChangeAspect="1"/>
          </p:cNvPicPr>
          <p:nvPr/>
        </p:nvPicPr>
        <p:blipFill>
          <a:blip r:embed="rId4"/>
          <a:stretch>
            <a:fillRect/>
          </a:stretch>
        </p:blipFill>
        <p:spPr>
          <a:xfrm>
            <a:off x="640080" y="731520"/>
            <a:ext cx="2194560" cy="721895"/>
          </a:xfrm>
          <a:prstGeom prst="rect">
            <a:avLst/>
          </a:prstGeom>
        </p:spPr>
      </p:pic>
      <p:sp>
        <p:nvSpPr>
          <p:cNvPr id="4" name="Text 0"/>
          <p:cNvSpPr/>
          <p:nvPr/>
        </p:nvSpPr>
        <p:spPr>
          <a:xfrm>
            <a:off x="640080" y="1591056"/>
            <a:ext cx="868680" cy="352179"/>
          </a:xfrm>
          <a:prstGeom prst="rect">
            <a:avLst/>
          </a:prstGeom>
          <a:noFill/>
          <a:ln/>
        </p:spPr>
        <p:txBody>
          <a:bodyPr wrap="square" lIns="0" tIns="0" rIns="0" bIns="0" rtlCol="0" anchor="ctr"/>
          <a:lstStyle/>
          <a:p>
            <a:pPr marL="0" indent="0">
              <a:buNone/>
            </a:pPr>
            <a:r>
              <a:rPr lang="en-US" sz="900" b="1" kern="0" spc="250" dirty="0">
                <a:solidFill>
                  <a:srgbClr val="6AC2D8"/>
                </a:solidFill>
                <a:latin typeface="Manrope" pitchFamily="34" charset="0"/>
                <a:ea typeface="Manrope" pitchFamily="34" charset="-122"/>
                <a:cs typeface="Manrope" pitchFamily="34" charset="-120"/>
              </a:rPr>
              <a:t>PART OF</a:t>
            </a:r>
            <a:endParaRPr lang="en-US" sz="900" dirty="0"/>
          </a:p>
        </p:txBody>
      </p:sp>
      <p:pic>
        <p:nvPicPr>
          <p:cNvPr id="5" name="Image 2" descr="/home/claude/deck/img/sustec_rev.png"/>
          <p:cNvPicPr>
            <a:picLocks noChangeAspect="1"/>
          </p:cNvPicPr>
          <p:nvPr/>
        </p:nvPicPr>
        <p:blipFill>
          <a:blip r:embed="rId5"/>
          <a:stretch>
            <a:fillRect/>
          </a:stretch>
        </p:blipFill>
        <p:spPr>
          <a:xfrm>
            <a:off x="1481328" y="1591056"/>
            <a:ext cx="1783080" cy="352179"/>
          </a:xfrm>
          <a:prstGeom prst="rect">
            <a:avLst/>
          </a:prstGeom>
        </p:spPr>
      </p:pic>
      <p:sp>
        <p:nvSpPr>
          <p:cNvPr id="6" name="Text 1"/>
          <p:cNvSpPr/>
          <p:nvPr/>
        </p:nvSpPr>
        <p:spPr>
          <a:xfrm>
            <a:off x="640080" y="2606040"/>
            <a:ext cx="5486400" cy="320040"/>
          </a:xfrm>
          <a:prstGeom prst="rect">
            <a:avLst/>
          </a:prstGeom>
          <a:noFill/>
          <a:ln/>
        </p:spPr>
        <p:txBody>
          <a:bodyPr wrap="square" lIns="0" tIns="0" rIns="0" bIns="0" rtlCol="0" anchor="ctr"/>
          <a:lstStyle/>
          <a:p>
            <a:pPr marL="0" indent="0">
              <a:buNone/>
            </a:pPr>
            <a:r>
              <a:rPr lang="en-US" sz="1300" b="1" kern="0" spc="300" dirty="0">
                <a:solidFill>
                  <a:srgbClr val="00B6DB"/>
                </a:solidFill>
                <a:latin typeface="Manrope" pitchFamily="34" charset="0"/>
                <a:ea typeface="Manrope" pitchFamily="34" charset="-122"/>
                <a:cs typeface="Manrope" pitchFamily="34" charset="-120"/>
              </a:rPr>
              <a:t>PROPOSAL</a:t>
            </a:r>
            <a:endParaRPr lang="en-US" sz="1300" dirty="0"/>
          </a:p>
        </p:txBody>
      </p:sp>
      <p:sp>
        <p:nvSpPr>
          <p:cNvPr id="7" name="Text 2"/>
          <p:cNvSpPr/>
          <p:nvPr/>
        </p:nvSpPr>
        <p:spPr>
          <a:xfrm>
            <a:off x="640080" y="3017520"/>
            <a:ext cx="5760720" cy="1463040"/>
          </a:xfrm>
          <a:prstGeom prst="rect">
            <a:avLst/>
          </a:prstGeom>
          <a:noFill/>
          <a:ln/>
        </p:spPr>
        <p:txBody>
          <a:bodyPr wrap="square" lIns="0" tIns="0" rIns="0" bIns="0" rtlCol="0" anchor="ctr"/>
          <a:lstStyle/>
          <a:p>
            <a:pPr marL="0" indent="0">
              <a:lnSpc>
                <a:spcPct val="102000"/>
              </a:lnSpc>
              <a:buNone/>
            </a:pPr>
            <a:r>
              <a:rPr lang="en-US" sz="3800" b="1" dirty="0">
                <a:solidFill>
                  <a:srgbClr val="FFFFFF"/>
                </a:solidFill>
                <a:latin typeface="Manrope" pitchFamily="34" charset="0"/>
                <a:ea typeface="Manrope" pitchFamily="34" charset="-122"/>
                <a:cs typeface="Manrope" pitchFamily="34" charset="-120"/>
              </a:rPr>
              <a:t>[Programme or submission title]</a:t>
            </a:r>
            <a:endParaRPr lang="en-US" sz="3800" dirty="0"/>
          </a:p>
        </p:txBody>
      </p:sp>
      <p:sp>
        <p:nvSpPr>
          <p:cNvPr id="8" name="Text 3"/>
          <p:cNvSpPr/>
          <p:nvPr/>
        </p:nvSpPr>
        <p:spPr>
          <a:xfrm>
            <a:off x="640080" y="4617720"/>
            <a:ext cx="5669280" cy="457200"/>
          </a:xfrm>
          <a:prstGeom prst="rect">
            <a:avLst/>
          </a:prstGeom>
          <a:noFill/>
          <a:ln/>
        </p:spPr>
        <p:txBody>
          <a:bodyPr wrap="square" lIns="0" tIns="0" rIns="0" bIns="0" rtlCol="0" anchor="ctr"/>
          <a:lstStyle/>
          <a:p>
            <a:pPr marL="0" indent="0">
              <a:buNone/>
            </a:pPr>
            <a:r>
              <a:rPr lang="en-US" sz="1700" dirty="0">
                <a:solidFill>
                  <a:srgbClr val="6AC2D8"/>
                </a:solidFill>
                <a:latin typeface="Manrope" pitchFamily="34" charset="0"/>
                <a:ea typeface="Manrope" pitchFamily="34" charset="-122"/>
                <a:cs typeface="Manrope" pitchFamily="34" charset="-120"/>
              </a:rPr>
              <a:t>Prepared for [Client name]</a:t>
            </a:r>
            <a:endParaRPr lang="en-US" sz="1700" dirty="0"/>
          </a:p>
        </p:txBody>
      </p:sp>
      <p:sp>
        <p:nvSpPr>
          <p:cNvPr id="9" name="Text 4"/>
          <p:cNvSpPr/>
          <p:nvPr/>
        </p:nvSpPr>
        <p:spPr>
          <a:xfrm>
            <a:off x="640080" y="6126480"/>
            <a:ext cx="5943600" cy="365760"/>
          </a:xfrm>
          <a:prstGeom prst="rect">
            <a:avLst/>
          </a:prstGeom>
          <a:noFill/>
          <a:ln/>
        </p:spPr>
        <p:txBody>
          <a:bodyPr wrap="square" lIns="0" tIns="0" rIns="0" bIns="0" rtlCol="0" anchor="ctr"/>
          <a:lstStyle/>
          <a:p>
            <a:pPr marL="0" indent="0">
              <a:buNone/>
            </a:pPr>
            <a:r>
              <a:rPr lang="en-US" sz="1050" kern="0" spc="200" dirty="0">
                <a:solidFill>
                  <a:srgbClr val="BCBFCC"/>
                </a:solidFill>
                <a:latin typeface="Manrope" pitchFamily="34" charset="0"/>
                <a:ea typeface="Manrope" pitchFamily="34" charset="-122"/>
                <a:cs typeface="Manrope" pitchFamily="34" charset="-120"/>
              </a:rPr>
              <a:t>COMMERCIAL IN CONFIDENCE     ·     [MONTH YEAR]</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F"/>
        </a:solidFill>
        <a:effectLst/>
      </p:bgPr>
    </p:bg>
    <p:spTree>
      <p:nvGrpSpPr>
        <p:cNvPr id="1" name=""/>
        <p:cNvGrpSpPr/>
        <p:nvPr/>
      </p:nvGrpSpPr>
      <p:grpSpPr>
        <a:xfrm>
          <a:off x="0" y="0"/>
          <a:ext cx="0" cy="0"/>
          <a:chOff x="0" y="0"/>
          <a:chExt cx="0" cy="0"/>
        </a:xfrm>
      </p:grpSpPr>
      <p:pic>
        <p:nvPicPr>
          <p:cNvPr id="2" name="Image 0" descr="/home/claude/deck/img/split_office.jpg"/>
          <p:cNvPicPr>
            <a:picLocks noChangeAspect="1"/>
          </p:cNvPicPr>
          <p:nvPr/>
        </p:nvPicPr>
        <p:blipFill>
          <a:blip r:embed="rId3"/>
          <a:srcRect/>
          <a:stretch/>
        </p:blipFill>
        <p:spPr>
          <a:xfrm>
            <a:off x="6647936" y="0"/>
            <a:ext cx="5543760" cy="6858000"/>
          </a:xfrm>
          <a:prstGeom prst="rect">
            <a:avLst/>
          </a:prstGeom>
        </p:spPr>
      </p:pic>
      <p:sp>
        <p:nvSpPr>
          <p:cNvPr id="3"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PROPOSAL</a:t>
            </a:r>
            <a:endParaRPr lang="en-US" sz="1100" dirty="0"/>
          </a:p>
        </p:txBody>
      </p:sp>
      <p:sp>
        <p:nvSpPr>
          <p:cNvPr id="4" name="Text 1"/>
          <p:cNvSpPr/>
          <p:nvPr/>
        </p:nvSpPr>
        <p:spPr>
          <a:xfrm>
            <a:off x="640080" y="676656"/>
            <a:ext cx="5760720"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Agenda</a:t>
            </a:r>
            <a:endParaRPr lang="en-US" sz="2800" dirty="0"/>
          </a:p>
        </p:txBody>
      </p:sp>
      <p:sp>
        <p:nvSpPr>
          <p:cNvPr id="5" name="Text 2"/>
          <p:cNvSpPr/>
          <p:nvPr/>
        </p:nvSpPr>
        <p:spPr>
          <a:xfrm>
            <a:off x="640080" y="1783080"/>
            <a:ext cx="731520" cy="502920"/>
          </a:xfrm>
          <a:prstGeom prst="rect">
            <a:avLst/>
          </a:prstGeom>
          <a:noFill/>
          <a:ln/>
        </p:spPr>
        <p:txBody>
          <a:bodyPr wrap="square" lIns="0" tIns="0" rIns="0" bIns="0" rtlCol="0" anchor="ctr"/>
          <a:lstStyle/>
          <a:p>
            <a:pPr marL="0" indent="0">
              <a:buNone/>
            </a:pPr>
            <a:r>
              <a:rPr lang="en-US" sz="2000" b="1" dirty="0">
                <a:solidFill>
                  <a:srgbClr val="00B6DB"/>
                </a:solidFill>
                <a:latin typeface="Manrope" pitchFamily="34" charset="0"/>
                <a:ea typeface="Manrope" pitchFamily="34" charset="-122"/>
                <a:cs typeface="Manrope" pitchFamily="34" charset="-120"/>
              </a:rPr>
              <a:t>01</a:t>
            </a:r>
            <a:endParaRPr lang="en-US" sz="2000" dirty="0"/>
          </a:p>
        </p:txBody>
      </p:sp>
      <p:sp>
        <p:nvSpPr>
          <p:cNvPr id="6" name="Text 3"/>
          <p:cNvSpPr/>
          <p:nvPr/>
        </p:nvSpPr>
        <p:spPr>
          <a:xfrm>
            <a:off x="1463040" y="1783080"/>
            <a:ext cx="4937760" cy="502920"/>
          </a:xfrm>
          <a:prstGeom prst="rect">
            <a:avLst/>
          </a:prstGeom>
          <a:noFill/>
          <a:ln/>
        </p:spPr>
        <p:txBody>
          <a:bodyPr wrap="square" lIns="0" tIns="0" rIns="0" bIns="0" rtlCol="0" anchor="ctr"/>
          <a:lstStyle/>
          <a:p>
            <a:pPr marL="0" indent="0">
              <a:buNone/>
            </a:pPr>
            <a:r>
              <a:rPr lang="en-US" sz="1700" dirty="0">
                <a:solidFill>
                  <a:srgbClr val="0C2C3A"/>
                </a:solidFill>
                <a:latin typeface="Manrope" pitchFamily="34" charset="0"/>
                <a:ea typeface="Manrope" pitchFamily="34" charset="-122"/>
                <a:cs typeface="Manrope" pitchFamily="34" charset="-120"/>
              </a:rPr>
              <a:t>The opportunity</a:t>
            </a:r>
            <a:endParaRPr lang="en-US" sz="1700" dirty="0"/>
          </a:p>
        </p:txBody>
      </p:sp>
      <p:sp>
        <p:nvSpPr>
          <p:cNvPr id="7" name="Text 4"/>
          <p:cNvSpPr/>
          <p:nvPr/>
        </p:nvSpPr>
        <p:spPr>
          <a:xfrm>
            <a:off x="640080" y="2496312"/>
            <a:ext cx="731520" cy="502920"/>
          </a:xfrm>
          <a:prstGeom prst="rect">
            <a:avLst/>
          </a:prstGeom>
          <a:noFill/>
          <a:ln/>
        </p:spPr>
        <p:txBody>
          <a:bodyPr wrap="square" lIns="0" tIns="0" rIns="0" bIns="0" rtlCol="0" anchor="ctr"/>
          <a:lstStyle/>
          <a:p>
            <a:pPr marL="0" indent="0">
              <a:buNone/>
            </a:pPr>
            <a:r>
              <a:rPr lang="en-US" sz="2000" b="1" dirty="0">
                <a:solidFill>
                  <a:srgbClr val="00B6DB"/>
                </a:solidFill>
                <a:latin typeface="Manrope" pitchFamily="34" charset="0"/>
                <a:ea typeface="Manrope" pitchFamily="34" charset="-122"/>
                <a:cs typeface="Manrope" pitchFamily="34" charset="-120"/>
              </a:rPr>
              <a:t>02</a:t>
            </a:r>
            <a:endParaRPr lang="en-US" sz="2000" dirty="0"/>
          </a:p>
        </p:txBody>
      </p:sp>
      <p:sp>
        <p:nvSpPr>
          <p:cNvPr id="8" name="Text 5"/>
          <p:cNvSpPr/>
          <p:nvPr/>
        </p:nvSpPr>
        <p:spPr>
          <a:xfrm>
            <a:off x="1463040" y="2496312"/>
            <a:ext cx="4937760" cy="502920"/>
          </a:xfrm>
          <a:prstGeom prst="rect">
            <a:avLst/>
          </a:prstGeom>
          <a:noFill/>
          <a:ln/>
        </p:spPr>
        <p:txBody>
          <a:bodyPr wrap="square" lIns="0" tIns="0" rIns="0" bIns="0" rtlCol="0" anchor="ctr"/>
          <a:lstStyle/>
          <a:p>
            <a:pPr marL="0" indent="0">
              <a:buNone/>
            </a:pPr>
            <a:r>
              <a:rPr lang="en-US" sz="1700" dirty="0">
                <a:solidFill>
                  <a:srgbClr val="0C2C3A"/>
                </a:solidFill>
                <a:latin typeface="Manrope" pitchFamily="34" charset="0"/>
                <a:ea typeface="Manrope" pitchFamily="34" charset="-122"/>
                <a:cs typeface="Manrope" pitchFamily="34" charset="-120"/>
              </a:rPr>
              <a:t>About Aqualogic</a:t>
            </a:r>
            <a:endParaRPr lang="en-US" sz="1700" dirty="0"/>
          </a:p>
        </p:txBody>
      </p:sp>
      <p:sp>
        <p:nvSpPr>
          <p:cNvPr id="9" name="Text 6"/>
          <p:cNvSpPr/>
          <p:nvPr/>
        </p:nvSpPr>
        <p:spPr>
          <a:xfrm>
            <a:off x="640080" y="3209544"/>
            <a:ext cx="731520" cy="502920"/>
          </a:xfrm>
          <a:prstGeom prst="rect">
            <a:avLst/>
          </a:prstGeom>
          <a:noFill/>
          <a:ln/>
        </p:spPr>
        <p:txBody>
          <a:bodyPr wrap="square" lIns="0" tIns="0" rIns="0" bIns="0" rtlCol="0" anchor="ctr"/>
          <a:lstStyle/>
          <a:p>
            <a:pPr marL="0" indent="0">
              <a:buNone/>
            </a:pPr>
            <a:r>
              <a:rPr lang="en-US" sz="2000" b="1" dirty="0">
                <a:solidFill>
                  <a:srgbClr val="00B6DB"/>
                </a:solidFill>
                <a:latin typeface="Manrope" pitchFamily="34" charset="0"/>
                <a:ea typeface="Manrope" pitchFamily="34" charset="-122"/>
                <a:cs typeface="Manrope" pitchFamily="34" charset="-120"/>
              </a:rPr>
              <a:t>03</a:t>
            </a:r>
            <a:endParaRPr lang="en-US" sz="2000" dirty="0"/>
          </a:p>
        </p:txBody>
      </p:sp>
      <p:sp>
        <p:nvSpPr>
          <p:cNvPr id="10" name="Text 7"/>
          <p:cNvSpPr/>
          <p:nvPr/>
        </p:nvSpPr>
        <p:spPr>
          <a:xfrm>
            <a:off x="1463040" y="3209544"/>
            <a:ext cx="4937760" cy="502920"/>
          </a:xfrm>
          <a:prstGeom prst="rect">
            <a:avLst/>
          </a:prstGeom>
          <a:noFill/>
          <a:ln/>
        </p:spPr>
        <p:txBody>
          <a:bodyPr wrap="square" lIns="0" tIns="0" rIns="0" bIns="0" rtlCol="0" anchor="ctr"/>
          <a:lstStyle/>
          <a:p>
            <a:pPr marL="0" indent="0">
              <a:buNone/>
            </a:pPr>
            <a:r>
              <a:rPr lang="en-US" sz="1700" dirty="0">
                <a:solidFill>
                  <a:srgbClr val="0C2C3A"/>
                </a:solidFill>
                <a:latin typeface="Manrope" pitchFamily="34" charset="0"/>
                <a:ea typeface="Manrope" pitchFamily="34" charset="-122"/>
                <a:cs typeface="Manrope" pitchFamily="34" charset="-120"/>
              </a:rPr>
              <a:t>Our approach and services</a:t>
            </a:r>
            <a:endParaRPr lang="en-US" sz="1700" dirty="0"/>
          </a:p>
        </p:txBody>
      </p:sp>
      <p:sp>
        <p:nvSpPr>
          <p:cNvPr id="11" name="Text 8"/>
          <p:cNvSpPr/>
          <p:nvPr/>
        </p:nvSpPr>
        <p:spPr>
          <a:xfrm>
            <a:off x="640080" y="3922776"/>
            <a:ext cx="731520" cy="502920"/>
          </a:xfrm>
          <a:prstGeom prst="rect">
            <a:avLst/>
          </a:prstGeom>
          <a:noFill/>
          <a:ln/>
        </p:spPr>
        <p:txBody>
          <a:bodyPr wrap="square" lIns="0" tIns="0" rIns="0" bIns="0" rtlCol="0" anchor="ctr"/>
          <a:lstStyle/>
          <a:p>
            <a:pPr marL="0" indent="0">
              <a:buNone/>
            </a:pPr>
            <a:r>
              <a:rPr lang="en-US" sz="2000" b="1" dirty="0">
                <a:solidFill>
                  <a:srgbClr val="00B6DB"/>
                </a:solidFill>
                <a:latin typeface="Manrope" pitchFamily="34" charset="0"/>
                <a:ea typeface="Manrope" pitchFamily="34" charset="-122"/>
                <a:cs typeface="Manrope" pitchFamily="34" charset="-120"/>
              </a:rPr>
              <a:t>04</a:t>
            </a:r>
            <a:endParaRPr lang="en-US" sz="2000" dirty="0"/>
          </a:p>
        </p:txBody>
      </p:sp>
      <p:sp>
        <p:nvSpPr>
          <p:cNvPr id="12" name="Text 9"/>
          <p:cNvSpPr/>
          <p:nvPr/>
        </p:nvSpPr>
        <p:spPr>
          <a:xfrm>
            <a:off x="1463040" y="3922776"/>
            <a:ext cx="4937760" cy="502920"/>
          </a:xfrm>
          <a:prstGeom prst="rect">
            <a:avLst/>
          </a:prstGeom>
          <a:noFill/>
          <a:ln/>
        </p:spPr>
        <p:txBody>
          <a:bodyPr wrap="square" lIns="0" tIns="0" rIns="0" bIns="0" rtlCol="0" anchor="ctr"/>
          <a:lstStyle/>
          <a:p>
            <a:pPr marL="0" indent="0">
              <a:buNone/>
            </a:pPr>
            <a:r>
              <a:rPr lang="en-US" sz="1700" dirty="0">
                <a:solidFill>
                  <a:srgbClr val="0C2C3A"/>
                </a:solidFill>
                <a:latin typeface="Manrope" pitchFamily="34" charset="0"/>
                <a:ea typeface="Manrope" pitchFamily="34" charset="-122"/>
                <a:cs typeface="Manrope" pitchFamily="34" charset="-120"/>
              </a:rPr>
              <a:t>Methodology and proof</a:t>
            </a:r>
            <a:endParaRPr lang="en-US" sz="1700" dirty="0"/>
          </a:p>
        </p:txBody>
      </p:sp>
      <p:sp>
        <p:nvSpPr>
          <p:cNvPr id="13" name="Text 10"/>
          <p:cNvSpPr/>
          <p:nvPr/>
        </p:nvSpPr>
        <p:spPr>
          <a:xfrm>
            <a:off x="640080" y="4636008"/>
            <a:ext cx="731520" cy="502920"/>
          </a:xfrm>
          <a:prstGeom prst="rect">
            <a:avLst/>
          </a:prstGeom>
          <a:noFill/>
          <a:ln/>
        </p:spPr>
        <p:txBody>
          <a:bodyPr wrap="square" lIns="0" tIns="0" rIns="0" bIns="0" rtlCol="0" anchor="ctr"/>
          <a:lstStyle/>
          <a:p>
            <a:pPr marL="0" indent="0">
              <a:buNone/>
            </a:pPr>
            <a:r>
              <a:rPr lang="en-US" sz="2000" b="1" dirty="0">
                <a:solidFill>
                  <a:srgbClr val="00B6DB"/>
                </a:solidFill>
                <a:latin typeface="Manrope" pitchFamily="34" charset="0"/>
                <a:ea typeface="Manrope" pitchFamily="34" charset="-122"/>
                <a:cs typeface="Manrope" pitchFamily="34" charset="-120"/>
              </a:rPr>
              <a:t>05</a:t>
            </a:r>
            <a:endParaRPr lang="en-US" sz="2000" dirty="0"/>
          </a:p>
        </p:txBody>
      </p:sp>
      <p:sp>
        <p:nvSpPr>
          <p:cNvPr id="14" name="Text 11"/>
          <p:cNvSpPr/>
          <p:nvPr/>
        </p:nvSpPr>
        <p:spPr>
          <a:xfrm>
            <a:off x="1463040" y="4636008"/>
            <a:ext cx="4937760" cy="502920"/>
          </a:xfrm>
          <a:prstGeom prst="rect">
            <a:avLst/>
          </a:prstGeom>
          <a:noFill/>
          <a:ln/>
        </p:spPr>
        <p:txBody>
          <a:bodyPr wrap="square" lIns="0" tIns="0" rIns="0" bIns="0" rtlCol="0" anchor="ctr"/>
          <a:lstStyle/>
          <a:p>
            <a:pPr marL="0" indent="0">
              <a:buNone/>
            </a:pPr>
            <a:r>
              <a:rPr lang="en-US" sz="1700" dirty="0">
                <a:solidFill>
                  <a:srgbClr val="0C2C3A"/>
                </a:solidFill>
                <a:latin typeface="Manrope" pitchFamily="34" charset="0"/>
                <a:ea typeface="Manrope" pitchFamily="34" charset="-122"/>
                <a:cs typeface="Manrope" pitchFamily="34" charset="-120"/>
              </a:rPr>
              <a:t>Programme and commercials</a:t>
            </a:r>
            <a:endParaRPr lang="en-US" sz="1700" dirty="0"/>
          </a:p>
        </p:txBody>
      </p:sp>
      <p:sp>
        <p:nvSpPr>
          <p:cNvPr id="15" name="Text 12"/>
          <p:cNvSpPr/>
          <p:nvPr/>
        </p:nvSpPr>
        <p:spPr>
          <a:xfrm>
            <a:off x="640080" y="5349240"/>
            <a:ext cx="731520" cy="502920"/>
          </a:xfrm>
          <a:prstGeom prst="rect">
            <a:avLst/>
          </a:prstGeom>
          <a:noFill/>
          <a:ln/>
        </p:spPr>
        <p:txBody>
          <a:bodyPr wrap="square" lIns="0" tIns="0" rIns="0" bIns="0" rtlCol="0" anchor="ctr"/>
          <a:lstStyle/>
          <a:p>
            <a:pPr marL="0" indent="0">
              <a:buNone/>
            </a:pPr>
            <a:r>
              <a:rPr lang="en-US" sz="2000" b="1" dirty="0">
                <a:solidFill>
                  <a:srgbClr val="00B6DB"/>
                </a:solidFill>
                <a:latin typeface="Manrope" pitchFamily="34" charset="0"/>
                <a:ea typeface="Manrope" pitchFamily="34" charset="-122"/>
                <a:cs typeface="Manrope" pitchFamily="34" charset="-120"/>
              </a:rPr>
              <a:t>06</a:t>
            </a:r>
            <a:endParaRPr lang="en-US" sz="2000" dirty="0"/>
          </a:p>
        </p:txBody>
      </p:sp>
      <p:sp>
        <p:nvSpPr>
          <p:cNvPr id="16" name="Text 13"/>
          <p:cNvSpPr/>
          <p:nvPr/>
        </p:nvSpPr>
        <p:spPr>
          <a:xfrm>
            <a:off x="1463040" y="5349240"/>
            <a:ext cx="4937760" cy="502920"/>
          </a:xfrm>
          <a:prstGeom prst="rect">
            <a:avLst/>
          </a:prstGeom>
          <a:noFill/>
          <a:ln/>
        </p:spPr>
        <p:txBody>
          <a:bodyPr wrap="square" lIns="0" tIns="0" rIns="0" bIns="0" rtlCol="0" anchor="ctr"/>
          <a:lstStyle/>
          <a:p>
            <a:pPr marL="0" indent="0">
              <a:buNone/>
            </a:pPr>
            <a:r>
              <a:rPr lang="en-US" sz="1700" dirty="0">
                <a:solidFill>
                  <a:srgbClr val="0C2C3A"/>
                </a:solidFill>
                <a:latin typeface="Manrope" pitchFamily="34" charset="0"/>
                <a:ea typeface="Manrope" pitchFamily="34" charset="-122"/>
                <a:cs typeface="Manrope" pitchFamily="34" charset="-120"/>
              </a:rPr>
              <a:t>Our people and next steps</a:t>
            </a:r>
            <a:endParaRPr lang="en-US" sz="1700" dirty="0"/>
          </a:p>
        </p:txBody>
      </p:sp>
      <p:pic>
        <p:nvPicPr>
          <p:cNvPr id="17" name="Image 1" descr="/home/claude/deck/img/mark.png"/>
          <p:cNvPicPr>
            <a:picLocks noChangeAspect="1"/>
          </p:cNvPicPr>
          <p:nvPr/>
        </p:nvPicPr>
        <p:blipFill>
          <a:blip r:embed="rId4"/>
          <a:stretch>
            <a:fillRect/>
          </a:stretch>
        </p:blipFill>
        <p:spPr>
          <a:xfrm>
            <a:off x="640080" y="6364224"/>
            <a:ext cx="274320" cy="274320"/>
          </a:xfrm>
          <a:prstGeom prst="rect">
            <a:avLst/>
          </a:prstGeom>
        </p:spPr>
      </p:pic>
      <p:sp>
        <p:nvSpPr>
          <p:cNvPr id="18" name="Text 14"/>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19" name="Text 15"/>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20" name="Text 16"/>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PROPOSAL</a:t>
            </a:r>
            <a:endParaRPr lang="en-US" sz="1100" dirty="0"/>
          </a:p>
        </p:txBody>
      </p:sp>
      <p:sp>
        <p:nvSpPr>
          <p:cNvPr id="3" name="Text 1"/>
          <p:cNvSpPr/>
          <p:nvPr/>
        </p:nvSpPr>
        <p:spPr>
          <a:xfrm>
            <a:off x="640080" y="676656"/>
            <a:ext cx="10911535"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Introductions</a:t>
            </a:r>
            <a:endParaRPr lang="en-US" sz="2800" dirty="0"/>
          </a:p>
        </p:txBody>
      </p:sp>
      <p:sp>
        <p:nvSpPr>
          <p:cNvPr id="4" name="Text 2"/>
          <p:cNvSpPr/>
          <p:nvPr/>
        </p:nvSpPr>
        <p:spPr>
          <a:xfrm>
            <a:off x="640080" y="1371600"/>
            <a:ext cx="10515600" cy="365760"/>
          </a:xfrm>
          <a:prstGeom prst="rect">
            <a:avLst/>
          </a:prstGeom>
          <a:noFill/>
          <a:ln/>
        </p:spPr>
        <p:txBody>
          <a:bodyPr wrap="square" lIns="0" tIns="0" rIns="0" bIns="0" rtlCol="0" anchor="ctr"/>
          <a:lstStyle/>
          <a:p>
            <a:pPr marL="0" indent="0">
              <a:buNone/>
            </a:pPr>
            <a:r>
              <a:rPr lang="en-US" sz="1450" dirty="0">
                <a:solidFill>
                  <a:srgbClr val="6E7180"/>
                </a:solidFill>
                <a:latin typeface="Manrope" pitchFamily="34" charset="0"/>
                <a:ea typeface="Manrope" pitchFamily="34" charset="-122"/>
                <a:cs typeface="Manrope" pitchFamily="34" charset="-120"/>
              </a:rPr>
              <a:t>Your points of contact for this submission.</a:t>
            </a:r>
            <a:endParaRPr lang="en-US" sz="1450" dirty="0"/>
          </a:p>
        </p:txBody>
      </p:sp>
      <p:sp>
        <p:nvSpPr>
          <p:cNvPr id="5" name="Shape 3"/>
          <p:cNvSpPr/>
          <p:nvPr/>
        </p:nvSpPr>
        <p:spPr>
          <a:xfrm>
            <a:off x="640080" y="1965960"/>
            <a:ext cx="5074920" cy="3886200"/>
          </a:xfrm>
          <a:prstGeom prst="roundRect">
            <a:avLst>
              <a:gd name="adj" fmla="val 2118"/>
            </a:avLst>
          </a:prstGeom>
          <a:solidFill>
            <a:srgbClr val="EDEFF7"/>
          </a:solidFill>
          <a:ln/>
        </p:spPr>
        <p:txBody>
          <a:bodyPr/>
          <a:lstStyle/>
          <a:p>
            <a:endParaRPr lang="en-US"/>
          </a:p>
        </p:txBody>
      </p:sp>
      <p:sp>
        <p:nvSpPr>
          <p:cNvPr id="6" name="Text 4"/>
          <p:cNvSpPr/>
          <p:nvPr/>
        </p:nvSpPr>
        <p:spPr>
          <a:xfrm>
            <a:off x="1005840" y="2240280"/>
            <a:ext cx="4297680" cy="320040"/>
          </a:xfrm>
          <a:prstGeom prst="rect">
            <a:avLst/>
          </a:prstGeom>
          <a:noFill/>
          <a:ln/>
        </p:spPr>
        <p:txBody>
          <a:bodyPr wrap="square" lIns="0" tIns="0" rIns="0" bIns="0" rtlCol="0" anchor="ctr"/>
          <a:lstStyle/>
          <a:p>
            <a:pPr marL="0" indent="0">
              <a:buNone/>
            </a:pPr>
            <a:r>
              <a:rPr lang="en-US" sz="1200" b="1" kern="0" spc="150" dirty="0">
                <a:solidFill>
                  <a:srgbClr val="00B6DB"/>
                </a:solidFill>
                <a:latin typeface="Manrope" pitchFamily="34" charset="0"/>
                <a:ea typeface="Manrope" pitchFamily="34" charset="-122"/>
                <a:cs typeface="Manrope" pitchFamily="34" charset="-120"/>
              </a:rPr>
              <a:t>[CLIENT NAME]</a:t>
            </a:r>
            <a:endParaRPr lang="en-US" sz="1200" dirty="0"/>
          </a:p>
        </p:txBody>
      </p:sp>
      <p:sp>
        <p:nvSpPr>
          <p:cNvPr id="7" name="Shape 5"/>
          <p:cNvSpPr/>
          <p:nvPr/>
        </p:nvSpPr>
        <p:spPr>
          <a:xfrm>
            <a:off x="1005840" y="2615184"/>
            <a:ext cx="1005840" cy="27432"/>
          </a:xfrm>
          <a:prstGeom prst="rect">
            <a:avLst/>
          </a:prstGeom>
          <a:solidFill>
            <a:srgbClr val="D3D6E0"/>
          </a:solidFill>
          <a:ln/>
        </p:spPr>
        <p:txBody>
          <a:bodyPr/>
          <a:lstStyle/>
          <a:p>
            <a:endParaRPr lang="en-US"/>
          </a:p>
        </p:txBody>
      </p:sp>
      <p:sp>
        <p:nvSpPr>
          <p:cNvPr id="8" name="Shape 6"/>
          <p:cNvSpPr/>
          <p:nvPr/>
        </p:nvSpPr>
        <p:spPr>
          <a:xfrm>
            <a:off x="1005840" y="2880360"/>
            <a:ext cx="64008" cy="868680"/>
          </a:xfrm>
          <a:prstGeom prst="rect">
            <a:avLst/>
          </a:prstGeom>
          <a:solidFill>
            <a:srgbClr val="00B6DB"/>
          </a:solidFill>
          <a:ln/>
        </p:spPr>
        <p:txBody>
          <a:bodyPr/>
          <a:lstStyle/>
          <a:p>
            <a:endParaRPr lang="en-US"/>
          </a:p>
        </p:txBody>
      </p:sp>
      <p:sp>
        <p:nvSpPr>
          <p:cNvPr id="9" name="Text 7"/>
          <p:cNvSpPr/>
          <p:nvPr/>
        </p:nvSpPr>
        <p:spPr>
          <a:xfrm>
            <a:off x="1207008" y="2880360"/>
            <a:ext cx="4114800" cy="365760"/>
          </a:xfrm>
          <a:prstGeom prst="rect">
            <a:avLst/>
          </a:prstGeom>
          <a:noFill/>
          <a:ln/>
        </p:spPr>
        <p:txBody>
          <a:bodyPr wrap="square" lIns="0" tIns="0" rIns="0" bIns="0" rtlCol="0" anchor="ctr"/>
          <a:lstStyle/>
          <a:p>
            <a:pPr marL="0" indent="0">
              <a:buNone/>
            </a:pPr>
            <a:r>
              <a:rPr lang="en-US" sz="1600" b="1" dirty="0">
                <a:solidFill>
                  <a:srgbClr val="0C2C3A"/>
                </a:solidFill>
                <a:latin typeface="Manrope" pitchFamily="34" charset="0"/>
                <a:ea typeface="Manrope" pitchFamily="34" charset="-122"/>
                <a:cs typeface="Manrope" pitchFamily="34" charset="-120"/>
              </a:rPr>
              <a:t>[Name]</a:t>
            </a:r>
            <a:endParaRPr lang="en-US" sz="1600" dirty="0"/>
          </a:p>
        </p:txBody>
      </p:sp>
      <p:sp>
        <p:nvSpPr>
          <p:cNvPr id="10" name="Text 8"/>
          <p:cNvSpPr/>
          <p:nvPr/>
        </p:nvSpPr>
        <p:spPr>
          <a:xfrm>
            <a:off x="1207008" y="3218688"/>
            <a:ext cx="4114800" cy="237744"/>
          </a:xfrm>
          <a:prstGeom prst="rect">
            <a:avLst/>
          </a:prstGeom>
          <a:noFill/>
          <a:ln/>
        </p:spPr>
        <p:txBody>
          <a:bodyPr wrap="square" lIns="0" tIns="0" rIns="0" bIns="0" rtlCol="0" anchor="ctr"/>
          <a:lstStyle/>
          <a:p>
            <a:pPr marL="0" indent="0">
              <a:buNone/>
            </a:pPr>
            <a:r>
              <a:rPr lang="en-US" sz="950" b="1" kern="0" spc="60" dirty="0">
                <a:solidFill>
                  <a:srgbClr val="00B6DB"/>
                </a:solidFill>
                <a:latin typeface="Manrope" pitchFamily="34" charset="0"/>
                <a:ea typeface="Manrope" pitchFamily="34" charset="-122"/>
                <a:cs typeface="Manrope" pitchFamily="34" charset="-120"/>
              </a:rPr>
              <a:t>[ROLE]</a:t>
            </a:r>
            <a:endParaRPr lang="en-US" sz="950" dirty="0"/>
          </a:p>
        </p:txBody>
      </p:sp>
      <p:sp>
        <p:nvSpPr>
          <p:cNvPr id="11" name="Text 9"/>
          <p:cNvSpPr/>
          <p:nvPr/>
        </p:nvSpPr>
        <p:spPr>
          <a:xfrm>
            <a:off x="1207008" y="3456432"/>
            <a:ext cx="4114800" cy="274320"/>
          </a:xfrm>
          <a:prstGeom prst="rect">
            <a:avLst/>
          </a:prstGeom>
          <a:noFill/>
          <a:ln/>
        </p:spPr>
        <p:txBody>
          <a:bodyPr wrap="square" lIns="0" tIns="0" rIns="0" bIns="0" rtlCol="0" anchor="ctr"/>
          <a:lstStyle/>
          <a:p>
            <a:pPr marL="0" indent="0">
              <a:buNone/>
            </a:pPr>
            <a:r>
              <a:rPr lang="en-US" sz="1100" dirty="0">
                <a:solidFill>
                  <a:srgbClr val="6E7180"/>
                </a:solidFill>
                <a:latin typeface="Manrope" pitchFamily="34" charset="0"/>
                <a:ea typeface="Manrope" pitchFamily="34" charset="-122"/>
                <a:cs typeface="Manrope" pitchFamily="34" charset="-120"/>
              </a:rPr>
              <a:t>[email]</a:t>
            </a:r>
            <a:endParaRPr lang="en-US" sz="1100" dirty="0"/>
          </a:p>
        </p:txBody>
      </p:sp>
      <p:sp>
        <p:nvSpPr>
          <p:cNvPr id="12" name="Shape 10"/>
          <p:cNvSpPr/>
          <p:nvPr/>
        </p:nvSpPr>
        <p:spPr>
          <a:xfrm>
            <a:off x="1005840" y="4160520"/>
            <a:ext cx="64008" cy="868680"/>
          </a:xfrm>
          <a:prstGeom prst="rect">
            <a:avLst/>
          </a:prstGeom>
          <a:solidFill>
            <a:srgbClr val="00B6DB"/>
          </a:solidFill>
          <a:ln/>
        </p:spPr>
        <p:txBody>
          <a:bodyPr/>
          <a:lstStyle/>
          <a:p>
            <a:endParaRPr lang="en-US"/>
          </a:p>
        </p:txBody>
      </p:sp>
      <p:sp>
        <p:nvSpPr>
          <p:cNvPr id="13" name="Text 11"/>
          <p:cNvSpPr/>
          <p:nvPr/>
        </p:nvSpPr>
        <p:spPr>
          <a:xfrm>
            <a:off x="1207008" y="4160520"/>
            <a:ext cx="4114800" cy="365760"/>
          </a:xfrm>
          <a:prstGeom prst="rect">
            <a:avLst/>
          </a:prstGeom>
          <a:noFill/>
          <a:ln/>
        </p:spPr>
        <p:txBody>
          <a:bodyPr wrap="square" lIns="0" tIns="0" rIns="0" bIns="0" rtlCol="0" anchor="ctr"/>
          <a:lstStyle/>
          <a:p>
            <a:pPr marL="0" indent="0">
              <a:buNone/>
            </a:pPr>
            <a:r>
              <a:rPr lang="en-US" sz="1600" b="1" dirty="0">
                <a:solidFill>
                  <a:srgbClr val="0C2C3A"/>
                </a:solidFill>
                <a:latin typeface="Manrope" pitchFamily="34" charset="0"/>
                <a:ea typeface="Manrope" pitchFamily="34" charset="-122"/>
                <a:cs typeface="Manrope" pitchFamily="34" charset="-120"/>
              </a:rPr>
              <a:t>[Name]</a:t>
            </a:r>
            <a:endParaRPr lang="en-US" sz="1600" dirty="0"/>
          </a:p>
        </p:txBody>
      </p:sp>
      <p:sp>
        <p:nvSpPr>
          <p:cNvPr id="14" name="Text 12"/>
          <p:cNvSpPr/>
          <p:nvPr/>
        </p:nvSpPr>
        <p:spPr>
          <a:xfrm>
            <a:off x="1207008" y="4498848"/>
            <a:ext cx="4114800" cy="237744"/>
          </a:xfrm>
          <a:prstGeom prst="rect">
            <a:avLst/>
          </a:prstGeom>
          <a:noFill/>
          <a:ln/>
        </p:spPr>
        <p:txBody>
          <a:bodyPr wrap="square" lIns="0" tIns="0" rIns="0" bIns="0" rtlCol="0" anchor="ctr"/>
          <a:lstStyle/>
          <a:p>
            <a:pPr marL="0" indent="0">
              <a:buNone/>
            </a:pPr>
            <a:r>
              <a:rPr lang="en-US" sz="950" b="1" kern="0" spc="60" dirty="0">
                <a:solidFill>
                  <a:srgbClr val="00B6DB"/>
                </a:solidFill>
                <a:latin typeface="Manrope" pitchFamily="34" charset="0"/>
                <a:ea typeface="Manrope" pitchFamily="34" charset="-122"/>
                <a:cs typeface="Manrope" pitchFamily="34" charset="-120"/>
              </a:rPr>
              <a:t>[ROLE]</a:t>
            </a:r>
            <a:endParaRPr lang="en-US" sz="950" dirty="0"/>
          </a:p>
        </p:txBody>
      </p:sp>
      <p:sp>
        <p:nvSpPr>
          <p:cNvPr id="15" name="Text 13"/>
          <p:cNvSpPr/>
          <p:nvPr/>
        </p:nvSpPr>
        <p:spPr>
          <a:xfrm>
            <a:off x="1207008" y="4736592"/>
            <a:ext cx="4114800" cy="274320"/>
          </a:xfrm>
          <a:prstGeom prst="rect">
            <a:avLst/>
          </a:prstGeom>
          <a:noFill/>
          <a:ln/>
        </p:spPr>
        <p:txBody>
          <a:bodyPr wrap="square" lIns="0" tIns="0" rIns="0" bIns="0" rtlCol="0" anchor="ctr"/>
          <a:lstStyle/>
          <a:p>
            <a:pPr marL="0" indent="0">
              <a:buNone/>
            </a:pPr>
            <a:r>
              <a:rPr lang="en-US" sz="1100" dirty="0">
                <a:solidFill>
                  <a:srgbClr val="6E7180"/>
                </a:solidFill>
                <a:latin typeface="Manrope" pitchFamily="34" charset="0"/>
                <a:ea typeface="Manrope" pitchFamily="34" charset="-122"/>
                <a:cs typeface="Manrope" pitchFamily="34" charset="-120"/>
              </a:rPr>
              <a:t>[email]</a:t>
            </a:r>
            <a:endParaRPr lang="en-US" sz="1100" dirty="0"/>
          </a:p>
        </p:txBody>
      </p:sp>
      <p:sp>
        <p:nvSpPr>
          <p:cNvPr id="16" name="Shape 14"/>
          <p:cNvSpPr/>
          <p:nvPr/>
        </p:nvSpPr>
        <p:spPr>
          <a:xfrm>
            <a:off x="6327648" y="1965960"/>
            <a:ext cx="5074920" cy="3886200"/>
          </a:xfrm>
          <a:prstGeom prst="roundRect">
            <a:avLst>
              <a:gd name="adj" fmla="val 2118"/>
            </a:avLst>
          </a:prstGeom>
          <a:solidFill>
            <a:srgbClr val="EDEFF7"/>
          </a:solidFill>
          <a:ln/>
        </p:spPr>
        <p:txBody>
          <a:bodyPr/>
          <a:lstStyle/>
          <a:p>
            <a:endParaRPr lang="en-US"/>
          </a:p>
        </p:txBody>
      </p:sp>
      <p:sp>
        <p:nvSpPr>
          <p:cNvPr id="17" name="Text 15"/>
          <p:cNvSpPr/>
          <p:nvPr/>
        </p:nvSpPr>
        <p:spPr>
          <a:xfrm>
            <a:off x="6693408" y="2240280"/>
            <a:ext cx="4297680" cy="320040"/>
          </a:xfrm>
          <a:prstGeom prst="rect">
            <a:avLst/>
          </a:prstGeom>
          <a:noFill/>
          <a:ln/>
        </p:spPr>
        <p:txBody>
          <a:bodyPr wrap="square" lIns="0" tIns="0" rIns="0" bIns="0" rtlCol="0" anchor="ctr"/>
          <a:lstStyle/>
          <a:p>
            <a:pPr marL="0" indent="0">
              <a:buNone/>
            </a:pPr>
            <a:r>
              <a:rPr lang="en-US" sz="1200" b="1" kern="0" spc="150" dirty="0">
                <a:solidFill>
                  <a:srgbClr val="00B6DB"/>
                </a:solidFill>
                <a:latin typeface="Manrope" pitchFamily="34" charset="0"/>
                <a:ea typeface="Manrope" pitchFamily="34" charset="-122"/>
                <a:cs typeface="Manrope" pitchFamily="34" charset="-120"/>
              </a:rPr>
              <a:t>AQUALOGIC</a:t>
            </a:r>
            <a:endParaRPr lang="en-US" sz="1200" dirty="0"/>
          </a:p>
        </p:txBody>
      </p:sp>
      <p:sp>
        <p:nvSpPr>
          <p:cNvPr id="18" name="Shape 16"/>
          <p:cNvSpPr/>
          <p:nvPr/>
        </p:nvSpPr>
        <p:spPr>
          <a:xfrm>
            <a:off x="6693408" y="2615184"/>
            <a:ext cx="1005840" cy="27432"/>
          </a:xfrm>
          <a:prstGeom prst="rect">
            <a:avLst/>
          </a:prstGeom>
          <a:solidFill>
            <a:srgbClr val="D3D6E0"/>
          </a:solidFill>
          <a:ln/>
        </p:spPr>
        <p:txBody>
          <a:bodyPr/>
          <a:lstStyle/>
          <a:p>
            <a:endParaRPr lang="en-US"/>
          </a:p>
        </p:txBody>
      </p:sp>
      <p:sp>
        <p:nvSpPr>
          <p:cNvPr id="19" name="Shape 17"/>
          <p:cNvSpPr/>
          <p:nvPr/>
        </p:nvSpPr>
        <p:spPr>
          <a:xfrm>
            <a:off x="6693408" y="2880360"/>
            <a:ext cx="64008" cy="868680"/>
          </a:xfrm>
          <a:prstGeom prst="rect">
            <a:avLst/>
          </a:prstGeom>
          <a:solidFill>
            <a:srgbClr val="00B6DB"/>
          </a:solidFill>
          <a:ln/>
        </p:spPr>
        <p:txBody>
          <a:bodyPr/>
          <a:lstStyle/>
          <a:p>
            <a:endParaRPr lang="en-US"/>
          </a:p>
        </p:txBody>
      </p:sp>
      <p:sp>
        <p:nvSpPr>
          <p:cNvPr id="20" name="Text 18"/>
          <p:cNvSpPr/>
          <p:nvPr/>
        </p:nvSpPr>
        <p:spPr>
          <a:xfrm>
            <a:off x="6894576" y="2880360"/>
            <a:ext cx="4114800" cy="365760"/>
          </a:xfrm>
          <a:prstGeom prst="rect">
            <a:avLst/>
          </a:prstGeom>
          <a:noFill/>
          <a:ln/>
        </p:spPr>
        <p:txBody>
          <a:bodyPr wrap="square" lIns="0" tIns="0" rIns="0" bIns="0" rtlCol="0" anchor="ctr"/>
          <a:lstStyle/>
          <a:p>
            <a:pPr marL="0" indent="0">
              <a:buNone/>
            </a:pPr>
            <a:r>
              <a:rPr lang="en-US" sz="1600" b="1" dirty="0">
                <a:solidFill>
                  <a:srgbClr val="0C2C3A"/>
                </a:solidFill>
                <a:latin typeface="Manrope" pitchFamily="34" charset="0"/>
                <a:ea typeface="Manrope" pitchFamily="34" charset="-122"/>
                <a:cs typeface="Manrope" pitchFamily="34" charset="-120"/>
              </a:rPr>
              <a:t>Ashley Williams</a:t>
            </a:r>
            <a:endParaRPr lang="en-US" sz="1600" dirty="0"/>
          </a:p>
        </p:txBody>
      </p:sp>
      <p:sp>
        <p:nvSpPr>
          <p:cNvPr id="21" name="Text 19"/>
          <p:cNvSpPr/>
          <p:nvPr/>
        </p:nvSpPr>
        <p:spPr>
          <a:xfrm>
            <a:off x="6894576" y="3218688"/>
            <a:ext cx="4114800" cy="237744"/>
          </a:xfrm>
          <a:prstGeom prst="rect">
            <a:avLst/>
          </a:prstGeom>
          <a:noFill/>
          <a:ln/>
        </p:spPr>
        <p:txBody>
          <a:bodyPr wrap="square" lIns="0" tIns="0" rIns="0" bIns="0" rtlCol="0" anchor="ctr"/>
          <a:lstStyle/>
          <a:p>
            <a:pPr marL="0" indent="0">
              <a:buNone/>
            </a:pPr>
            <a:r>
              <a:rPr lang="en-US" sz="950" b="1" kern="0" spc="60" dirty="0">
                <a:solidFill>
                  <a:srgbClr val="00B6DB"/>
                </a:solidFill>
                <a:latin typeface="Manrope" pitchFamily="34" charset="0"/>
                <a:ea typeface="Manrope" pitchFamily="34" charset="-122"/>
                <a:cs typeface="Manrope" pitchFamily="34" charset="-120"/>
              </a:rPr>
              <a:t>CHIEF GROWTH OFFICER</a:t>
            </a:r>
            <a:endParaRPr lang="en-US" sz="950" dirty="0"/>
          </a:p>
        </p:txBody>
      </p:sp>
      <p:sp>
        <p:nvSpPr>
          <p:cNvPr id="22" name="Text 20"/>
          <p:cNvSpPr/>
          <p:nvPr/>
        </p:nvSpPr>
        <p:spPr>
          <a:xfrm>
            <a:off x="6894576" y="3456432"/>
            <a:ext cx="4114800" cy="274320"/>
          </a:xfrm>
          <a:prstGeom prst="rect">
            <a:avLst/>
          </a:prstGeom>
          <a:noFill/>
          <a:ln/>
        </p:spPr>
        <p:txBody>
          <a:bodyPr wrap="square" lIns="0" tIns="0" rIns="0" bIns="0" rtlCol="0" anchor="ctr"/>
          <a:lstStyle/>
          <a:p>
            <a:pPr marL="0" indent="0">
              <a:buNone/>
            </a:pPr>
            <a:r>
              <a:rPr lang="en-US" sz="1100" dirty="0">
                <a:solidFill>
                  <a:srgbClr val="6E7180"/>
                </a:solidFill>
                <a:latin typeface="Manrope" pitchFamily="34" charset="0"/>
                <a:ea typeface="Manrope" pitchFamily="34" charset="-122"/>
                <a:cs typeface="Manrope" pitchFamily="34" charset="-120"/>
              </a:rPr>
              <a:t>AshleyW@aqualogic-wc.com</a:t>
            </a:r>
            <a:endParaRPr lang="en-US" sz="1100" dirty="0"/>
          </a:p>
        </p:txBody>
      </p:sp>
      <p:sp>
        <p:nvSpPr>
          <p:cNvPr id="23" name="Shape 21"/>
          <p:cNvSpPr/>
          <p:nvPr/>
        </p:nvSpPr>
        <p:spPr>
          <a:xfrm>
            <a:off x="6693408" y="4160520"/>
            <a:ext cx="64008" cy="868680"/>
          </a:xfrm>
          <a:prstGeom prst="rect">
            <a:avLst/>
          </a:prstGeom>
          <a:solidFill>
            <a:srgbClr val="00B6DB"/>
          </a:solidFill>
          <a:ln/>
        </p:spPr>
        <p:txBody>
          <a:bodyPr/>
          <a:lstStyle/>
          <a:p>
            <a:endParaRPr lang="en-US"/>
          </a:p>
        </p:txBody>
      </p:sp>
      <p:sp>
        <p:nvSpPr>
          <p:cNvPr id="24" name="Text 22"/>
          <p:cNvSpPr/>
          <p:nvPr/>
        </p:nvSpPr>
        <p:spPr>
          <a:xfrm>
            <a:off x="6894576" y="4160520"/>
            <a:ext cx="4114800" cy="365760"/>
          </a:xfrm>
          <a:prstGeom prst="rect">
            <a:avLst/>
          </a:prstGeom>
          <a:noFill/>
          <a:ln/>
        </p:spPr>
        <p:txBody>
          <a:bodyPr wrap="square" lIns="0" tIns="0" rIns="0" bIns="0" rtlCol="0" anchor="ctr"/>
          <a:lstStyle/>
          <a:p>
            <a:pPr marL="0" indent="0">
              <a:buNone/>
            </a:pPr>
            <a:r>
              <a:rPr lang="en-US" sz="1600" b="1" dirty="0">
                <a:solidFill>
                  <a:srgbClr val="0C2C3A"/>
                </a:solidFill>
                <a:latin typeface="Manrope" pitchFamily="34" charset="0"/>
                <a:ea typeface="Manrope" pitchFamily="34" charset="-122"/>
                <a:cs typeface="Manrope" pitchFamily="34" charset="-120"/>
              </a:rPr>
              <a:t>Jonathan Adler</a:t>
            </a:r>
            <a:endParaRPr lang="en-US" sz="1600" dirty="0"/>
          </a:p>
        </p:txBody>
      </p:sp>
      <p:sp>
        <p:nvSpPr>
          <p:cNvPr id="25" name="Text 23"/>
          <p:cNvSpPr/>
          <p:nvPr/>
        </p:nvSpPr>
        <p:spPr>
          <a:xfrm>
            <a:off x="6894576" y="4498848"/>
            <a:ext cx="4114800" cy="237744"/>
          </a:xfrm>
          <a:prstGeom prst="rect">
            <a:avLst/>
          </a:prstGeom>
          <a:noFill/>
          <a:ln/>
        </p:spPr>
        <p:txBody>
          <a:bodyPr wrap="square" lIns="0" tIns="0" rIns="0" bIns="0" rtlCol="0" anchor="ctr"/>
          <a:lstStyle/>
          <a:p>
            <a:pPr marL="0" indent="0">
              <a:buNone/>
            </a:pPr>
            <a:r>
              <a:rPr lang="en-US" sz="950" b="1" kern="0" spc="60" dirty="0">
                <a:solidFill>
                  <a:srgbClr val="00B6DB"/>
                </a:solidFill>
                <a:latin typeface="Manrope" pitchFamily="34" charset="0"/>
                <a:ea typeface="Manrope" pitchFamily="34" charset="-122"/>
                <a:cs typeface="Manrope" pitchFamily="34" charset="-120"/>
              </a:rPr>
              <a:t>CLIENT SERVICES DIRECTOR</a:t>
            </a:r>
            <a:endParaRPr lang="en-US" sz="950" dirty="0"/>
          </a:p>
        </p:txBody>
      </p:sp>
      <p:pic>
        <p:nvPicPr>
          <p:cNvPr id="26" name="Image 0" descr="/home/claude/deck/img/mark.png"/>
          <p:cNvPicPr>
            <a:picLocks noChangeAspect="1"/>
          </p:cNvPicPr>
          <p:nvPr/>
        </p:nvPicPr>
        <p:blipFill>
          <a:blip r:embed="rId3"/>
          <a:stretch>
            <a:fillRect/>
          </a:stretch>
        </p:blipFill>
        <p:spPr>
          <a:xfrm>
            <a:off x="640080" y="6364224"/>
            <a:ext cx="274320" cy="274320"/>
          </a:xfrm>
          <a:prstGeom prst="rect">
            <a:avLst/>
          </a:prstGeom>
        </p:spPr>
      </p:pic>
      <p:sp>
        <p:nvSpPr>
          <p:cNvPr id="27" name="Text 24"/>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28" name="Text 25"/>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29" name="Text 26"/>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claude/deck/img/div_opportunity.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C2C3A">
              <a:alpha val="62000"/>
            </a:srgbClr>
          </a:solidFill>
          <a:ln/>
        </p:spPr>
        <p:txBody>
          <a:bodyPr/>
          <a:lstStyle/>
          <a:p>
            <a:endParaRPr lang="en-US"/>
          </a:p>
        </p:txBody>
      </p:sp>
      <p:pic>
        <p:nvPicPr>
          <p:cNvPr id="4" name="Image 1" descr="/home/claude/deck/img/logo_rev.png"/>
          <p:cNvPicPr>
            <a:picLocks noChangeAspect="1"/>
          </p:cNvPicPr>
          <p:nvPr/>
        </p:nvPicPr>
        <p:blipFill>
          <a:blip r:embed="rId4"/>
          <a:stretch>
            <a:fillRect/>
          </a:stretch>
        </p:blipFill>
        <p:spPr>
          <a:xfrm>
            <a:off x="640080" y="640080"/>
            <a:ext cx="1691640" cy="556461"/>
          </a:xfrm>
          <a:prstGeom prst="rect">
            <a:avLst/>
          </a:prstGeom>
        </p:spPr>
      </p:pic>
      <p:sp>
        <p:nvSpPr>
          <p:cNvPr id="5" name="Text 1"/>
          <p:cNvSpPr/>
          <p:nvPr/>
        </p:nvSpPr>
        <p:spPr>
          <a:xfrm>
            <a:off x="640080" y="2194560"/>
            <a:ext cx="2743200" cy="1097280"/>
          </a:xfrm>
          <a:prstGeom prst="rect">
            <a:avLst/>
          </a:prstGeom>
          <a:noFill/>
          <a:ln/>
        </p:spPr>
        <p:txBody>
          <a:bodyPr wrap="square" lIns="0" tIns="0" rIns="0" bIns="0" rtlCol="0" anchor="ctr"/>
          <a:lstStyle/>
          <a:p>
            <a:pPr marL="0" indent="0">
              <a:buNone/>
            </a:pPr>
            <a:r>
              <a:rPr lang="en-US" sz="5800" b="1" dirty="0">
                <a:solidFill>
                  <a:srgbClr val="00B6DB"/>
                </a:solidFill>
                <a:latin typeface="Manrope" pitchFamily="34" charset="0"/>
                <a:ea typeface="Manrope" pitchFamily="34" charset="-122"/>
                <a:cs typeface="Manrope" pitchFamily="34" charset="-120"/>
              </a:rPr>
              <a:t>01</a:t>
            </a:r>
            <a:endParaRPr lang="en-US" sz="5800" dirty="0"/>
          </a:p>
        </p:txBody>
      </p:sp>
      <p:sp>
        <p:nvSpPr>
          <p:cNvPr id="6" name="Text 2"/>
          <p:cNvSpPr/>
          <p:nvPr/>
        </p:nvSpPr>
        <p:spPr>
          <a:xfrm>
            <a:off x="640080" y="3337560"/>
            <a:ext cx="8229600" cy="822960"/>
          </a:xfrm>
          <a:prstGeom prst="rect">
            <a:avLst/>
          </a:prstGeom>
          <a:noFill/>
          <a:ln/>
        </p:spPr>
        <p:txBody>
          <a:bodyPr wrap="square" lIns="0" tIns="0" rIns="0" bIns="0" rtlCol="0" anchor="ctr"/>
          <a:lstStyle/>
          <a:p>
            <a:pPr marL="0" indent="0">
              <a:buNone/>
            </a:pPr>
            <a:r>
              <a:rPr lang="en-US" sz="3800" b="1" dirty="0">
                <a:solidFill>
                  <a:srgbClr val="FFFFFF"/>
                </a:solidFill>
                <a:latin typeface="Manrope" pitchFamily="34" charset="0"/>
                <a:ea typeface="Manrope" pitchFamily="34" charset="-122"/>
                <a:cs typeface="Manrope" pitchFamily="34" charset="-120"/>
              </a:rPr>
              <a:t>The opportunity</a:t>
            </a:r>
            <a:endParaRPr lang="en-US" sz="3800" dirty="0"/>
          </a:p>
        </p:txBody>
      </p:sp>
      <p:sp>
        <p:nvSpPr>
          <p:cNvPr id="7" name="Text 3"/>
          <p:cNvSpPr/>
          <p:nvPr/>
        </p:nvSpPr>
        <p:spPr>
          <a:xfrm>
            <a:off x="640080" y="4315968"/>
            <a:ext cx="6583680" cy="822960"/>
          </a:xfrm>
          <a:prstGeom prst="rect">
            <a:avLst/>
          </a:prstGeom>
          <a:noFill/>
          <a:ln/>
        </p:spPr>
        <p:txBody>
          <a:bodyPr wrap="square" lIns="0" tIns="0" rIns="0" bIns="0" rtlCol="0" anchor="ctr"/>
          <a:lstStyle/>
          <a:p>
            <a:pPr marL="0" indent="0">
              <a:lnSpc>
                <a:spcPct val="116000"/>
              </a:lnSpc>
              <a:buNone/>
            </a:pPr>
            <a:r>
              <a:rPr lang="en-US" sz="1550" dirty="0">
                <a:solidFill>
                  <a:srgbClr val="6AC2D8"/>
                </a:solidFill>
                <a:latin typeface="Manrope" pitchFamily="34" charset="0"/>
                <a:ea typeface="Manrope" pitchFamily="34" charset="-122"/>
                <a:cs typeface="Manrope" pitchFamily="34" charset="-120"/>
              </a:rPr>
              <a:t>Understanding what you need and the outcome you are working towards.</a:t>
            </a:r>
            <a:endParaRPr lang="en-US" sz="1550" dirty="0"/>
          </a:p>
        </p:txBody>
      </p:sp>
      <p:pic>
        <p:nvPicPr>
          <p:cNvPr id="8" name="Image 2" descr="/home/claude/deck/img/mark.png"/>
          <p:cNvPicPr>
            <a:picLocks noChangeAspect="1"/>
          </p:cNvPicPr>
          <p:nvPr/>
        </p:nvPicPr>
        <p:blipFill>
          <a:blip r:embed="rId5"/>
          <a:stretch>
            <a:fillRect/>
          </a:stretch>
        </p:blipFill>
        <p:spPr>
          <a:xfrm>
            <a:off x="640080" y="6364224"/>
            <a:ext cx="274320" cy="274320"/>
          </a:xfrm>
          <a:prstGeom prst="rect">
            <a:avLst/>
          </a:prstGeom>
        </p:spPr>
      </p:pic>
      <p:sp>
        <p:nvSpPr>
          <p:cNvPr id="9" name="Text 4"/>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AC2D8"/>
                </a:solidFill>
                <a:latin typeface="Manrope" pitchFamily="34" charset="0"/>
                <a:ea typeface="Manrope" pitchFamily="34" charset="-122"/>
                <a:cs typeface="Manrope" pitchFamily="34" charset="-120"/>
              </a:rPr>
              <a:t>Aqualogic, a Sustec company</a:t>
            </a:r>
            <a:endParaRPr lang="en-US" sz="900" dirty="0"/>
          </a:p>
        </p:txBody>
      </p:sp>
      <p:sp>
        <p:nvSpPr>
          <p:cNvPr id="10" name="Text 5"/>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11" name="Text 6"/>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BCBFCC"/>
                </a:solidFill>
                <a:latin typeface="Manrope" pitchFamily="34" charset="0"/>
                <a:ea typeface="Manrope" pitchFamily="34" charset="-122"/>
                <a:cs typeface="Manrope"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F"/>
        </a:solidFill>
        <a:effectLst/>
      </p:bgPr>
    </p:bg>
    <p:spTree>
      <p:nvGrpSpPr>
        <p:cNvPr id="1" name=""/>
        <p:cNvGrpSpPr/>
        <p:nvPr/>
      </p:nvGrpSpPr>
      <p:grpSpPr>
        <a:xfrm>
          <a:off x="0" y="0"/>
          <a:ext cx="0" cy="0"/>
          <a:chOff x="0" y="0"/>
          <a:chExt cx="0" cy="0"/>
        </a:xfrm>
      </p:grpSpPr>
      <p:pic>
        <p:nvPicPr>
          <p:cNvPr id="2" name="Image 0" descr="/home/claude/deck/img/split_field.jpg"/>
          <p:cNvPicPr>
            <a:picLocks noChangeAspect="1"/>
          </p:cNvPicPr>
          <p:nvPr/>
        </p:nvPicPr>
        <p:blipFill>
          <a:blip r:embed="rId3"/>
          <a:srcRect/>
          <a:stretch/>
        </p:blipFill>
        <p:spPr>
          <a:xfrm>
            <a:off x="6903720" y="0"/>
            <a:ext cx="5287975" cy="6345936"/>
          </a:xfrm>
          <a:prstGeom prst="rect">
            <a:avLst/>
          </a:prstGeom>
        </p:spPr>
      </p:pic>
      <p:sp>
        <p:nvSpPr>
          <p:cNvPr id="3"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01  ·  THE OPPORTUNITY</a:t>
            </a:r>
            <a:endParaRPr lang="en-US" sz="1100" dirty="0"/>
          </a:p>
        </p:txBody>
      </p:sp>
      <p:sp>
        <p:nvSpPr>
          <p:cNvPr id="4" name="Text 1"/>
          <p:cNvSpPr/>
          <p:nvPr/>
        </p:nvSpPr>
        <p:spPr>
          <a:xfrm>
            <a:off x="640080" y="676656"/>
            <a:ext cx="5760720"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About [Client name]</a:t>
            </a:r>
            <a:endParaRPr lang="en-US" sz="2800" dirty="0"/>
          </a:p>
        </p:txBody>
      </p:sp>
      <p:sp>
        <p:nvSpPr>
          <p:cNvPr id="5" name="Text 2"/>
          <p:cNvSpPr/>
          <p:nvPr/>
        </p:nvSpPr>
        <p:spPr>
          <a:xfrm>
            <a:off x="640080" y="1737360"/>
            <a:ext cx="5760720" cy="1463040"/>
          </a:xfrm>
          <a:prstGeom prst="rect">
            <a:avLst/>
          </a:prstGeom>
          <a:noFill/>
          <a:ln/>
        </p:spPr>
        <p:txBody>
          <a:bodyPr wrap="square" lIns="0" tIns="0" rIns="0" bIns="0" rtlCol="0" anchor="ctr"/>
          <a:lstStyle/>
          <a:p>
            <a:pPr marL="0" indent="0">
              <a:lnSpc>
                <a:spcPct val="126000"/>
              </a:lnSpc>
              <a:buNone/>
            </a:pPr>
            <a:r>
              <a:rPr lang="en-US" sz="1500" dirty="0">
                <a:solidFill>
                  <a:srgbClr val="40424D"/>
                </a:solidFill>
                <a:latin typeface="Manrope" pitchFamily="34" charset="0"/>
                <a:ea typeface="Manrope" pitchFamily="34" charset="-122"/>
                <a:cs typeface="Manrope" pitchFamily="34" charset="-120"/>
              </a:rPr>
              <a:t>[Introduce the client in their own terms: who they are, the area or assets they manage, and the scale of their operation.]</a:t>
            </a:r>
            <a:endParaRPr lang="en-US" sz="1500" dirty="0"/>
          </a:p>
        </p:txBody>
      </p:sp>
      <p:sp>
        <p:nvSpPr>
          <p:cNvPr id="6" name="Text 3"/>
          <p:cNvSpPr/>
          <p:nvPr/>
        </p:nvSpPr>
        <p:spPr>
          <a:xfrm>
            <a:off x="640080" y="3429000"/>
            <a:ext cx="5760720" cy="1737360"/>
          </a:xfrm>
          <a:prstGeom prst="rect">
            <a:avLst/>
          </a:prstGeom>
          <a:noFill/>
          <a:ln/>
        </p:spPr>
        <p:txBody>
          <a:bodyPr wrap="square" lIns="0" tIns="0" rIns="0" bIns="0" rtlCol="0" anchor="ctr"/>
          <a:lstStyle/>
          <a:p>
            <a:pPr marL="0" indent="0">
              <a:lnSpc>
                <a:spcPct val="126000"/>
              </a:lnSpc>
              <a:buNone/>
            </a:pPr>
            <a:r>
              <a:rPr lang="en-US" sz="1500" dirty="0">
                <a:solidFill>
                  <a:srgbClr val="40424D"/>
                </a:solidFill>
                <a:latin typeface="Manrope" pitchFamily="34" charset="0"/>
                <a:ea typeface="Manrope" pitchFamily="34" charset="-122"/>
                <a:cs typeface="Manrope" pitchFamily="34" charset="-120"/>
              </a:rPr>
              <a:t>[Summarise the drivers behind this opportunity, for example regulatory targets, performance commitments or operational pressures, and what success looks like for them.]</a:t>
            </a:r>
            <a:endParaRPr lang="en-US" sz="1500" dirty="0"/>
          </a:p>
        </p:txBody>
      </p:sp>
      <p:pic>
        <p:nvPicPr>
          <p:cNvPr id="7" name="Image 1" descr="/home/claude/deck/img/mark.png"/>
          <p:cNvPicPr>
            <a:picLocks noChangeAspect="1"/>
          </p:cNvPicPr>
          <p:nvPr/>
        </p:nvPicPr>
        <p:blipFill>
          <a:blip r:embed="rId4"/>
          <a:stretch>
            <a:fillRect/>
          </a:stretch>
        </p:blipFill>
        <p:spPr>
          <a:xfrm>
            <a:off x="640080" y="6364224"/>
            <a:ext cx="274320" cy="274320"/>
          </a:xfrm>
          <a:prstGeom prst="rect">
            <a:avLst/>
          </a:prstGeom>
        </p:spPr>
      </p:pic>
      <p:sp>
        <p:nvSpPr>
          <p:cNvPr id="8" name="Text 4"/>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9" name="Text 5"/>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10" name="Text 6"/>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05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01  ·  THE OPPORTUNITY</a:t>
            </a:r>
            <a:endParaRPr lang="en-US" sz="1100" dirty="0"/>
          </a:p>
        </p:txBody>
      </p:sp>
      <p:sp>
        <p:nvSpPr>
          <p:cNvPr id="3" name="Text 1"/>
          <p:cNvSpPr/>
          <p:nvPr/>
        </p:nvSpPr>
        <p:spPr>
          <a:xfrm>
            <a:off x="640080" y="676656"/>
            <a:ext cx="10911535"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Understanding your requirements</a:t>
            </a:r>
            <a:endParaRPr lang="en-US" sz="2800" dirty="0"/>
          </a:p>
        </p:txBody>
      </p:sp>
      <p:sp>
        <p:nvSpPr>
          <p:cNvPr id="4" name="Text 2"/>
          <p:cNvSpPr/>
          <p:nvPr/>
        </p:nvSpPr>
        <p:spPr>
          <a:xfrm>
            <a:off x="640080" y="1600200"/>
            <a:ext cx="5394960" cy="365760"/>
          </a:xfrm>
          <a:prstGeom prst="rect">
            <a:avLst/>
          </a:prstGeom>
          <a:noFill/>
          <a:ln/>
        </p:spPr>
        <p:txBody>
          <a:bodyPr wrap="square" lIns="0" tIns="0" rIns="0" bIns="0" rtlCol="0" anchor="ctr"/>
          <a:lstStyle/>
          <a:p>
            <a:pPr marL="0" indent="0">
              <a:buNone/>
            </a:pPr>
            <a:r>
              <a:rPr lang="en-US" sz="1500" b="1" dirty="0">
                <a:solidFill>
                  <a:srgbClr val="00B6DB"/>
                </a:solidFill>
                <a:latin typeface="Manrope" pitchFamily="34" charset="0"/>
                <a:ea typeface="Manrope" pitchFamily="34" charset="-122"/>
                <a:cs typeface="Manrope" pitchFamily="34" charset="-120"/>
              </a:rPr>
              <a:t>The sector context</a:t>
            </a:r>
            <a:endParaRPr lang="en-US" sz="1500" dirty="0"/>
          </a:p>
        </p:txBody>
      </p:sp>
      <p:sp>
        <p:nvSpPr>
          <p:cNvPr id="5" name="Text 3"/>
          <p:cNvSpPr/>
          <p:nvPr/>
        </p:nvSpPr>
        <p:spPr>
          <a:xfrm>
            <a:off x="640080" y="2011680"/>
            <a:ext cx="5440680" cy="3291840"/>
          </a:xfrm>
          <a:prstGeom prst="rect">
            <a:avLst/>
          </a:prstGeom>
          <a:noFill/>
          <a:ln/>
        </p:spPr>
        <p:txBody>
          <a:bodyPr wrap="square" lIns="0" tIns="0" rIns="0" bIns="0" rtlCol="0" anchor="ctr"/>
          <a:lstStyle/>
          <a:p>
            <a:pPr marL="0" indent="0">
              <a:lnSpc>
                <a:spcPct val="130000"/>
              </a:lnSpc>
              <a:buNone/>
            </a:pPr>
            <a:r>
              <a:rPr lang="en-US" sz="1400" dirty="0">
                <a:solidFill>
                  <a:srgbClr val="40424D"/>
                </a:solidFill>
                <a:latin typeface="Manrope" pitchFamily="34" charset="0"/>
                <a:ea typeface="Manrope" pitchFamily="34" charset="-122"/>
                <a:cs typeface="Manrope" pitchFamily="34" charset="-120"/>
              </a:rPr>
              <a:t>Water companies are under sustained pressure to reduce leakage, lower consumption and strengthen resilience, while proving measurable value and meeting tightening regulatory targets. Demand is rising, assets are ageing, and performance commitments leave little room for waste. [Tailor this to the client's specific position, targets and drivers.]</a:t>
            </a:r>
            <a:endParaRPr lang="en-US" sz="1400" dirty="0"/>
          </a:p>
        </p:txBody>
      </p:sp>
      <p:sp>
        <p:nvSpPr>
          <p:cNvPr id="6" name="Shape 4"/>
          <p:cNvSpPr/>
          <p:nvPr/>
        </p:nvSpPr>
        <p:spPr>
          <a:xfrm>
            <a:off x="6355080" y="1600200"/>
            <a:ext cx="5193792" cy="4160520"/>
          </a:xfrm>
          <a:prstGeom prst="roundRect">
            <a:avLst>
              <a:gd name="adj" fmla="val 1978"/>
            </a:avLst>
          </a:prstGeom>
          <a:solidFill>
            <a:srgbClr val="EDEFF7"/>
          </a:solidFill>
          <a:ln/>
        </p:spPr>
        <p:txBody>
          <a:bodyPr/>
          <a:lstStyle/>
          <a:p>
            <a:endParaRPr lang="en-US"/>
          </a:p>
        </p:txBody>
      </p:sp>
      <p:sp>
        <p:nvSpPr>
          <p:cNvPr id="7" name="Text 5"/>
          <p:cNvSpPr/>
          <p:nvPr/>
        </p:nvSpPr>
        <p:spPr>
          <a:xfrm>
            <a:off x="6675120" y="1874520"/>
            <a:ext cx="4572000" cy="457200"/>
          </a:xfrm>
          <a:prstGeom prst="rect">
            <a:avLst/>
          </a:prstGeom>
          <a:noFill/>
          <a:ln/>
        </p:spPr>
        <p:txBody>
          <a:bodyPr wrap="square" lIns="0" tIns="0" rIns="0" bIns="0" rtlCol="0" anchor="ctr"/>
          <a:lstStyle/>
          <a:p>
            <a:pPr marL="0" indent="0">
              <a:buNone/>
            </a:pPr>
            <a:r>
              <a:rPr lang="en-US" sz="1500" b="1" dirty="0">
                <a:solidFill>
                  <a:srgbClr val="0C2C3A"/>
                </a:solidFill>
                <a:latin typeface="Manrope" pitchFamily="34" charset="0"/>
                <a:ea typeface="Manrope" pitchFamily="34" charset="-122"/>
                <a:cs typeface="Manrope" pitchFamily="34" charset="-120"/>
              </a:rPr>
              <a:t>What we understand matters to you</a:t>
            </a:r>
            <a:endParaRPr lang="en-US" sz="1500" dirty="0"/>
          </a:p>
        </p:txBody>
      </p:sp>
      <p:sp>
        <p:nvSpPr>
          <p:cNvPr id="8" name="Text 6"/>
          <p:cNvSpPr/>
          <p:nvPr/>
        </p:nvSpPr>
        <p:spPr>
          <a:xfrm>
            <a:off x="6675120" y="2423160"/>
            <a:ext cx="4572000" cy="3200400"/>
          </a:xfrm>
          <a:prstGeom prst="rect">
            <a:avLst/>
          </a:prstGeom>
          <a:noFill/>
          <a:ln/>
        </p:spPr>
        <p:txBody>
          <a:bodyPr wrap="square" lIns="0" tIns="0" rIns="0" bIns="0" rtlCol="0" anchor="t"/>
          <a:lstStyle/>
          <a:p>
            <a:pPr marL="177800" indent="-177800">
              <a:lnSpc>
                <a:spcPct val="116000"/>
              </a:lnSpc>
              <a:spcAft>
                <a:spcPts val="700"/>
              </a:spcAft>
              <a:buSzPct val="100000"/>
              <a:buChar char="•"/>
            </a:pPr>
            <a:r>
              <a:rPr lang="en-US" sz="1300" dirty="0">
                <a:solidFill>
                  <a:srgbClr val="40424D"/>
                </a:solidFill>
                <a:latin typeface="Manrope" pitchFamily="34" charset="0"/>
                <a:ea typeface="Manrope" pitchFamily="34" charset="-122"/>
                <a:cs typeface="Manrope" pitchFamily="34" charset="-120"/>
              </a:rPr>
              <a:t>[Reducing leakage and water loss]</a:t>
            </a:r>
            <a:endParaRPr lang="en-US" sz="1300" dirty="0"/>
          </a:p>
          <a:p>
            <a:pPr marL="177800" indent="-177800">
              <a:lnSpc>
                <a:spcPct val="116000"/>
              </a:lnSpc>
              <a:spcAft>
                <a:spcPts val="700"/>
              </a:spcAft>
              <a:buSzPct val="100000"/>
              <a:buChar char="•"/>
            </a:pPr>
            <a:r>
              <a:rPr lang="en-US" sz="1300" dirty="0">
                <a:solidFill>
                  <a:srgbClr val="40424D"/>
                </a:solidFill>
                <a:latin typeface="Manrope" pitchFamily="34" charset="0"/>
                <a:ea typeface="Manrope" pitchFamily="34" charset="-122"/>
                <a:cs typeface="Manrope" pitchFamily="34" charset="-120"/>
              </a:rPr>
              <a:t>[Lowering customer-side consumption]</a:t>
            </a:r>
            <a:endParaRPr lang="en-US" sz="1300" dirty="0"/>
          </a:p>
          <a:p>
            <a:pPr marL="177800" indent="-177800">
              <a:lnSpc>
                <a:spcPct val="116000"/>
              </a:lnSpc>
              <a:spcAft>
                <a:spcPts val="700"/>
              </a:spcAft>
              <a:buSzPct val="100000"/>
              <a:buChar char="•"/>
            </a:pPr>
            <a:r>
              <a:rPr lang="en-US" sz="1300" dirty="0">
                <a:solidFill>
                  <a:srgbClr val="40424D"/>
                </a:solidFill>
                <a:latin typeface="Manrope" pitchFamily="34" charset="0"/>
                <a:ea typeface="Manrope" pitchFamily="34" charset="-122"/>
                <a:cs typeface="Manrope" pitchFamily="34" charset="-120"/>
              </a:rPr>
              <a:t>[Meeting regulatory and performance targets]</a:t>
            </a:r>
            <a:endParaRPr lang="en-US" sz="1300" dirty="0"/>
          </a:p>
          <a:p>
            <a:pPr marL="177800" indent="-177800">
              <a:lnSpc>
                <a:spcPct val="116000"/>
              </a:lnSpc>
              <a:spcAft>
                <a:spcPts val="700"/>
              </a:spcAft>
              <a:buSzPct val="100000"/>
              <a:buChar char="•"/>
            </a:pPr>
            <a:r>
              <a:rPr lang="en-US" sz="1300" dirty="0">
                <a:solidFill>
                  <a:srgbClr val="40424D"/>
                </a:solidFill>
                <a:latin typeface="Manrope" pitchFamily="34" charset="0"/>
                <a:ea typeface="Manrope" pitchFamily="34" charset="-122"/>
                <a:cs typeface="Manrope" pitchFamily="34" charset="-120"/>
              </a:rPr>
              <a:t>[Strengthening long-term resilience]</a:t>
            </a:r>
            <a:endParaRPr lang="en-US" sz="1300" dirty="0"/>
          </a:p>
          <a:p>
            <a:pPr marL="177800" indent="-177800">
              <a:lnSpc>
                <a:spcPct val="116000"/>
              </a:lnSpc>
              <a:spcAft>
                <a:spcPts val="700"/>
              </a:spcAft>
              <a:buSzPct val="100000"/>
              <a:buChar char="•"/>
            </a:pPr>
            <a:r>
              <a:rPr lang="en-US" sz="1300" dirty="0">
                <a:solidFill>
                  <a:srgbClr val="40424D"/>
                </a:solidFill>
                <a:latin typeface="Manrope" pitchFamily="34" charset="0"/>
                <a:ea typeface="Manrope" pitchFamily="34" charset="-122"/>
                <a:cs typeface="Manrope" pitchFamily="34" charset="-120"/>
              </a:rPr>
              <a:t>[Demonstrating measurable value]</a:t>
            </a:r>
            <a:endParaRPr lang="en-US" sz="1300" dirty="0"/>
          </a:p>
          <a:p>
            <a:pPr marL="177800" indent="-177800">
              <a:lnSpc>
                <a:spcPct val="116000"/>
              </a:lnSpc>
              <a:spcAft>
                <a:spcPts val="700"/>
              </a:spcAft>
              <a:buSzPct val="100000"/>
              <a:buChar char="•"/>
            </a:pPr>
            <a:r>
              <a:rPr lang="en-US" sz="1300" dirty="0">
                <a:solidFill>
                  <a:srgbClr val="40424D"/>
                </a:solidFill>
                <a:latin typeface="Manrope" pitchFamily="34" charset="0"/>
                <a:ea typeface="Manrope" pitchFamily="34" charset="-122"/>
                <a:cs typeface="Manrope" pitchFamily="34" charset="-120"/>
              </a:rPr>
              <a:t>[Working with a partner who is easy to deal with]</a:t>
            </a:r>
            <a:endParaRPr lang="en-US" sz="1300" dirty="0"/>
          </a:p>
        </p:txBody>
      </p:sp>
      <p:pic>
        <p:nvPicPr>
          <p:cNvPr id="9" name="Image 0" descr="/home/claude/deck/img/mark.png"/>
          <p:cNvPicPr>
            <a:picLocks noChangeAspect="1"/>
          </p:cNvPicPr>
          <p:nvPr/>
        </p:nvPicPr>
        <p:blipFill>
          <a:blip r:embed="rId3"/>
          <a:stretch>
            <a:fillRect/>
          </a:stretch>
        </p:blipFill>
        <p:spPr>
          <a:xfrm>
            <a:off x="640080" y="6364224"/>
            <a:ext cx="274320" cy="274320"/>
          </a:xfrm>
          <a:prstGeom prst="rect">
            <a:avLst/>
          </a:prstGeom>
        </p:spPr>
      </p:pic>
      <p:sp>
        <p:nvSpPr>
          <p:cNvPr id="10" name="Text 7"/>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11" name="Text 8"/>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12" name="Text 9"/>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01  ·  THE OPPORTUNITY</a:t>
            </a:r>
            <a:endParaRPr lang="en-US" sz="1100" dirty="0"/>
          </a:p>
        </p:txBody>
      </p:sp>
      <p:sp>
        <p:nvSpPr>
          <p:cNvPr id="3" name="Text 1"/>
          <p:cNvSpPr/>
          <p:nvPr/>
        </p:nvSpPr>
        <p:spPr>
          <a:xfrm>
            <a:off x="640080" y="676656"/>
            <a:ext cx="10911535"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The requirement</a:t>
            </a:r>
            <a:endParaRPr lang="en-US" sz="2800" dirty="0"/>
          </a:p>
        </p:txBody>
      </p:sp>
      <p:sp>
        <p:nvSpPr>
          <p:cNvPr id="4" name="Text 2"/>
          <p:cNvSpPr/>
          <p:nvPr/>
        </p:nvSpPr>
        <p:spPr>
          <a:xfrm>
            <a:off x="640080" y="1371600"/>
            <a:ext cx="10515600" cy="411480"/>
          </a:xfrm>
          <a:prstGeom prst="rect">
            <a:avLst/>
          </a:prstGeom>
          <a:noFill/>
          <a:ln/>
        </p:spPr>
        <p:txBody>
          <a:bodyPr wrap="square" lIns="0" tIns="0" rIns="0" bIns="0" rtlCol="0" anchor="ctr"/>
          <a:lstStyle/>
          <a:p>
            <a:pPr marL="0" indent="0">
              <a:buNone/>
            </a:pPr>
            <a:r>
              <a:rPr lang="en-US" sz="1450" dirty="0">
                <a:solidFill>
                  <a:srgbClr val="6E7180"/>
                </a:solidFill>
                <a:latin typeface="Manrope" pitchFamily="34" charset="0"/>
                <a:ea typeface="Manrope" pitchFamily="34" charset="-122"/>
                <a:cs typeface="Manrope" pitchFamily="34" charset="-120"/>
              </a:rPr>
              <a:t>[Set out the scope of the opportunity. Replace the placeholders below with the detail for this submission.]</a:t>
            </a:r>
            <a:endParaRPr lang="en-US" sz="1450" dirty="0"/>
          </a:p>
        </p:txBody>
      </p:sp>
      <p:sp>
        <p:nvSpPr>
          <p:cNvPr id="5" name="Shape 3"/>
          <p:cNvSpPr/>
          <p:nvPr/>
        </p:nvSpPr>
        <p:spPr>
          <a:xfrm>
            <a:off x="640080" y="1965960"/>
            <a:ext cx="3456432" cy="1508760"/>
          </a:xfrm>
          <a:prstGeom prst="roundRect">
            <a:avLst>
              <a:gd name="adj" fmla="val 5455"/>
            </a:avLst>
          </a:prstGeom>
          <a:solidFill>
            <a:srgbClr val="EDEFF7"/>
          </a:solidFill>
          <a:ln/>
        </p:spPr>
        <p:txBody>
          <a:bodyPr/>
          <a:lstStyle/>
          <a:p>
            <a:endParaRPr lang="en-US"/>
          </a:p>
        </p:txBody>
      </p:sp>
      <p:sp>
        <p:nvSpPr>
          <p:cNvPr id="6" name="Text 4"/>
          <p:cNvSpPr/>
          <p:nvPr/>
        </p:nvSpPr>
        <p:spPr>
          <a:xfrm>
            <a:off x="932688" y="2221992"/>
            <a:ext cx="2834640" cy="320040"/>
          </a:xfrm>
          <a:prstGeom prst="rect">
            <a:avLst/>
          </a:prstGeom>
          <a:noFill/>
          <a:ln/>
        </p:spPr>
        <p:txBody>
          <a:bodyPr wrap="square" lIns="0" tIns="0" rIns="0" bIns="0" rtlCol="0" anchor="ctr"/>
          <a:lstStyle/>
          <a:p>
            <a:pPr marL="0" indent="0">
              <a:buNone/>
            </a:pPr>
            <a:r>
              <a:rPr lang="en-US" sz="1100" b="1" kern="0" spc="100" dirty="0">
                <a:solidFill>
                  <a:srgbClr val="00B6DB"/>
                </a:solidFill>
                <a:latin typeface="Manrope" pitchFamily="34" charset="0"/>
                <a:ea typeface="Manrope" pitchFamily="34" charset="-122"/>
                <a:cs typeface="Manrope" pitchFamily="34" charset="-120"/>
              </a:rPr>
              <a:t>SCOPE</a:t>
            </a:r>
            <a:endParaRPr lang="en-US" sz="1100" dirty="0"/>
          </a:p>
        </p:txBody>
      </p:sp>
      <p:sp>
        <p:nvSpPr>
          <p:cNvPr id="7" name="Text 5"/>
          <p:cNvSpPr/>
          <p:nvPr/>
        </p:nvSpPr>
        <p:spPr>
          <a:xfrm>
            <a:off x="932688" y="2624328"/>
            <a:ext cx="2926080" cy="685800"/>
          </a:xfrm>
          <a:prstGeom prst="rect">
            <a:avLst/>
          </a:prstGeom>
          <a:noFill/>
          <a:ln/>
        </p:spPr>
        <p:txBody>
          <a:bodyPr wrap="square" lIns="0" tIns="0" rIns="0" bIns="0" rtlCol="0" anchor="ctr"/>
          <a:lstStyle/>
          <a:p>
            <a:pPr marL="0" indent="0">
              <a:lnSpc>
                <a:spcPct val="105000"/>
              </a:lnSpc>
              <a:buNone/>
            </a:pPr>
            <a:r>
              <a:rPr lang="en-US" sz="1500" b="1" dirty="0">
                <a:solidFill>
                  <a:srgbClr val="0C2C3A"/>
                </a:solidFill>
                <a:latin typeface="Manrope" pitchFamily="34" charset="0"/>
                <a:ea typeface="Manrope" pitchFamily="34" charset="-122"/>
                <a:cs typeface="Manrope" pitchFamily="34" charset="-120"/>
              </a:rPr>
              <a:t>[Workstreams or lots]</a:t>
            </a:r>
            <a:endParaRPr lang="en-US" sz="1500" dirty="0"/>
          </a:p>
        </p:txBody>
      </p:sp>
      <p:sp>
        <p:nvSpPr>
          <p:cNvPr id="8" name="Shape 6"/>
          <p:cNvSpPr/>
          <p:nvPr/>
        </p:nvSpPr>
        <p:spPr>
          <a:xfrm>
            <a:off x="4361688" y="1965960"/>
            <a:ext cx="3456432" cy="1508760"/>
          </a:xfrm>
          <a:prstGeom prst="roundRect">
            <a:avLst>
              <a:gd name="adj" fmla="val 5455"/>
            </a:avLst>
          </a:prstGeom>
          <a:solidFill>
            <a:srgbClr val="EDEFF7"/>
          </a:solidFill>
          <a:ln/>
        </p:spPr>
        <p:txBody>
          <a:bodyPr/>
          <a:lstStyle/>
          <a:p>
            <a:endParaRPr lang="en-US"/>
          </a:p>
        </p:txBody>
      </p:sp>
      <p:sp>
        <p:nvSpPr>
          <p:cNvPr id="9" name="Text 7"/>
          <p:cNvSpPr/>
          <p:nvPr/>
        </p:nvSpPr>
        <p:spPr>
          <a:xfrm>
            <a:off x="4654296" y="2221992"/>
            <a:ext cx="2834640" cy="320040"/>
          </a:xfrm>
          <a:prstGeom prst="rect">
            <a:avLst/>
          </a:prstGeom>
          <a:noFill/>
          <a:ln/>
        </p:spPr>
        <p:txBody>
          <a:bodyPr wrap="square" lIns="0" tIns="0" rIns="0" bIns="0" rtlCol="0" anchor="ctr"/>
          <a:lstStyle/>
          <a:p>
            <a:pPr marL="0" indent="0">
              <a:buNone/>
            </a:pPr>
            <a:r>
              <a:rPr lang="en-US" sz="1100" b="1" kern="0" spc="100" dirty="0">
                <a:solidFill>
                  <a:srgbClr val="00B6DB"/>
                </a:solidFill>
                <a:latin typeface="Manrope" pitchFamily="34" charset="0"/>
                <a:ea typeface="Manrope" pitchFamily="34" charset="-122"/>
                <a:cs typeface="Manrope" pitchFamily="34" charset="-120"/>
              </a:rPr>
              <a:t>COMMENCEMENT</a:t>
            </a:r>
            <a:endParaRPr lang="en-US" sz="1100" dirty="0"/>
          </a:p>
        </p:txBody>
      </p:sp>
      <p:sp>
        <p:nvSpPr>
          <p:cNvPr id="10" name="Text 8"/>
          <p:cNvSpPr/>
          <p:nvPr/>
        </p:nvSpPr>
        <p:spPr>
          <a:xfrm>
            <a:off x="4654296" y="2624328"/>
            <a:ext cx="2926080" cy="685800"/>
          </a:xfrm>
          <a:prstGeom prst="rect">
            <a:avLst/>
          </a:prstGeom>
          <a:noFill/>
          <a:ln/>
        </p:spPr>
        <p:txBody>
          <a:bodyPr wrap="square" lIns="0" tIns="0" rIns="0" bIns="0" rtlCol="0" anchor="ctr"/>
          <a:lstStyle/>
          <a:p>
            <a:pPr marL="0" indent="0">
              <a:lnSpc>
                <a:spcPct val="105000"/>
              </a:lnSpc>
              <a:buNone/>
            </a:pPr>
            <a:r>
              <a:rPr lang="en-US" sz="1500" b="1" dirty="0">
                <a:solidFill>
                  <a:srgbClr val="0C2C3A"/>
                </a:solidFill>
                <a:latin typeface="Manrope" pitchFamily="34" charset="0"/>
                <a:ea typeface="Manrope" pitchFamily="34" charset="-122"/>
                <a:cs typeface="Manrope" pitchFamily="34" charset="-120"/>
              </a:rPr>
              <a:t>[Start date]</a:t>
            </a:r>
            <a:endParaRPr lang="en-US" sz="1500" dirty="0"/>
          </a:p>
        </p:txBody>
      </p:sp>
      <p:sp>
        <p:nvSpPr>
          <p:cNvPr id="11" name="Shape 9"/>
          <p:cNvSpPr/>
          <p:nvPr/>
        </p:nvSpPr>
        <p:spPr>
          <a:xfrm>
            <a:off x="8083296" y="1965960"/>
            <a:ext cx="3456432" cy="1508760"/>
          </a:xfrm>
          <a:prstGeom prst="roundRect">
            <a:avLst>
              <a:gd name="adj" fmla="val 5455"/>
            </a:avLst>
          </a:prstGeom>
          <a:solidFill>
            <a:srgbClr val="EDEFF7"/>
          </a:solidFill>
          <a:ln/>
        </p:spPr>
        <p:txBody>
          <a:bodyPr/>
          <a:lstStyle/>
          <a:p>
            <a:endParaRPr lang="en-US"/>
          </a:p>
        </p:txBody>
      </p:sp>
      <p:sp>
        <p:nvSpPr>
          <p:cNvPr id="12" name="Text 10"/>
          <p:cNvSpPr/>
          <p:nvPr/>
        </p:nvSpPr>
        <p:spPr>
          <a:xfrm>
            <a:off x="8375904" y="2221992"/>
            <a:ext cx="2834640" cy="320040"/>
          </a:xfrm>
          <a:prstGeom prst="rect">
            <a:avLst/>
          </a:prstGeom>
          <a:noFill/>
          <a:ln/>
        </p:spPr>
        <p:txBody>
          <a:bodyPr wrap="square" lIns="0" tIns="0" rIns="0" bIns="0" rtlCol="0" anchor="ctr"/>
          <a:lstStyle/>
          <a:p>
            <a:pPr marL="0" indent="0">
              <a:buNone/>
            </a:pPr>
            <a:r>
              <a:rPr lang="en-US" sz="1100" b="1" kern="0" spc="100" dirty="0">
                <a:solidFill>
                  <a:srgbClr val="00B6DB"/>
                </a:solidFill>
                <a:latin typeface="Manrope" pitchFamily="34" charset="0"/>
                <a:ea typeface="Manrope" pitchFamily="34" charset="-122"/>
                <a:cs typeface="Manrope" pitchFamily="34" charset="-120"/>
              </a:rPr>
              <a:t>DURATION</a:t>
            </a:r>
            <a:endParaRPr lang="en-US" sz="1100" dirty="0"/>
          </a:p>
        </p:txBody>
      </p:sp>
      <p:sp>
        <p:nvSpPr>
          <p:cNvPr id="13" name="Text 11"/>
          <p:cNvSpPr/>
          <p:nvPr/>
        </p:nvSpPr>
        <p:spPr>
          <a:xfrm>
            <a:off x="8375904" y="2624328"/>
            <a:ext cx="2926080" cy="685800"/>
          </a:xfrm>
          <a:prstGeom prst="rect">
            <a:avLst/>
          </a:prstGeom>
          <a:noFill/>
          <a:ln/>
        </p:spPr>
        <p:txBody>
          <a:bodyPr wrap="square" lIns="0" tIns="0" rIns="0" bIns="0" rtlCol="0" anchor="ctr"/>
          <a:lstStyle/>
          <a:p>
            <a:pPr marL="0" indent="0">
              <a:lnSpc>
                <a:spcPct val="105000"/>
              </a:lnSpc>
              <a:buNone/>
            </a:pPr>
            <a:r>
              <a:rPr lang="en-US" sz="1500" b="1" dirty="0">
                <a:solidFill>
                  <a:srgbClr val="0C2C3A"/>
                </a:solidFill>
                <a:latin typeface="Manrope" pitchFamily="34" charset="0"/>
                <a:ea typeface="Manrope" pitchFamily="34" charset="-122"/>
                <a:cs typeface="Manrope" pitchFamily="34" charset="-120"/>
              </a:rPr>
              <a:t>[Term and extensions]</a:t>
            </a:r>
            <a:endParaRPr lang="en-US" sz="1500" dirty="0"/>
          </a:p>
        </p:txBody>
      </p:sp>
      <p:sp>
        <p:nvSpPr>
          <p:cNvPr id="14" name="Shape 12"/>
          <p:cNvSpPr/>
          <p:nvPr/>
        </p:nvSpPr>
        <p:spPr>
          <a:xfrm>
            <a:off x="640080" y="3749040"/>
            <a:ext cx="3456432" cy="1508760"/>
          </a:xfrm>
          <a:prstGeom prst="roundRect">
            <a:avLst>
              <a:gd name="adj" fmla="val 5455"/>
            </a:avLst>
          </a:prstGeom>
          <a:solidFill>
            <a:srgbClr val="EDEFF7"/>
          </a:solidFill>
          <a:ln/>
        </p:spPr>
        <p:txBody>
          <a:bodyPr/>
          <a:lstStyle/>
          <a:p>
            <a:endParaRPr lang="en-US"/>
          </a:p>
        </p:txBody>
      </p:sp>
      <p:sp>
        <p:nvSpPr>
          <p:cNvPr id="15" name="Text 13"/>
          <p:cNvSpPr/>
          <p:nvPr/>
        </p:nvSpPr>
        <p:spPr>
          <a:xfrm>
            <a:off x="932688" y="4005072"/>
            <a:ext cx="2834640" cy="320040"/>
          </a:xfrm>
          <a:prstGeom prst="rect">
            <a:avLst/>
          </a:prstGeom>
          <a:noFill/>
          <a:ln/>
        </p:spPr>
        <p:txBody>
          <a:bodyPr wrap="square" lIns="0" tIns="0" rIns="0" bIns="0" rtlCol="0" anchor="ctr"/>
          <a:lstStyle/>
          <a:p>
            <a:pPr marL="0" indent="0">
              <a:buNone/>
            </a:pPr>
            <a:r>
              <a:rPr lang="en-US" sz="1100" b="1" kern="0" spc="100" dirty="0">
                <a:solidFill>
                  <a:srgbClr val="00B6DB"/>
                </a:solidFill>
                <a:latin typeface="Manrope" pitchFamily="34" charset="0"/>
                <a:ea typeface="Manrope" pitchFamily="34" charset="-122"/>
                <a:cs typeface="Manrope" pitchFamily="34" charset="-120"/>
              </a:rPr>
              <a:t>RESOURCE</a:t>
            </a:r>
            <a:endParaRPr lang="en-US" sz="1100" dirty="0"/>
          </a:p>
        </p:txBody>
      </p:sp>
      <p:sp>
        <p:nvSpPr>
          <p:cNvPr id="16" name="Text 14"/>
          <p:cNvSpPr/>
          <p:nvPr/>
        </p:nvSpPr>
        <p:spPr>
          <a:xfrm>
            <a:off x="932688" y="4407408"/>
            <a:ext cx="2926080" cy="685800"/>
          </a:xfrm>
          <a:prstGeom prst="rect">
            <a:avLst/>
          </a:prstGeom>
          <a:noFill/>
          <a:ln/>
        </p:spPr>
        <p:txBody>
          <a:bodyPr wrap="square" lIns="0" tIns="0" rIns="0" bIns="0" rtlCol="0" anchor="ctr"/>
          <a:lstStyle/>
          <a:p>
            <a:pPr marL="0" indent="0">
              <a:lnSpc>
                <a:spcPct val="105000"/>
              </a:lnSpc>
              <a:buNone/>
            </a:pPr>
            <a:r>
              <a:rPr lang="en-US" sz="1500" b="1" dirty="0">
                <a:solidFill>
                  <a:srgbClr val="0C2C3A"/>
                </a:solidFill>
                <a:latin typeface="Manrope" pitchFamily="34" charset="0"/>
                <a:ea typeface="Manrope" pitchFamily="34" charset="-122"/>
                <a:cs typeface="Manrope" pitchFamily="34" charset="-120"/>
              </a:rPr>
              <a:t>[Team and roles]</a:t>
            </a:r>
            <a:endParaRPr lang="en-US" sz="1500" dirty="0"/>
          </a:p>
        </p:txBody>
      </p:sp>
      <p:sp>
        <p:nvSpPr>
          <p:cNvPr id="17" name="Shape 15"/>
          <p:cNvSpPr/>
          <p:nvPr/>
        </p:nvSpPr>
        <p:spPr>
          <a:xfrm>
            <a:off x="4361688" y="3749040"/>
            <a:ext cx="3456432" cy="1508760"/>
          </a:xfrm>
          <a:prstGeom prst="roundRect">
            <a:avLst>
              <a:gd name="adj" fmla="val 5455"/>
            </a:avLst>
          </a:prstGeom>
          <a:solidFill>
            <a:srgbClr val="EDEFF7"/>
          </a:solidFill>
          <a:ln/>
        </p:spPr>
        <p:txBody>
          <a:bodyPr/>
          <a:lstStyle/>
          <a:p>
            <a:endParaRPr lang="en-US"/>
          </a:p>
        </p:txBody>
      </p:sp>
      <p:sp>
        <p:nvSpPr>
          <p:cNvPr id="18" name="Text 16"/>
          <p:cNvSpPr/>
          <p:nvPr/>
        </p:nvSpPr>
        <p:spPr>
          <a:xfrm>
            <a:off x="4654296" y="4005072"/>
            <a:ext cx="2834640" cy="320040"/>
          </a:xfrm>
          <a:prstGeom prst="rect">
            <a:avLst/>
          </a:prstGeom>
          <a:noFill/>
          <a:ln/>
        </p:spPr>
        <p:txBody>
          <a:bodyPr wrap="square" lIns="0" tIns="0" rIns="0" bIns="0" rtlCol="0" anchor="ctr"/>
          <a:lstStyle/>
          <a:p>
            <a:pPr marL="0" indent="0">
              <a:buNone/>
            </a:pPr>
            <a:r>
              <a:rPr lang="en-US" sz="1100" b="1" kern="0" spc="100" dirty="0">
                <a:solidFill>
                  <a:srgbClr val="00B6DB"/>
                </a:solidFill>
                <a:latin typeface="Manrope" pitchFamily="34" charset="0"/>
                <a:ea typeface="Manrope" pitchFamily="34" charset="-122"/>
                <a:cs typeface="Manrope" pitchFamily="34" charset="-120"/>
              </a:rPr>
              <a:t>WORKING PATTERN</a:t>
            </a:r>
            <a:endParaRPr lang="en-US" sz="1100" dirty="0"/>
          </a:p>
        </p:txBody>
      </p:sp>
      <p:sp>
        <p:nvSpPr>
          <p:cNvPr id="19" name="Text 17"/>
          <p:cNvSpPr/>
          <p:nvPr/>
        </p:nvSpPr>
        <p:spPr>
          <a:xfrm>
            <a:off x="4654296" y="4407408"/>
            <a:ext cx="2926080" cy="685800"/>
          </a:xfrm>
          <a:prstGeom prst="rect">
            <a:avLst/>
          </a:prstGeom>
          <a:noFill/>
          <a:ln/>
        </p:spPr>
        <p:txBody>
          <a:bodyPr wrap="square" lIns="0" tIns="0" rIns="0" bIns="0" rtlCol="0" anchor="ctr"/>
          <a:lstStyle/>
          <a:p>
            <a:pPr marL="0" indent="0">
              <a:lnSpc>
                <a:spcPct val="105000"/>
              </a:lnSpc>
              <a:buNone/>
            </a:pPr>
            <a:r>
              <a:rPr lang="en-US" sz="1500" b="1" dirty="0">
                <a:solidFill>
                  <a:srgbClr val="0C2C3A"/>
                </a:solidFill>
                <a:latin typeface="Manrope" pitchFamily="34" charset="0"/>
                <a:ea typeface="Manrope" pitchFamily="34" charset="-122"/>
                <a:cs typeface="Manrope" pitchFamily="34" charset="-120"/>
              </a:rPr>
              <a:t>[Hours and shifts]</a:t>
            </a:r>
            <a:endParaRPr lang="en-US" sz="1500" dirty="0"/>
          </a:p>
        </p:txBody>
      </p:sp>
      <p:sp>
        <p:nvSpPr>
          <p:cNvPr id="20" name="Shape 18"/>
          <p:cNvSpPr/>
          <p:nvPr/>
        </p:nvSpPr>
        <p:spPr>
          <a:xfrm>
            <a:off x="8083296" y="3749040"/>
            <a:ext cx="3456432" cy="1508760"/>
          </a:xfrm>
          <a:prstGeom prst="roundRect">
            <a:avLst>
              <a:gd name="adj" fmla="val 5455"/>
            </a:avLst>
          </a:prstGeom>
          <a:solidFill>
            <a:srgbClr val="EDEFF7"/>
          </a:solidFill>
          <a:ln/>
        </p:spPr>
        <p:txBody>
          <a:bodyPr/>
          <a:lstStyle/>
          <a:p>
            <a:endParaRPr lang="en-US"/>
          </a:p>
        </p:txBody>
      </p:sp>
      <p:sp>
        <p:nvSpPr>
          <p:cNvPr id="21" name="Text 19"/>
          <p:cNvSpPr/>
          <p:nvPr/>
        </p:nvSpPr>
        <p:spPr>
          <a:xfrm>
            <a:off x="8375904" y="4005072"/>
            <a:ext cx="2834640" cy="320040"/>
          </a:xfrm>
          <a:prstGeom prst="rect">
            <a:avLst/>
          </a:prstGeom>
          <a:noFill/>
          <a:ln/>
        </p:spPr>
        <p:txBody>
          <a:bodyPr wrap="square" lIns="0" tIns="0" rIns="0" bIns="0" rtlCol="0" anchor="ctr"/>
          <a:lstStyle/>
          <a:p>
            <a:pPr marL="0" indent="0">
              <a:buNone/>
            </a:pPr>
            <a:r>
              <a:rPr lang="en-US" sz="1100" b="1" kern="0" spc="100" dirty="0">
                <a:solidFill>
                  <a:srgbClr val="00B6DB"/>
                </a:solidFill>
                <a:latin typeface="Manrope" pitchFamily="34" charset="0"/>
                <a:ea typeface="Manrope" pitchFamily="34" charset="-122"/>
                <a:cs typeface="Manrope" pitchFamily="34" charset="-120"/>
              </a:rPr>
              <a:t>PARTNERS</a:t>
            </a:r>
            <a:endParaRPr lang="en-US" sz="1100" dirty="0"/>
          </a:p>
        </p:txBody>
      </p:sp>
      <p:sp>
        <p:nvSpPr>
          <p:cNvPr id="22" name="Text 20"/>
          <p:cNvSpPr/>
          <p:nvPr/>
        </p:nvSpPr>
        <p:spPr>
          <a:xfrm>
            <a:off x="8375904" y="4407408"/>
            <a:ext cx="2926080" cy="685800"/>
          </a:xfrm>
          <a:prstGeom prst="rect">
            <a:avLst/>
          </a:prstGeom>
          <a:noFill/>
          <a:ln/>
        </p:spPr>
        <p:txBody>
          <a:bodyPr wrap="square" lIns="0" tIns="0" rIns="0" bIns="0" rtlCol="0" anchor="ctr"/>
          <a:lstStyle/>
          <a:p>
            <a:pPr marL="0" indent="0">
              <a:lnSpc>
                <a:spcPct val="105000"/>
              </a:lnSpc>
              <a:buNone/>
            </a:pPr>
            <a:r>
              <a:rPr lang="en-US" sz="1500" b="1" dirty="0">
                <a:solidFill>
                  <a:srgbClr val="0C2C3A"/>
                </a:solidFill>
                <a:latin typeface="Manrope" pitchFamily="34" charset="0"/>
                <a:ea typeface="Manrope" pitchFamily="34" charset="-122"/>
                <a:cs typeface="Manrope" pitchFamily="34" charset="-120"/>
              </a:rPr>
              <a:t>[Delivery partners]</a:t>
            </a:r>
            <a:endParaRPr lang="en-US" sz="1500" dirty="0"/>
          </a:p>
        </p:txBody>
      </p:sp>
      <p:pic>
        <p:nvPicPr>
          <p:cNvPr id="23" name="Image 0" descr="/home/claude/deck/img/mark.png"/>
          <p:cNvPicPr>
            <a:picLocks noChangeAspect="1"/>
          </p:cNvPicPr>
          <p:nvPr/>
        </p:nvPicPr>
        <p:blipFill>
          <a:blip r:embed="rId3"/>
          <a:stretch>
            <a:fillRect/>
          </a:stretch>
        </p:blipFill>
        <p:spPr>
          <a:xfrm>
            <a:off x="640080" y="6364224"/>
            <a:ext cx="274320" cy="274320"/>
          </a:xfrm>
          <a:prstGeom prst="rect">
            <a:avLst/>
          </a:prstGeom>
        </p:spPr>
      </p:pic>
      <p:sp>
        <p:nvSpPr>
          <p:cNvPr id="24" name="Text 21"/>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25" name="Text 22"/>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26" name="Text 23"/>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2C3A"/>
        </a:solidFill>
        <a:effectLst/>
      </p:bgPr>
    </p:bg>
    <p:spTree>
      <p:nvGrpSpPr>
        <p:cNvPr id="1" name=""/>
        <p:cNvGrpSpPr/>
        <p:nvPr/>
      </p:nvGrpSpPr>
      <p:grpSpPr>
        <a:xfrm>
          <a:off x="0" y="0"/>
          <a:ext cx="0" cy="0"/>
          <a:chOff x="0" y="0"/>
          <a:chExt cx="0" cy="0"/>
        </a:xfrm>
      </p:grpSpPr>
      <p:pic>
        <p:nvPicPr>
          <p:cNvPr id="2" name="Image 0" descr="/home/claude/deck/img/mark.png"/>
          <p:cNvPicPr>
            <a:picLocks noChangeAspect="1"/>
          </p:cNvPicPr>
          <p:nvPr/>
        </p:nvPicPr>
        <p:blipFill>
          <a:blip r:embed="rId3">
            <a:alphaModFix amt="12000"/>
          </a:blip>
          <a:stretch>
            <a:fillRect/>
          </a:stretch>
        </p:blipFill>
        <p:spPr>
          <a:xfrm>
            <a:off x="8869680" y="3108960"/>
            <a:ext cx="5120640" cy="5120640"/>
          </a:xfrm>
          <a:prstGeom prst="rect">
            <a:avLst/>
          </a:prstGeom>
        </p:spPr>
      </p:pic>
      <p:sp>
        <p:nvSpPr>
          <p:cNvPr id="3"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6AC2D8"/>
                </a:solidFill>
                <a:latin typeface="Manrope" pitchFamily="34" charset="0"/>
                <a:ea typeface="Manrope" pitchFamily="34" charset="-122"/>
                <a:cs typeface="Manrope" pitchFamily="34" charset="-120"/>
              </a:rPr>
              <a:t>01  ·  THE OPPORTUNITY</a:t>
            </a:r>
            <a:endParaRPr lang="en-US" sz="1100" dirty="0"/>
          </a:p>
        </p:txBody>
      </p:sp>
      <p:sp>
        <p:nvSpPr>
          <p:cNvPr id="4" name="Text 1"/>
          <p:cNvSpPr/>
          <p:nvPr/>
        </p:nvSpPr>
        <p:spPr>
          <a:xfrm>
            <a:off x="640080" y="1188720"/>
            <a:ext cx="10058400" cy="548640"/>
          </a:xfrm>
          <a:prstGeom prst="rect">
            <a:avLst/>
          </a:prstGeom>
          <a:noFill/>
          <a:ln/>
        </p:spPr>
        <p:txBody>
          <a:bodyPr wrap="square" lIns="0" tIns="0" rIns="0" bIns="0" rtlCol="0" anchor="ctr"/>
          <a:lstStyle/>
          <a:p>
            <a:pPr marL="0" indent="0">
              <a:buNone/>
            </a:pPr>
            <a:r>
              <a:rPr lang="en-US" sz="1700" dirty="0">
                <a:solidFill>
                  <a:srgbClr val="6AC2D8"/>
                </a:solidFill>
                <a:latin typeface="Manrope" pitchFamily="34" charset="0"/>
                <a:ea typeface="Manrope" pitchFamily="34" charset="-122"/>
                <a:cs typeface="Manrope" pitchFamily="34" charset="-120"/>
              </a:rPr>
              <a:t>Why it matters</a:t>
            </a:r>
            <a:endParaRPr lang="en-US" sz="1700" dirty="0"/>
          </a:p>
        </p:txBody>
      </p:sp>
      <p:sp>
        <p:nvSpPr>
          <p:cNvPr id="5" name="Text 2"/>
          <p:cNvSpPr/>
          <p:nvPr/>
        </p:nvSpPr>
        <p:spPr>
          <a:xfrm>
            <a:off x="640080" y="2103120"/>
            <a:ext cx="9692640" cy="2743200"/>
          </a:xfrm>
          <a:prstGeom prst="rect">
            <a:avLst/>
          </a:prstGeom>
          <a:noFill/>
          <a:ln/>
        </p:spPr>
        <p:txBody>
          <a:bodyPr wrap="square" lIns="0" tIns="0" rIns="0" bIns="0" rtlCol="0" anchor="ctr"/>
          <a:lstStyle/>
          <a:p>
            <a:pPr marL="0" indent="0">
              <a:lnSpc>
                <a:spcPct val="116000"/>
              </a:lnSpc>
              <a:buNone/>
            </a:pPr>
            <a:r>
              <a:rPr lang="en-US" sz="2700" b="1" dirty="0">
                <a:solidFill>
                  <a:srgbClr val="FFFFFF"/>
                </a:solidFill>
                <a:latin typeface="Manrope" pitchFamily="34" charset="0"/>
                <a:ea typeface="Manrope" pitchFamily="34" charset="-122"/>
                <a:cs typeface="Manrope" pitchFamily="34" charset="-120"/>
              </a:rPr>
              <a:t>Every megalitre saved and every leak found sooner protects </a:t>
            </a:r>
            <a:r>
              <a:rPr lang="en-US" sz="2700" b="1" dirty="0">
                <a:solidFill>
                  <a:srgbClr val="00B6DB"/>
                </a:solidFill>
                <a:latin typeface="Manrope" pitchFamily="34" charset="0"/>
                <a:ea typeface="Manrope" pitchFamily="34" charset="-122"/>
                <a:cs typeface="Manrope" pitchFamily="34" charset="-120"/>
              </a:rPr>
              <a:t>performance, cost and resilience</a:t>
            </a:r>
            <a:r>
              <a:rPr lang="en-US" sz="2700" b="1" dirty="0">
                <a:solidFill>
                  <a:srgbClr val="FFFFFF"/>
                </a:solidFill>
                <a:latin typeface="Manrope" pitchFamily="34" charset="0"/>
                <a:ea typeface="Manrope" pitchFamily="34" charset="-122"/>
                <a:cs typeface="Manrope" pitchFamily="34" charset="-120"/>
              </a:rPr>
              <a:t>. The opportunity is to deliver that at scale, with one partner accountable from source to tap.</a:t>
            </a:r>
            <a:endParaRPr lang="en-US" sz="2700" dirty="0"/>
          </a:p>
        </p:txBody>
      </p:sp>
      <p:pic>
        <p:nvPicPr>
          <p:cNvPr id="6" name="Image 1" descr="/home/claude/deck/img/mark.png"/>
          <p:cNvPicPr>
            <a:picLocks noChangeAspect="1"/>
          </p:cNvPicPr>
          <p:nvPr/>
        </p:nvPicPr>
        <p:blipFill>
          <a:blip r:embed="rId3"/>
          <a:stretch>
            <a:fillRect/>
          </a:stretch>
        </p:blipFill>
        <p:spPr>
          <a:xfrm>
            <a:off x="640080" y="6364224"/>
            <a:ext cx="274320" cy="274320"/>
          </a:xfrm>
          <a:prstGeom prst="rect">
            <a:avLst/>
          </a:prstGeom>
        </p:spPr>
      </p:pic>
      <p:sp>
        <p:nvSpPr>
          <p:cNvPr id="7" name="Text 3"/>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AC2D8"/>
                </a:solidFill>
                <a:latin typeface="Manrope" pitchFamily="34" charset="0"/>
                <a:ea typeface="Manrope" pitchFamily="34" charset="-122"/>
                <a:cs typeface="Manrope" pitchFamily="34" charset="-120"/>
              </a:rPr>
              <a:t>Aqualogic, a Sustec company</a:t>
            </a:r>
            <a:endParaRPr lang="en-US" sz="900" dirty="0"/>
          </a:p>
        </p:txBody>
      </p:sp>
      <p:sp>
        <p:nvSpPr>
          <p:cNvPr id="8" name="Text 4"/>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9" name="Text 5"/>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BCBFCC"/>
                </a:solidFill>
                <a:latin typeface="Manrope" pitchFamily="34" charset="0"/>
                <a:ea typeface="Manrope" pitchFamily="34" charset="-122"/>
                <a:cs typeface="Manrope"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ome/claude/deck/img/div_services.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C2C3A">
              <a:alpha val="62000"/>
            </a:srgbClr>
          </a:solidFill>
          <a:ln/>
        </p:spPr>
        <p:txBody>
          <a:bodyPr/>
          <a:lstStyle/>
          <a:p>
            <a:endParaRPr lang="en-US"/>
          </a:p>
        </p:txBody>
      </p:sp>
      <p:pic>
        <p:nvPicPr>
          <p:cNvPr id="4" name="Image 1" descr="/home/claude/deck/img/logo_rev.png"/>
          <p:cNvPicPr>
            <a:picLocks noChangeAspect="1"/>
          </p:cNvPicPr>
          <p:nvPr/>
        </p:nvPicPr>
        <p:blipFill>
          <a:blip r:embed="rId4"/>
          <a:stretch>
            <a:fillRect/>
          </a:stretch>
        </p:blipFill>
        <p:spPr>
          <a:xfrm>
            <a:off x="640080" y="640080"/>
            <a:ext cx="1691640" cy="556461"/>
          </a:xfrm>
          <a:prstGeom prst="rect">
            <a:avLst/>
          </a:prstGeom>
        </p:spPr>
      </p:pic>
      <p:sp>
        <p:nvSpPr>
          <p:cNvPr id="5" name="Text 1"/>
          <p:cNvSpPr/>
          <p:nvPr/>
        </p:nvSpPr>
        <p:spPr>
          <a:xfrm>
            <a:off x="640080" y="2194560"/>
            <a:ext cx="2743200" cy="1097280"/>
          </a:xfrm>
          <a:prstGeom prst="rect">
            <a:avLst/>
          </a:prstGeom>
          <a:noFill/>
          <a:ln/>
        </p:spPr>
        <p:txBody>
          <a:bodyPr wrap="square" lIns="0" tIns="0" rIns="0" bIns="0" rtlCol="0" anchor="ctr"/>
          <a:lstStyle/>
          <a:p>
            <a:pPr marL="0" indent="0">
              <a:buNone/>
            </a:pPr>
            <a:r>
              <a:rPr lang="en-US" sz="5800" b="1" dirty="0">
                <a:solidFill>
                  <a:srgbClr val="00B6DB"/>
                </a:solidFill>
                <a:latin typeface="Manrope" pitchFamily="34" charset="0"/>
                <a:ea typeface="Manrope" pitchFamily="34" charset="-122"/>
                <a:cs typeface="Manrope" pitchFamily="34" charset="-120"/>
              </a:rPr>
              <a:t>02</a:t>
            </a:r>
            <a:endParaRPr lang="en-US" sz="5800" dirty="0"/>
          </a:p>
        </p:txBody>
      </p:sp>
      <p:sp>
        <p:nvSpPr>
          <p:cNvPr id="6" name="Text 2"/>
          <p:cNvSpPr/>
          <p:nvPr/>
        </p:nvSpPr>
        <p:spPr>
          <a:xfrm>
            <a:off x="640080" y="3337560"/>
            <a:ext cx="8229600" cy="822960"/>
          </a:xfrm>
          <a:prstGeom prst="rect">
            <a:avLst/>
          </a:prstGeom>
          <a:noFill/>
          <a:ln/>
        </p:spPr>
        <p:txBody>
          <a:bodyPr wrap="square" lIns="0" tIns="0" rIns="0" bIns="0" rtlCol="0" anchor="ctr"/>
          <a:lstStyle/>
          <a:p>
            <a:pPr marL="0" indent="0">
              <a:buNone/>
            </a:pPr>
            <a:r>
              <a:rPr lang="en-US" sz="3800" b="1" dirty="0">
                <a:solidFill>
                  <a:srgbClr val="FFFFFF"/>
                </a:solidFill>
                <a:latin typeface="Manrope" pitchFamily="34" charset="0"/>
                <a:ea typeface="Manrope" pitchFamily="34" charset="-122"/>
                <a:cs typeface="Manrope" pitchFamily="34" charset="-120"/>
              </a:rPr>
              <a:t>About Aqualogic</a:t>
            </a:r>
            <a:endParaRPr lang="en-US" sz="3800" dirty="0"/>
          </a:p>
        </p:txBody>
      </p:sp>
      <p:sp>
        <p:nvSpPr>
          <p:cNvPr id="7" name="Text 3"/>
          <p:cNvSpPr/>
          <p:nvPr/>
        </p:nvSpPr>
        <p:spPr>
          <a:xfrm>
            <a:off x="640080" y="4315968"/>
            <a:ext cx="6583680" cy="822960"/>
          </a:xfrm>
          <a:prstGeom prst="rect">
            <a:avLst/>
          </a:prstGeom>
          <a:noFill/>
          <a:ln/>
        </p:spPr>
        <p:txBody>
          <a:bodyPr wrap="square" lIns="0" tIns="0" rIns="0" bIns="0" rtlCol="0" anchor="ctr"/>
          <a:lstStyle/>
          <a:p>
            <a:pPr marL="0" indent="0">
              <a:lnSpc>
                <a:spcPct val="116000"/>
              </a:lnSpc>
              <a:buNone/>
            </a:pPr>
            <a:r>
              <a:rPr lang="en-US" sz="1550" dirty="0">
                <a:solidFill>
                  <a:srgbClr val="6AC2D8"/>
                </a:solidFill>
                <a:latin typeface="Manrope" pitchFamily="34" charset="0"/>
                <a:ea typeface="Manrope" pitchFamily="34" charset="-122"/>
                <a:cs typeface="Manrope" pitchFamily="34" charset="-120"/>
              </a:rPr>
              <a:t>One joined-up company helping you manage water demand more intelligently.</a:t>
            </a:r>
            <a:endParaRPr lang="en-US" sz="1550" dirty="0"/>
          </a:p>
        </p:txBody>
      </p:sp>
      <p:pic>
        <p:nvPicPr>
          <p:cNvPr id="8" name="Image 2" descr="/home/claude/deck/img/mark.png"/>
          <p:cNvPicPr>
            <a:picLocks noChangeAspect="1"/>
          </p:cNvPicPr>
          <p:nvPr/>
        </p:nvPicPr>
        <p:blipFill>
          <a:blip r:embed="rId5"/>
          <a:stretch>
            <a:fillRect/>
          </a:stretch>
        </p:blipFill>
        <p:spPr>
          <a:xfrm>
            <a:off x="640080" y="6364224"/>
            <a:ext cx="274320" cy="274320"/>
          </a:xfrm>
          <a:prstGeom prst="rect">
            <a:avLst/>
          </a:prstGeom>
        </p:spPr>
      </p:pic>
      <p:sp>
        <p:nvSpPr>
          <p:cNvPr id="9" name="Text 4"/>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AC2D8"/>
                </a:solidFill>
                <a:latin typeface="Manrope" pitchFamily="34" charset="0"/>
                <a:ea typeface="Manrope" pitchFamily="34" charset="-122"/>
                <a:cs typeface="Manrope" pitchFamily="34" charset="-120"/>
              </a:rPr>
              <a:t>Aqualogic, a Sustec company</a:t>
            </a:r>
            <a:endParaRPr lang="en-US" sz="900" dirty="0"/>
          </a:p>
        </p:txBody>
      </p:sp>
      <p:sp>
        <p:nvSpPr>
          <p:cNvPr id="10" name="Text 5"/>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11" name="Text 6"/>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BCBFCC"/>
                </a:solidFill>
                <a:latin typeface="Manrope" pitchFamily="34" charset="0"/>
                <a:ea typeface="Manrope" pitchFamily="34" charset="-122"/>
                <a:cs typeface="Manrope"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F"/>
        </a:solidFill>
        <a:effectLst/>
      </p:bgPr>
    </p:bg>
    <p:spTree>
      <p:nvGrpSpPr>
        <p:cNvPr id="1" name=""/>
        <p:cNvGrpSpPr/>
        <p:nvPr/>
      </p:nvGrpSpPr>
      <p:grpSpPr>
        <a:xfrm>
          <a:off x="0" y="0"/>
          <a:ext cx="0" cy="0"/>
          <a:chOff x="0" y="0"/>
          <a:chExt cx="0" cy="0"/>
        </a:xfrm>
      </p:grpSpPr>
      <p:pic>
        <p:nvPicPr>
          <p:cNvPr id="2" name="Image 0" descr="/home/claude/deck/img/split_engineer.jpg"/>
          <p:cNvPicPr>
            <a:picLocks noChangeAspect="1"/>
          </p:cNvPicPr>
          <p:nvPr/>
        </p:nvPicPr>
        <p:blipFill>
          <a:blip r:embed="rId3"/>
          <a:srcRect/>
          <a:stretch/>
        </p:blipFill>
        <p:spPr>
          <a:xfrm>
            <a:off x="6903720" y="0"/>
            <a:ext cx="5287975" cy="6345936"/>
          </a:xfrm>
          <a:prstGeom prst="rect">
            <a:avLst/>
          </a:prstGeom>
        </p:spPr>
      </p:pic>
      <p:sp>
        <p:nvSpPr>
          <p:cNvPr id="3"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02  ·  ABOUT AQUALOGIC</a:t>
            </a:r>
            <a:endParaRPr lang="en-US" sz="1100" dirty="0"/>
          </a:p>
        </p:txBody>
      </p:sp>
      <p:sp>
        <p:nvSpPr>
          <p:cNvPr id="4" name="Text 1"/>
          <p:cNvSpPr/>
          <p:nvPr/>
        </p:nvSpPr>
        <p:spPr>
          <a:xfrm>
            <a:off x="640080" y="676656"/>
            <a:ext cx="5760720"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Intelligent water conservation</a:t>
            </a:r>
            <a:endParaRPr lang="en-US" sz="2800" dirty="0"/>
          </a:p>
        </p:txBody>
      </p:sp>
      <p:sp>
        <p:nvSpPr>
          <p:cNvPr id="5" name="Text 2"/>
          <p:cNvSpPr/>
          <p:nvPr/>
        </p:nvSpPr>
        <p:spPr>
          <a:xfrm>
            <a:off x="640080" y="1691640"/>
            <a:ext cx="5760720" cy="914400"/>
          </a:xfrm>
          <a:prstGeom prst="rect">
            <a:avLst/>
          </a:prstGeom>
          <a:noFill/>
          <a:ln/>
        </p:spPr>
        <p:txBody>
          <a:bodyPr wrap="square" lIns="0" tIns="0" rIns="0" bIns="0" rtlCol="0" anchor="ctr"/>
          <a:lstStyle/>
          <a:p>
            <a:pPr marL="0" indent="0">
              <a:lnSpc>
                <a:spcPct val="107000"/>
              </a:lnSpc>
              <a:buNone/>
            </a:pPr>
            <a:r>
              <a:rPr lang="en-US" sz="2000" b="1" dirty="0">
                <a:solidFill>
                  <a:srgbClr val="0C2C3A"/>
                </a:solidFill>
                <a:latin typeface="Manrope" pitchFamily="34" charset="0"/>
                <a:ea typeface="Manrope" pitchFamily="34" charset="-122"/>
                <a:cs typeface="Manrope" pitchFamily="34" charset="-120"/>
              </a:rPr>
              <a:t>Aqualogic is an integrated water conservation and demand management business.</a:t>
            </a:r>
            <a:endParaRPr lang="en-US" sz="2000" dirty="0"/>
          </a:p>
        </p:txBody>
      </p:sp>
      <p:sp>
        <p:nvSpPr>
          <p:cNvPr id="6" name="Text 3"/>
          <p:cNvSpPr/>
          <p:nvPr/>
        </p:nvSpPr>
        <p:spPr>
          <a:xfrm>
            <a:off x="640080" y="2743200"/>
            <a:ext cx="5760720" cy="1463040"/>
          </a:xfrm>
          <a:prstGeom prst="rect">
            <a:avLst/>
          </a:prstGeom>
          <a:noFill/>
          <a:ln/>
        </p:spPr>
        <p:txBody>
          <a:bodyPr wrap="square" lIns="0" tIns="0" rIns="0" bIns="0" rtlCol="0" anchor="ctr"/>
          <a:lstStyle/>
          <a:p>
            <a:pPr marL="0" indent="0">
              <a:lnSpc>
                <a:spcPct val="124000"/>
              </a:lnSpc>
              <a:buNone/>
            </a:pPr>
            <a:r>
              <a:rPr lang="en-US" sz="1400" dirty="0">
                <a:solidFill>
                  <a:srgbClr val="40424D"/>
                </a:solidFill>
                <a:latin typeface="Manrope" pitchFamily="34" charset="0"/>
                <a:ea typeface="Manrope" pitchFamily="34" charset="-122"/>
                <a:cs typeface="Manrope" pitchFamily="34" charset="-120"/>
              </a:rPr>
              <a:t>We help water companies reduce waste, improve performance and strengthen long-term resilience, combining network expertise, customer-side delivery, data and practical field capability from source to tap.</a:t>
            </a:r>
            <a:endParaRPr lang="en-US" sz="1400" dirty="0"/>
          </a:p>
        </p:txBody>
      </p:sp>
      <p:sp>
        <p:nvSpPr>
          <p:cNvPr id="7" name="Text 4"/>
          <p:cNvSpPr/>
          <p:nvPr/>
        </p:nvSpPr>
        <p:spPr>
          <a:xfrm>
            <a:off x="640080" y="4251960"/>
            <a:ext cx="5760720" cy="1097280"/>
          </a:xfrm>
          <a:prstGeom prst="rect">
            <a:avLst/>
          </a:prstGeom>
          <a:noFill/>
          <a:ln/>
        </p:spPr>
        <p:txBody>
          <a:bodyPr wrap="square" lIns="0" tIns="0" rIns="0" bIns="0" rtlCol="0" anchor="ctr"/>
          <a:lstStyle/>
          <a:p>
            <a:pPr marL="0" indent="0">
              <a:lnSpc>
                <a:spcPct val="124000"/>
              </a:lnSpc>
              <a:buNone/>
            </a:pPr>
            <a:r>
              <a:rPr lang="en-US" sz="1400" dirty="0">
                <a:solidFill>
                  <a:srgbClr val="40424D"/>
                </a:solidFill>
                <a:latin typeface="Manrope" pitchFamily="34" charset="0"/>
                <a:ea typeface="Manrope" pitchFamily="34" charset="-122"/>
                <a:cs typeface="Manrope" pitchFamily="34" charset="-120"/>
              </a:rPr>
              <a:t>We work as one joined-up partner, not a list of separate services. As a Sustec company, we have the platform to deliver at scale.</a:t>
            </a:r>
            <a:endParaRPr lang="en-US" sz="1400" dirty="0"/>
          </a:p>
        </p:txBody>
      </p:sp>
      <p:pic>
        <p:nvPicPr>
          <p:cNvPr id="8" name="Image 1" descr="/home/claude/deck/img/mark.png"/>
          <p:cNvPicPr>
            <a:picLocks noChangeAspect="1"/>
          </p:cNvPicPr>
          <p:nvPr/>
        </p:nvPicPr>
        <p:blipFill>
          <a:blip r:embed="rId4"/>
          <a:stretch>
            <a:fillRect/>
          </a:stretch>
        </p:blipFill>
        <p:spPr>
          <a:xfrm>
            <a:off x="640080" y="6364224"/>
            <a:ext cx="274320" cy="274320"/>
          </a:xfrm>
          <a:prstGeom prst="rect">
            <a:avLst/>
          </a:prstGeom>
        </p:spPr>
      </p:pic>
      <p:sp>
        <p:nvSpPr>
          <p:cNvPr id="9" name="Text 5"/>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10" name="Text 6"/>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11" name="Text 7"/>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02  ·  ABOUT AQUALOGIC</a:t>
            </a:r>
            <a:endParaRPr lang="en-US" sz="1100" dirty="0"/>
          </a:p>
        </p:txBody>
      </p:sp>
      <p:sp>
        <p:nvSpPr>
          <p:cNvPr id="3" name="Text 1"/>
          <p:cNvSpPr/>
          <p:nvPr/>
        </p:nvSpPr>
        <p:spPr>
          <a:xfrm>
            <a:off x="640080" y="676656"/>
            <a:ext cx="5760720"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Heritage and expertise</a:t>
            </a:r>
            <a:endParaRPr lang="en-US" sz="2800" dirty="0"/>
          </a:p>
        </p:txBody>
      </p:sp>
      <p:sp>
        <p:nvSpPr>
          <p:cNvPr id="4" name="Text 2"/>
          <p:cNvSpPr/>
          <p:nvPr/>
        </p:nvSpPr>
        <p:spPr>
          <a:xfrm>
            <a:off x="640080" y="1691640"/>
            <a:ext cx="5760720" cy="1371600"/>
          </a:xfrm>
          <a:prstGeom prst="rect">
            <a:avLst/>
          </a:prstGeom>
          <a:noFill/>
          <a:ln/>
        </p:spPr>
        <p:txBody>
          <a:bodyPr wrap="square" lIns="0" tIns="0" rIns="0" bIns="0" rtlCol="0" anchor="ctr"/>
          <a:lstStyle/>
          <a:p>
            <a:pPr marL="0" indent="0">
              <a:lnSpc>
                <a:spcPct val="126000"/>
              </a:lnSpc>
              <a:buNone/>
            </a:pPr>
            <a:r>
              <a:rPr lang="en-US" sz="1400" dirty="0">
                <a:solidFill>
                  <a:srgbClr val="40424D"/>
                </a:solidFill>
                <a:latin typeface="Manrope" pitchFamily="34" charset="0"/>
                <a:ea typeface="Manrope" pitchFamily="34" charset="-122"/>
                <a:cs typeface="Manrope" pitchFamily="34" charset="-120"/>
              </a:rPr>
              <a:t>Aqualogic began in 1979 as Flow Control Water Conservation and has traded as Aqualogic since 2004. Today we are part of the Sustec group, building on that foundation, not leaving it behind.</a:t>
            </a:r>
            <a:endParaRPr lang="en-US" sz="1400" dirty="0"/>
          </a:p>
        </p:txBody>
      </p:sp>
      <p:sp>
        <p:nvSpPr>
          <p:cNvPr id="5" name="Text 3"/>
          <p:cNvSpPr/>
          <p:nvPr/>
        </p:nvSpPr>
        <p:spPr>
          <a:xfrm>
            <a:off x="640080" y="3108960"/>
            <a:ext cx="5760720" cy="1097280"/>
          </a:xfrm>
          <a:prstGeom prst="rect">
            <a:avLst/>
          </a:prstGeom>
          <a:noFill/>
          <a:ln/>
        </p:spPr>
        <p:txBody>
          <a:bodyPr wrap="square" lIns="0" tIns="0" rIns="0" bIns="0" rtlCol="0" anchor="ctr"/>
          <a:lstStyle/>
          <a:p>
            <a:pPr marL="0" indent="0">
              <a:lnSpc>
                <a:spcPct val="126000"/>
              </a:lnSpc>
              <a:buNone/>
            </a:pPr>
            <a:r>
              <a:rPr lang="en-US" sz="1400" dirty="0">
                <a:solidFill>
                  <a:srgbClr val="40424D"/>
                </a:solidFill>
                <a:latin typeface="Manrope" pitchFamily="34" charset="0"/>
                <a:ea typeface="Manrope" pitchFamily="34" charset="-122"/>
                <a:cs typeface="Manrope" pitchFamily="34" charset="-120"/>
              </a:rPr>
              <a:t>Our capability has been built over decades. It is established, not superficial, with deep sector knowledge and a consistent record of delivery.</a:t>
            </a:r>
            <a:endParaRPr lang="en-US" sz="1400" dirty="0"/>
          </a:p>
        </p:txBody>
      </p:sp>
      <p:sp>
        <p:nvSpPr>
          <p:cNvPr id="6" name="Text 4"/>
          <p:cNvSpPr/>
          <p:nvPr/>
        </p:nvSpPr>
        <p:spPr>
          <a:xfrm>
            <a:off x="640080" y="4206240"/>
            <a:ext cx="5760720" cy="1280160"/>
          </a:xfrm>
          <a:prstGeom prst="rect">
            <a:avLst/>
          </a:prstGeom>
          <a:noFill/>
          <a:ln/>
        </p:spPr>
        <p:txBody>
          <a:bodyPr wrap="square" lIns="0" tIns="0" rIns="0" bIns="0" rtlCol="0" anchor="ctr"/>
          <a:lstStyle/>
          <a:p>
            <a:pPr marL="0" indent="0">
              <a:lnSpc>
                <a:spcPct val="126000"/>
              </a:lnSpc>
              <a:buNone/>
            </a:pPr>
            <a:r>
              <a:rPr lang="en-US" sz="1400" dirty="0">
                <a:solidFill>
                  <a:srgbClr val="40424D"/>
                </a:solidFill>
                <a:latin typeface="Manrope" pitchFamily="34" charset="0"/>
                <a:ea typeface="Manrope" pitchFamily="34" charset="-122"/>
                <a:cs typeface="Manrope" pitchFamily="34" charset="-120"/>
              </a:rPr>
              <a:t>Aqualogic is its people: a mixed team of apprentices, engineers, consultants, plumbers, auditors and technical specialists, working from two centres in South Wales and the Wirral.</a:t>
            </a:r>
            <a:endParaRPr lang="en-US" sz="1400" dirty="0"/>
          </a:p>
        </p:txBody>
      </p:sp>
      <p:sp>
        <p:nvSpPr>
          <p:cNvPr id="7" name="Text 5"/>
          <p:cNvSpPr/>
          <p:nvPr/>
        </p:nvSpPr>
        <p:spPr>
          <a:xfrm>
            <a:off x="8001000" y="1591056"/>
            <a:ext cx="3520440" cy="274320"/>
          </a:xfrm>
          <a:prstGeom prst="rect">
            <a:avLst/>
          </a:prstGeom>
          <a:noFill/>
          <a:ln/>
        </p:spPr>
        <p:txBody>
          <a:bodyPr wrap="square" lIns="0" tIns="0" rIns="0" bIns="0" rtlCol="0" anchor="ctr"/>
          <a:lstStyle/>
          <a:p>
            <a:pPr marL="0" indent="0">
              <a:buNone/>
            </a:pPr>
            <a:r>
              <a:rPr lang="en-US" sz="1100" b="1" kern="0" spc="200" dirty="0">
                <a:solidFill>
                  <a:srgbClr val="6E7180"/>
                </a:solidFill>
                <a:latin typeface="Manrope" pitchFamily="34" charset="0"/>
                <a:ea typeface="Manrope" pitchFamily="34" charset="-122"/>
                <a:cs typeface="Manrope" pitchFamily="34" charset="-120"/>
              </a:rPr>
              <a:t>MILESTONES</a:t>
            </a:r>
            <a:endParaRPr lang="en-US" sz="1100" dirty="0"/>
          </a:p>
        </p:txBody>
      </p:sp>
      <p:sp>
        <p:nvSpPr>
          <p:cNvPr id="8" name="Shape 6"/>
          <p:cNvSpPr/>
          <p:nvPr/>
        </p:nvSpPr>
        <p:spPr>
          <a:xfrm>
            <a:off x="7543800" y="2194560"/>
            <a:ext cx="0" cy="2523744"/>
          </a:xfrm>
          <a:prstGeom prst="line">
            <a:avLst/>
          </a:prstGeom>
          <a:noFill/>
          <a:ln w="19050">
            <a:solidFill>
              <a:srgbClr val="D3D6E0"/>
            </a:solidFill>
            <a:prstDash val="solid"/>
          </a:ln>
        </p:spPr>
        <p:txBody>
          <a:bodyPr/>
          <a:lstStyle/>
          <a:p>
            <a:endParaRPr lang="en-US"/>
          </a:p>
        </p:txBody>
      </p:sp>
      <p:sp>
        <p:nvSpPr>
          <p:cNvPr id="9" name="Shape 7"/>
          <p:cNvSpPr/>
          <p:nvPr/>
        </p:nvSpPr>
        <p:spPr>
          <a:xfrm>
            <a:off x="7452360" y="2103120"/>
            <a:ext cx="182880" cy="182880"/>
          </a:xfrm>
          <a:prstGeom prst="ellipse">
            <a:avLst/>
          </a:prstGeom>
          <a:solidFill>
            <a:srgbClr val="00B6DB"/>
          </a:solidFill>
          <a:ln/>
        </p:spPr>
        <p:txBody>
          <a:bodyPr/>
          <a:lstStyle/>
          <a:p>
            <a:endParaRPr lang="en-US"/>
          </a:p>
        </p:txBody>
      </p:sp>
      <p:sp>
        <p:nvSpPr>
          <p:cNvPr id="10" name="Text 8"/>
          <p:cNvSpPr/>
          <p:nvPr/>
        </p:nvSpPr>
        <p:spPr>
          <a:xfrm>
            <a:off x="8001000" y="1892808"/>
            <a:ext cx="3520440" cy="347472"/>
          </a:xfrm>
          <a:prstGeom prst="rect">
            <a:avLst/>
          </a:prstGeom>
          <a:noFill/>
          <a:ln/>
        </p:spPr>
        <p:txBody>
          <a:bodyPr wrap="square" lIns="0" tIns="0" rIns="0" bIns="0" rtlCol="0" anchor="ctr"/>
          <a:lstStyle/>
          <a:p>
            <a:pPr marL="0" indent="0">
              <a:buNone/>
            </a:pPr>
            <a:r>
              <a:rPr lang="en-US" sz="2100" b="1" dirty="0">
                <a:solidFill>
                  <a:srgbClr val="00B6DB"/>
                </a:solidFill>
                <a:latin typeface="Manrope" pitchFamily="34" charset="0"/>
                <a:ea typeface="Manrope" pitchFamily="34" charset="-122"/>
                <a:cs typeface="Manrope" pitchFamily="34" charset="-120"/>
              </a:rPr>
              <a:t>1979</a:t>
            </a:r>
            <a:endParaRPr lang="en-US" sz="2100" dirty="0"/>
          </a:p>
        </p:txBody>
      </p:sp>
      <p:sp>
        <p:nvSpPr>
          <p:cNvPr id="11" name="Text 9"/>
          <p:cNvSpPr/>
          <p:nvPr/>
        </p:nvSpPr>
        <p:spPr>
          <a:xfrm>
            <a:off x="8001000" y="2258568"/>
            <a:ext cx="3520440" cy="548640"/>
          </a:xfrm>
          <a:prstGeom prst="rect">
            <a:avLst/>
          </a:prstGeom>
          <a:noFill/>
          <a:ln/>
        </p:spPr>
        <p:txBody>
          <a:bodyPr wrap="square" lIns="0" tIns="0" rIns="0" bIns="0" rtlCol="0" anchor="ctr"/>
          <a:lstStyle/>
          <a:p>
            <a:pPr marL="0" indent="0">
              <a:lnSpc>
                <a:spcPct val="115000"/>
              </a:lnSpc>
              <a:buNone/>
            </a:pPr>
            <a:r>
              <a:rPr lang="en-US" sz="1300" dirty="0">
                <a:solidFill>
                  <a:srgbClr val="0C2C3A"/>
                </a:solidFill>
                <a:latin typeface="Manrope" pitchFamily="34" charset="0"/>
                <a:ea typeface="Manrope" pitchFamily="34" charset="-122"/>
                <a:cs typeface="Manrope" pitchFamily="34" charset="-120"/>
              </a:rPr>
              <a:t>Founded as Flow Control Water Conservation</a:t>
            </a:r>
            <a:endParaRPr lang="en-US" sz="1300" dirty="0"/>
          </a:p>
        </p:txBody>
      </p:sp>
      <p:sp>
        <p:nvSpPr>
          <p:cNvPr id="12" name="Shape 10"/>
          <p:cNvSpPr/>
          <p:nvPr/>
        </p:nvSpPr>
        <p:spPr>
          <a:xfrm>
            <a:off x="7452360" y="3364992"/>
            <a:ext cx="182880" cy="182880"/>
          </a:xfrm>
          <a:prstGeom prst="ellipse">
            <a:avLst/>
          </a:prstGeom>
          <a:solidFill>
            <a:srgbClr val="00B6DB"/>
          </a:solidFill>
          <a:ln/>
        </p:spPr>
        <p:txBody>
          <a:bodyPr/>
          <a:lstStyle/>
          <a:p>
            <a:endParaRPr lang="en-US"/>
          </a:p>
        </p:txBody>
      </p:sp>
      <p:sp>
        <p:nvSpPr>
          <p:cNvPr id="13" name="Text 11"/>
          <p:cNvSpPr/>
          <p:nvPr/>
        </p:nvSpPr>
        <p:spPr>
          <a:xfrm>
            <a:off x="8001000" y="3154680"/>
            <a:ext cx="3520440" cy="347472"/>
          </a:xfrm>
          <a:prstGeom prst="rect">
            <a:avLst/>
          </a:prstGeom>
          <a:noFill/>
          <a:ln/>
        </p:spPr>
        <p:txBody>
          <a:bodyPr wrap="square" lIns="0" tIns="0" rIns="0" bIns="0" rtlCol="0" anchor="ctr"/>
          <a:lstStyle/>
          <a:p>
            <a:pPr marL="0" indent="0">
              <a:buNone/>
            </a:pPr>
            <a:r>
              <a:rPr lang="en-US" sz="2100" b="1" dirty="0">
                <a:solidFill>
                  <a:srgbClr val="00B6DB"/>
                </a:solidFill>
                <a:latin typeface="Manrope" pitchFamily="34" charset="0"/>
                <a:ea typeface="Manrope" pitchFamily="34" charset="-122"/>
                <a:cs typeface="Manrope" pitchFamily="34" charset="-120"/>
              </a:rPr>
              <a:t>2004</a:t>
            </a:r>
            <a:endParaRPr lang="en-US" sz="2100" dirty="0"/>
          </a:p>
        </p:txBody>
      </p:sp>
      <p:sp>
        <p:nvSpPr>
          <p:cNvPr id="14" name="Text 12"/>
          <p:cNvSpPr/>
          <p:nvPr/>
        </p:nvSpPr>
        <p:spPr>
          <a:xfrm>
            <a:off x="8001000" y="3520440"/>
            <a:ext cx="3520440" cy="548640"/>
          </a:xfrm>
          <a:prstGeom prst="rect">
            <a:avLst/>
          </a:prstGeom>
          <a:noFill/>
          <a:ln/>
        </p:spPr>
        <p:txBody>
          <a:bodyPr wrap="square" lIns="0" tIns="0" rIns="0" bIns="0" rtlCol="0" anchor="ctr"/>
          <a:lstStyle/>
          <a:p>
            <a:pPr marL="0" indent="0">
              <a:lnSpc>
                <a:spcPct val="115000"/>
              </a:lnSpc>
              <a:buNone/>
            </a:pPr>
            <a:r>
              <a:rPr lang="en-US" sz="1300" dirty="0">
                <a:solidFill>
                  <a:srgbClr val="0C2C3A"/>
                </a:solidFill>
                <a:latin typeface="Manrope" pitchFamily="34" charset="0"/>
                <a:ea typeface="Manrope" pitchFamily="34" charset="-122"/>
                <a:cs typeface="Manrope" pitchFamily="34" charset="-120"/>
              </a:rPr>
              <a:t>Became Aqualogic</a:t>
            </a:r>
            <a:endParaRPr lang="en-US" sz="1300" dirty="0"/>
          </a:p>
        </p:txBody>
      </p:sp>
      <p:sp>
        <p:nvSpPr>
          <p:cNvPr id="15" name="Shape 13"/>
          <p:cNvSpPr/>
          <p:nvPr/>
        </p:nvSpPr>
        <p:spPr>
          <a:xfrm>
            <a:off x="7452360" y="4626864"/>
            <a:ext cx="182880" cy="182880"/>
          </a:xfrm>
          <a:prstGeom prst="ellipse">
            <a:avLst/>
          </a:prstGeom>
          <a:solidFill>
            <a:srgbClr val="00B6DB"/>
          </a:solidFill>
          <a:ln/>
        </p:spPr>
        <p:txBody>
          <a:bodyPr/>
          <a:lstStyle/>
          <a:p>
            <a:endParaRPr lang="en-US"/>
          </a:p>
        </p:txBody>
      </p:sp>
      <p:sp>
        <p:nvSpPr>
          <p:cNvPr id="16" name="Text 14"/>
          <p:cNvSpPr/>
          <p:nvPr/>
        </p:nvSpPr>
        <p:spPr>
          <a:xfrm>
            <a:off x="8001000" y="4416552"/>
            <a:ext cx="3520440" cy="347472"/>
          </a:xfrm>
          <a:prstGeom prst="rect">
            <a:avLst/>
          </a:prstGeom>
          <a:noFill/>
          <a:ln/>
        </p:spPr>
        <p:txBody>
          <a:bodyPr wrap="square" lIns="0" tIns="0" rIns="0" bIns="0" rtlCol="0" anchor="ctr"/>
          <a:lstStyle/>
          <a:p>
            <a:pPr marL="0" indent="0">
              <a:buNone/>
            </a:pPr>
            <a:r>
              <a:rPr lang="en-US" sz="2100" b="1" dirty="0">
                <a:solidFill>
                  <a:srgbClr val="00B6DB"/>
                </a:solidFill>
                <a:latin typeface="Manrope" pitchFamily="34" charset="0"/>
                <a:ea typeface="Manrope" pitchFamily="34" charset="-122"/>
                <a:cs typeface="Manrope" pitchFamily="34" charset="-120"/>
              </a:rPr>
              <a:t>Today</a:t>
            </a:r>
            <a:endParaRPr lang="en-US" sz="2100" dirty="0"/>
          </a:p>
        </p:txBody>
      </p:sp>
      <p:sp>
        <p:nvSpPr>
          <p:cNvPr id="17" name="Text 15"/>
          <p:cNvSpPr/>
          <p:nvPr/>
        </p:nvSpPr>
        <p:spPr>
          <a:xfrm>
            <a:off x="8001000" y="4782312"/>
            <a:ext cx="3520440" cy="548640"/>
          </a:xfrm>
          <a:prstGeom prst="rect">
            <a:avLst/>
          </a:prstGeom>
          <a:noFill/>
          <a:ln/>
        </p:spPr>
        <p:txBody>
          <a:bodyPr wrap="square" lIns="0" tIns="0" rIns="0" bIns="0" rtlCol="0" anchor="ctr"/>
          <a:lstStyle/>
          <a:p>
            <a:pPr marL="0" indent="0">
              <a:lnSpc>
                <a:spcPct val="115000"/>
              </a:lnSpc>
              <a:buNone/>
            </a:pPr>
            <a:r>
              <a:rPr lang="en-US" sz="1300" dirty="0">
                <a:solidFill>
                  <a:srgbClr val="0C2C3A"/>
                </a:solidFill>
                <a:latin typeface="Manrope" pitchFamily="34" charset="0"/>
                <a:ea typeface="Manrope" pitchFamily="34" charset="-122"/>
                <a:cs typeface="Manrope" pitchFamily="34" charset="-120"/>
              </a:rPr>
              <a:t>Part of the Sustec group</a:t>
            </a:r>
            <a:endParaRPr lang="en-US" sz="1300" dirty="0"/>
          </a:p>
        </p:txBody>
      </p:sp>
      <p:pic>
        <p:nvPicPr>
          <p:cNvPr id="18" name="Image 0" descr="/home/claude/deck/img/mark.png"/>
          <p:cNvPicPr>
            <a:picLocks noChangeAspect="1"/>
          </p:cNvPicPr>
          <p:nvPr/>
        </p:nvPicPr>
        <p:blipFill>
          <a:blip r:embed="rId3"/>
          <a:stretch>
            <a:fillRect/>
          </a:stretch>
        </p:blipFill>
        <p:spPr>
          <a:xfrm>
            <a:off x="640080" y="6364224"/>
            <a:ext cx="274320" cy="274320"/>
          </a:xfrm>
          <a:prstGeom prst="rect">
            <a:avLst/>
          </a:prstGeom>
        </p:spPr>
      </p:pic>
      <p:sp>
        <p:nvSpPr>
          <p:cNvPr id="19" name="Text 16"/>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20" name="Text 17"/>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21" name="Text 18"/>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02  ·  ABOUT AQUALOGIC</a:t>
            </a:r>
            <a:endParaRPr lang="en-US" sz="1100" dirty="0"/>
          </a:p>
        </p:txBody>
      </p:sp>
      <p:sp>
        <p:nvSpPr>
          <p:cNvPr id="3" name="Text 1"/>
          <p:cNvSpPr/>
          <p:nvPr/>
        </p:nvSpPr>
        <p:spPr>
          <a:xfrm>
            <a:off x="640080" y="676656"/>
            <a:ext cx="10911535"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Why Aqualogic</a:t>
            </a:r>
            <a:endParaRPr lang="en-US" sz="2800" dirty="0"/>
          </a:p>
        </p:txBody>
      </p:sp>
      <p:sp>
        <p:nvSpPr>
          <p:cNvPr id="4" name="Text 2"/>
          <p:cNvSpPr/>
          <p:nvPr/>
        </p:nvSpPr>
        <p:spPr>
          <a:xfrm>
            <a:off x="640080" y="1691640"/>
            <a:ext cx="868680" cy="822960"/>
          </a:xfrm>
          <a:prstGeom prst="rect">
            <a:avLst/>
          </a:prstGeom>
          <a:noFill/>
          <a:ln/>
        </p:spPr>
        <p:txBody>
          <a:bodyPr wrap="square" lIns="0" tIns="0" rIns="0" bIns="0" rtlCol="0" anchor="t"/>
          <a:lstStyle/>
          <a:p>
            <a:pPr marL="0" indent="0">
              <a:buNone/>
            </a:pPr>
            <a:r>
              <a:rPr lang="en-US" sz="3000" b="1" dirty="0">
                <a:solidFill>
                  <a:srgbClr val="00B6DB"/>
                </a:solidFill>
                <a:latin typeface="Manrope" pitchFamily="34" charset="0"/>
                <a:ea typeface="Manrope" pitchFamily="34" charset="-122"/>
                <a:cs typeface="Manrope" pitchFamily="34" charset="-120"/>
              </a:rPr>
              <a:t>01</a:t>
            </a:r>
            <a:endParaRPr lang="en-US" sz="3000" dirty="0"/>
          </a:p>
        </p:txBody>
      </p:sp>
      <p:sp>
        <p:nvSpPr>
          <p:cNvPr id="5" name="Text 3"/>
          <p:cNvSpPr/>
          <p:nvPr/>
        </p:nvSpPr>
        <p:spPr>
          <a:xfrm>
            <a:off x="1554480" y="1709928"/>
            <a:ext cx="4160520" cy="868680"/>
          </a:xfrm>
          <a:prstGeom prst="rect">
            <a:avLst/>
          </a:prstGeom>
          <a:noFill/>
          <a:ln/>
        </p:spPr>
        <p:txBody>
          <a:bodyPr wrap="square" lIns="0" tIns="0" rIns="0" bIns="0" rtlCol="0" anchor="t"/>
          <a:lstStyle/>
          <a:p>
            <a:pPr marL="0" indent="0">
              <a:lnSpc>
                <a:spcPct val="104000"/>
              </a:lnSpc>
              <a:buNone/>
            </a:pPr>
            <a:r>
              <a:rPr lang="en-US" sz="1550" b="1" dirty="0">
                <a:solidFill>
                  <a:srgbClr val="0C2C3A"/>
                </a:solidFill>
                <a:latin typeface="Manrope" pitchFamily="34" charset="0"/>
                <a:ea typeface="Manrope" pitchFamily="34" charset="-122"/>
                <a:cs typeface="Manrope" pitchFamily="34" charset="-120"/>
              </a:rPr>
              <a:t>Integrated water conservation</a:t>
            </a:r>
            <a:endParaRPr lang="en-US" sz="1550" dirty="0"/>
          </a:p>
        </p:txBody>
      </p:sp>
      <p:sp>
        <p:nvSpPr>
          <p:cNvPr id="6" name="Text 4"/>
          <p:cNvSpPr/>
          <p:nvPr/>
        </p:nvSpPr>
        <p:spPr>
          <a:xfrm>
            <a:off x="5897880" y="1709928"/>
            <a:ext cx="5623560" cy="868680"/>
          </a:xfrm>
          <a:prstGeom prst="rect">
            <a:avLst/>
          </a:prstGeom>
          <a:noFill/>
          <a:ln/>
        </p:spPr>
        <p:txBody>
          <a:bodyPr wrap="square" lIns="0" tIns="0" rIns="0" bIns="0" rtlCol="0" anchor="t"/>
          <a:lstStyle/>
          <a:p>
            <a:pPr marL="0" indent="0">
              <a:lnSpc>
                <a:spcPct val="116000"/>
              </a:lnSpc>
              <a:buNone/>
            </a:pPr>
            <a:r>
              <a:rPr lang="en-US" sz="1250" dirty="0">
                <a:solidFill>
                  <a:srgbClr val="6E7180"/>
                </a:solidFill>
                <a:latin typeface="Manrope" pitchFamily="34" charset="0"/>
                <a:ea typeface="Manrope" pitchFamily="34" charset="-122"/>
                <a:cs typeface="Manrope" pitchFamily="34" charset="-120"/>
              </a:rPr>
              <a:t>One joined-up company managing water demand intelligently, from source to tap, rather than a series of disconnected services.</a:t>
            </a:r>
            <a:endParaRPr lang="en-US" sz="1250" dirty="0"/>
          </a:p>
        </p:txBody>
      </p:sp>
      <p:sp>
        <p:nvSpPr>
          <p:cNvPr id="7" name="Shape 5"/>
          <p:cNvSpPr/>
          <p:nvPr/>
        </p:nvSpPr>
        <p:spPr>
          <a:xfrm>
            <a:off x="640080" y="2660904"/>
            <a:ext cx="10911535" cy="10973"/>
          </a:xfrm>
          <a:prstGeom prst="rect">
            <a:avLst/>
          </a:prstGeom>
          <a:solidFill>
            <a:srgbClr val="EDEFF7"/>
          </a:solidFill>
          <a:ln/>
        </p:spPr>
        <p:txBody>
          <a:bodyPr/>
          <a:lstStyle/>
          <a:p>
            <a:endParaRPr lang="en-US"/>
          </a:p>
        </p:txBody>
      </p:sp>
      <p:sp>
        <p:nvSpPr>
          <p:cNvPr id="8" name="Text 6"/>
          <p:cNvSpPr/>
          <p:nvPr/>
        </p:nvSpPr>
        <p:spPr>
          <a:xfrm>
            <a:off x="640080" y="2770632"/>
            <a:ext cx="868680" cy="822960"/>
          </a:xfrm>
          <a:prstGeom prst="rect">
            <a:avLst/>
          </a:prstGeom>
          <a:noFill/>
          <a:ln/>
        </p:spPr>
        <p:txBody>
          <a:bodyPr wrap="square" lIns="0" tIns="0" rIns="0" bIns="0" rtlCol="0" anchor="t"/>
          <a:lstStyle/>
          <a:p>
            <a:pPr marL="0" indent="0">
              <a:buNone/>
            </a:pPr>
            <a:r>
              <a:rPr lang="en-US" sz="3000" b="1" dirty="0">
                <a:solidFill>
                  <a:srgbClr val="00B6DB"/>
                </a:solidFill>
                <a:latin typeface="Manrope" pitchFamily="34" charset="0"/>
                <a:ea typeface="Manrope" pitchFamily="34" charset="-122"/>
                <a:cs typeface="Manrope" pitchFamily="34" charset="-120"/>
              </a:rPr>
              <a:t>02</a:t>
            </a:r>
            <a:endParaRPr lang="en-US" sz="3000" dirty="0"/>
          </a:p>
        </p:txBody>
      </p:sp>
      <p:sp>
        <p:nvSpPr>
          <p:cNvPr id="9" name="Text 7"/>
          <p:cNvSpPr/>
          <p:nvPr/>
        </p:nvSpPr>
        <p:spPr>
          <a:xfrm>
            <a:off x="1554480" y="2788920"/>
            <a:ext cx="4160520" cy="868680"/>
          </a:xfrm>
          <a:prstGeom prst="rect">
            <a:avLst/>
          </a:prstGeom>
          <a:noFill/>
          <a:ln/>
        </p:spPr>
        <p:txBody>
          <a:bodyPr wrap="square" lIns="0" tIns="0" rIns="0" bIns="0" rtlCol="0" anchor="t"/>
          <a:lstStyle/>
          <a:p>
            <a:pPr marL="0" indent="0">
              <a:lnSpc>
                <a:spcPct val="104000"/>
              </a:lnSpc>
              <a:buNone/>
            </a:pPr>
            <a:r>
              <a:rPr lang="en-US" sz="1550" b="1" dirty="0">
                <a:solidFill>
                  <a:srgbClr val="0C2C3A"/>
                </a:solidFill>
                <a:latin typeface="Manrope" pitchFamily="34" charset="0"/>
                <a:ea typeface="Manrope" pitchFamily="34" charset="-122"/>
                <a:cs typeface="Manrope" pitchFamily="34" charset="-120"/>
              </a:rPr>
              <a:t>Practical delivery that makes a measurable difference</a:t>
            </a:r>
            <a:endParaRPr lang="en-US" sz="1550" dirty="0"/>
          </a:p>
        </p:txBody>
      </p:sp>
      <p:sp>
        <p:nvSpPr>
          <p:cNvPr id="10" name="Text 8"/>
          <p:cNvSpPr/>
          <p:nvPr/>
        </p:nvSpPr>
        <p:spPr>
          <a:xfrm>
            <a:off x="5897880" y="2788920"/>
            <a:ext cx="5623560" cy="868680"/>
          </a:xfrm>
          <a:prstGeom prst="rect">
            <a:avLst/>
          </a:prstGeom>
          <a:noFill/>
          <a:ln/>
        </p:spPr>
        <p:txBody>
          <a:bodyPr wrap="square" lIns="0" tIns="0" rIns="0" bIns="0" rtlCol="0" anchor="t"/>
          <a:lstStyle/>
          <a:p>
            <a:pPr marL="0" indent="0">
              <a:lnSpc>
                <a:spcPct val="116000"/>
              </a:lnSpc>
              <a:buNone/>
            </a:pPr>
            <a:r>
              <a:rPr lang="en-US" sz="1250" dirty="0">
                <a:solidFill>
                  <a:srgbClr val="6E7180"/>
                </a:solidFill>
                <a:latin typeface="Manrope" pitchFamily="34" charset="0"/>
                <a:ea typeface="Manrope" pitchFamily="34" charset="-122"/>
                <a:cs typeface="Manrope" pitchFamily="34" charset="-120"/>
              </a:rPr>
              <a:t>Rooted in doing, not theorising. We reduce waste, improve performance and solve operational problems through real-world delivery.</a:t>
            </a:r>
            <a:endParaRPr lang="en-US" sz="1250" dirty="0"/>
          </a:p>
        </p:txBody>
      </p:sp>
      <p:sp>
        <p:nvSpPr>
          <p:cNvPr id="11" name="Shape 9"/>
          <p:cNvSpPr/>
          <p:nvPr/>
        </p:nvSpPr>
        <p:spPr>
          <a:xfrm>
            <a:off x="640080" y="3739896"/>
            <a:ext cx="10911535" cy="10973"/>
          </a:xfrm>
          <a:prstGeom prst="rect">
            <a:avLst/>
          </a:prstGeom>
          <a:solidFill>
            <a:srgbClr val="EDEFF7"/>
          </a:solidFill>
          <a:ln/>
        </p:spPr>
        <p:txBody>
          <a:bodyPr/>
          <a:lstStyle/>
          <a:p>
            <a:endParaRPr lang="en-US"/>
          </a:p>
        </p:txBody>
      </p:sp>
      <p:sp>
        <p:nvSpPr>
          <p:cNvPr id="12" name="Text 10"/>
          <p:cNvSpPr/>
          <p:nvPr/>
        </p:nvSpPr>
        <p:spPr>
          <a:xfrm>
            <a:off x="640080" y="3849624"/>
            <a:ext cx="868680" cy="822960"/>
          </a:xfrm>
          <a:prstGeom prst="rect">
            <a:avLst/>
          </a:prstGeom>
          <a:noFill/>
          <a:ln/>
        </p:spPr>
        <p:txBody>
          <a:bodyPr wrap="square" lIns="0" tIns="0" rIns="0" bIns="0" rtlCol="0" anchor="t"/>
          <a:lstStyle/>
          <a:p>
            <a:pPr marL="0" indent="0">
              <a:buNone/>
            </a:pPr>
            <a:r>
              <a:rPr lang="en-US" sz="3000" b="1" dirty="0">
                <a:solidFill>
                  <a:srgbClr val="00B6DB"/>
                </a:solidFill>
                <a:latin typeface="Manrope" pitchFamily="34" charset="0"/>
                <a:ea typeface="Manrope" pitchFamily="34" charset="-122"/>
                <a:cs typeface="Manrope" pitchFamily="34" charset="-120"/>
              </a:rPr>
              <a:t>03</a:t>
            </a:r>
            <a:endParaRPr lang="en-US" sz="3000" dirty="0"/>
          </a:p>
        </p:txBody>
      </p:sp>
      <p:sp>
        <p:nvSpPr>
          <p:cNvPr id="13" name="Text 11"/>
          <p:cNvSpPr/>
          <p:nvPr/>
        </p:nvSpPr>
        <p:spPr>
          <a:xfrm>
            <a:off x="1554480" y="3867912"/>
            <a:ext cx="4160520" cy="868680"/>
          </a:xfrm>
          <a:prstGeom prst="rect">
            <a:avLst/>
          </a:prstGeom>
          <a:noFill/>
          <a:ln/>
        </p:spPr>
        <p:txBody>
          <a:bodyPr wrap="square" lIns="0" tIns="0" rIns="0" bIns="0" rtlCol="0" anchor="t"/>
          <a:lstStyle/>
          <a:p>
            <a:pPr marL="0" indent="0">
              <a:lnSpc>
                <a:spcPct val="104000"/>
              </a:lnSpc>
              <a:buNone/>
            </a:pPr>
            <a:r>
              <a:rPr lang="en-US" sz="1550" b="1" dirty="0">
                <a:solidFill>
                  <a:srgbClr val="0C2C3A"/>
                </a:solidFill>
                <a:latin typeface="Manrope" pitchFamily="34" charset="0"/>
                <a:ea typeface="Manrope" pitchFamily="34" charset="-122"/>
                <a:cs typeface="Manrope" pitchFamily="34" charset="-120"/>
              </a:rPr>
              <a:t>Trusted expertise with real depth</a:t>
            </a:r>
            <a:endParaRPr lang="en-US" sz="1550" dirty="0"/>
          </a:p>
        </p:txBody>
      </p:sp>
      <p:sp>
        <p:nvSpPr>
          <p:cNvPr id="14" name="Text 12"/>
          <p:cNvSpPr/>
          <p:nvPr/>
        </p:nvSpPr>
        <p:spPr>
          <a:xfrm>
            <a:off x="5897880" y="3867912"/>
            <a:ext cx="5623560" cy="868680"/>
          </a:xfrm>
          <a:prstGeom prst="rect">
            <a:avLst/>
          </a:prstGeom>
          <a:noFill/>
          <a:ln/>
        </p:spPr>
        <p:txBody>
          <a:bodyPr wrap="square" lIns="0" tIns="0" rIns="0" bIns="0" rtlCol="0" anchor="t"/>
          <a:lstStyle/>
          <a:p>
            <a:pPr marL="0" indent="0">
              <a:lnSpc>
                <a:spcPct val="116000"/>
              </a:lnSpc>
              <a:buNone/>
            </a:pPr>
            <a:r>
              <a:rPr lang="en-US" sz="1250" dirty="0">
                <a:solidFill>
                  <a:srgbClr val="6E7180"/>
                </a:solidFill>
                <a:latin typeface="Manrope" pitchFamily="34" charset="0"/>
                <a:ea typeface="Manrope" pitchFamily="34" charset="-122"/>
                <a:cs typeface="Manrope" pitchFamily="34" charset="-120"/>
              </a:rPr>
              <a:t>Capability built over decades. Established, not superficial, with deep sector knowledge and consistent delivery.</a:t>
            </a:r>
            <a:endParaRPr lang="en-US" sz="1250" dirty="0"/>
          </a:p>
        </p:txBody>
      </p:sp>
      <p:sp>
        <p:nvSpPr>
          <p:cNvPr id="15" name="Shape 13"/>
          <p:cNvSpPr/>
          <p:nvPr/>
        </p:nvSpPr>
        <p:spPr>
          <a:xfrm>
            <a:off x="640080" y="4818888"/>
            <a:ext cx="10911535" cy="10973"/>
          </a:xfrm>
          <a:prstGeom prst="rect">
            <a:avLst/>
          </a:prstGeom>
          <a:solidFill>
            <a:srgbClr val="EDEFF7"/>
          </a:solidFill>
          <a:ln/>
        </p:spPr>
        <p:txBody>
          <a:bodyPr/>
          <a:lstStyle/>
          <a:p>
            <a:endParaRPr lang="en-US"/>
          </a:p>
        </p:txBody>
      </p:sp>
      <p:sp>
        <p:nvSpPr>
          <p:cNvPr id="16" name="Text 14"/>
          <p:cNvSpPr/>
          <p:nvPr/>
        </p:nvSpPr>
        <p:spPr>
          <a:xfrm>
            <a:off x="640080" y="4928616"/>
            <a:ext cx="868680" cy="822960"/>
          </a:xfrm>
          <a:prstGeom prst="rect">
            <a:avLst/>
          </a:prstGeom>
          <a:noFill/>
          <a:ln/>
        </p:spPr>
        <p:txBody>
          <a:bodyPr wrap="square" lIns="0" tIns="0" rIns="0" bIns="0" rtlCol="0" anchor="t"/>
          <a:lstStyle/>
          <a:p>
            <a:pPr marL="0" indent="0">
              <a:buNone/>
            </a:pPr>
            <a:r>
              <a:rPr lang="en-US" sz="3000" b="1" dirty="0">
                <a:solidFill>
                  <a:srgbClr val="00B6DB"/>
                </a:solidFill>
                <a:latin typeface="Manrope" pitchFamily="34" charset="0"/>
                <a:ea typeface="Manrope" pitchFamily="34" charset="-122"/>
                <a:cs typeface="Manrope" pitchFamily="34" charset="-120"/>
              </a:rPr>
              <a:t>04</a:t>
            </a:r>
            <a:endParaRPr lang="en-US" sz="3000" dirty="0"/>
          </a:p>
        </p:txBody>
      </p:sp>
      <p:sp>
        <p:nvSpPr>
          <p:cNvPr id="17" name="Text 15"/>
          <p:cNvSpPr/>
          <p:nvPr/>
        </p:nvSpPr>
        <p:spPr>
          <a:xfrm>
            <a:off x="1554480" y="4946904"/>
            <a:ext cx="4160520" cy="868680"/>
          </a:xfrm>
          <a:prstGeom prst="rect">
            <a:avLst/>
          </a:prstGeom>
          <a:noFill/>
          <a:ln/>
        </p:spPr>
        <p:txBody>
          <a:bodyPr wrap="square" lIns="0" tIns="0" rIns="0" bIns="0" rtlCol="0" anchor="t"/>
          <a:lstStyle/>
          <a:p>
            <a:pPr marL="0" indent="0">
              <a:lnSpc>
                <a:spcPct val="104000"/>
              </a:lnSpc>
              <a:buNone/>
            </a:pPr>
            <a:r>
              <a:rPr lang="en-US" sz="1550" b="1" dirty="0">
                <a:solidFill>
                  <a:srgbClr val="0C2C3A"/>
                </a:solidFill>
                <a:latin typeface="Manrope" pitchFamily="34" charset="0"/>
                <a:ea typeface="Manrope" pitchFamily="34" charset="-122"/>
                <a:cs typeface="Manrope" pitchFamily="34" charset="-120"/>
              </a:rPr>
              <a:t>Agile, responsive and easy to work with</a:t>
            </a:r>
            <a:endParaRPr lang="en-US" sz="1550" dirty="0"/>
          </a:p>
        </p:txBody>
      </p:sp>
      <p:sp>
        <p:nvSpPr>
          <p:cNvPr id="18" name="Text 16"/>
          <p:cNvSpPr/>
          <p:nvPr/>
        </p:nvSpPr>
        <p:spPr>
          <a:xfrm>
            <a:off x="5897880" y="4946904"/>
            <a:ext cx="5623560" cy="868680"/>
          </a:xfrm>
          <a:prstGeom prst="rect">
            <a:avLst/>
          </a:prstGeom>
          <a:noFill/>
          <a:ln/>
        </p:spPr>
        <p:txBody>
          <a:bodyPr wrap="square" lIns="0" tIns="0" rIns="0" bIns="0" rtlCol="0" anchor="t"/>
          <a:lstStyle/>
          <a:p>
            <a:pPr marL="0" indent="0">
              <a:lnSpc>
                <a:spcPct val="116000"/>
              </a:lnSpc>
              <a:buNone/>
            </a:pPr>
            <a:r>
              <a:rPr lang="en-US" sz="1250" dirty="0">
                <a:solidFill>
                  <a:srgbClr val="6E7180"/>
                </a:solidFill>
                <a:latin typeface="Manrope" pitchFamily="34" charset="0"/>
                <a:ea typeface="Manrope" pitchFamily="34" charset="-122"/>
                <a:cs typeface="Manrope" pitchFamily="34" charset="-120"/>
              </a:rPr>
              <a:t>Big enough to compete seriously, agile enough to react, support and move faster than larger corporates.</a:t>
            </a:r>
            <a:endParaRPr lang="en-US" sz="1250" dirty="0"/>
          </a:p>
        </p:txBody>
      </p:sp>
      <p:pic>
        <p:nvPicPr>
          <p:cNvPr id="19" name="Image 0" descr="/home/claude/deck/img/mark.png"/>
          <p:cNvPicPr>
            <a:picLocks noChangeAspect="1"/>
          </p:cNvPicPr>
          <p:nvPr/>
        </p:nvPicPr>
        <p:blipFill>
          <a:blip r:embed="rId3"/>
          <a:stretch>
            <a:fillRect/>
          </a:stretch>
        </p:blipFill>
        <p:spPr>
          <a:xfrm>
            <a:off x="640080" y="6364224"/>
            <a:ext cx="274320" cy="274320"/>
          </a:xfrm>
          <a:prstGeom prst="rect">
            <a:avLst/>
          </a:prstGeom>
        </p:spPr>
      </p:pic>
      <p:sp>
        <p:nvSpPr>
          <p:cNvPr id="20" name="Text 17"/>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21" name="Text 18"/>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22" name="Text 19"/>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02  ·  ABOUT AQUALOGIC</a:t>
            </a:r>
            <a:endParaRPr lang="en-US" sz="1100" dirty="0"/>
          </a:p>
        </p:txBody>
      </p:sp>
      <p:sp>
        <p:nvSpPr>
          <p:cNvPr id="3" name="Text 1"/>
          <p:cNvSpPr/>
          <p:nvPr/>
        </p:nvSpPr>
        <p:spPr>
          <a:xfrm>
            <a:off x="640080" y="676656"/>
            <a:ext cx="10911535"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Aqualogic and the Sustec group</a:t>
            </a:r>
            <a:endParaRPr lang="en-US" sz="2800" dirty="0"/>
          </a:p>
        </p:txBody>
      </p:sp>
      <p:sp>
        <p:nvSpPr>
          <p:cNvPr id="4" name="Text 2"/>
          <p:cNvSpPr/>
          <p:nvPr/>
        </p:nvSpPr>
        <p:spPr>
          <a:xfrm>
            <a:off x="640080" y="1371600"/>
            <a:ext cx="10515600" cy="365760"/>
          </a:xfrm>
          <a:prstGeom prst="rect">
            <a:avLst/>
          </a:prstGeom>
          <a:noFill/>
          <a:ln/>
        </p:spPr>
        <p:txBody>
          <a:bodyPr wrap="square" lIns="0" tIns="0" rIns="0" bIns="0" rtlCol="0" anchor="ctr"/>
          <a:lstStyle/>
          <a:p>
            <a:pPr marL="0" indent="0">
              <a:buNone/>
            </a:pPr>
            <a:r>
              <a:rPr lang="en-US" sz="1450" dirty="0">
                <a:solidFill>
                  <a:srgbClr val="6E7180"/>
                </a:solidFill>
                <a:latin typeface="Manrope" pitchFamily="34" charset="0"/>
                <a:ea typeface="Manrope" pitchFamily="34" charset="-122"/>
                <a:cs typeface="Manrope" pitchFamily="34" charset="-120"/>
              </a:rPr>
              <a:t>As a Sustec company, Aqualogic combines specialist focus with the strength of a larger group.</a:t>
            </a:r>
            <a:endParaRPr lang="en-US" sz="1450" dirty="0"/>
          </a:p>
        </p:txBody>
      </p:sp>
      <p:sp>
        <p:nvSpPr>
          <p:cNvPr id="5" name="Shape 3"/>
          <p:cNvSpPr/>
          <p:nvPr/>
        </p:nvSpPr>
        <p:spPr>
          <a:xfrm>
            <a:off x="640080" y="2011680"/>
            <a:ext cx="2522144" cy="3200400"/>
          </a:xfrm>
          <a:prstGeom prst="roundRect">
            <a:avLst>
              <a:gd name="adj" fmla="val 3263"/>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txBody>
          <a:bodyPr/>
          <a:lstStyle/>
          <a:p>
            <a:endParaRPr lang="en-US"/>
          </a:p>
        </p:txBody>
      </p:sp>
      <p:sp>
        <p:nvSpPr>
          <p:cNvPr id="6" name="Shape 4"/>
          <p:cNvSpPr/>
          <p:nvPr/>
        </p:nvSpPr>
        <p:spPr>
          <a:xfrm>
            <a:off x="1005840" y="2377440"/>
            <a:ext cx="822960" cy="822960"/>
          </a:xfrm>
          <a:prstGeom prst="ellipse">
            <a:avLst/>
          </a:prstGeom>
          <a:solidFill>
            <a:srgbClr val="00B6D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207008" y="2578608"/>
            <a:ext cx="420624" cy="420624"/>
          </a:xfrm>
          <a:prstGeom prst="rect">
            <a:avLst/>
          </a:prstGeom>
        </p:spPr>
      </p:pic>
      <p:sp>
        <p:nvSpPr>
          <p:cNvPr id="8" name="Text 5"/>
          <p:cNvSpPr/>
          <p:nvPr/>
        </p:nvSpPr>
        <p:spPr>
          <a:xfrm>
            <a:off x="1005840" y="3337560"/>
            <a:ext cx="1790624" cy="777240"/>
          </a:xfrm>
          <a:prstGeom prst="rect">
            <a:avLst/>
          </a:prstGeom>
          <a:noFill/>
          <a:ln/>
        </p:spPr>
        <p:txBody>
          <a:bodyPr wrap="square" lIns="0" tIns="0" rIns="0" bIns="0" rtlCol="0" anchor="ctr"/>
          <a:lstStyle/>
          <a:p>
            <a:pPr marL="0" indent="0">
              <a:lnSpc>
                <a:spcPct val="103000"/>
              </a:lnSpc>
              <a:buNone/>
            </a:pPr>
            <a:r>
              <a:rPr lang="en-US" sz="1500" b="1" dirty="0">
                <a:solidFill>
                  <a:srgbClr val="0C2C3A"/>
                </a:solidFill>
                <a:latin typeface="Manrope" pitchFamily="34" charset="0"/>
                <a:ea typeface="Manrope" pitchFamily="34" charset="-122"/>
                <a:cs typeface="Manrope" pitchFamily="34" charset="-120"/>
              </a:rPr>
              <a:t>Specialist focus</a:t>
            </a:r>
            <a:endParaRPr lang="en-US" sz="1500" dirty="0"/>
          </a:p>
        </p:txBody>
      </p:sp>
      <p:sp>
        <p:nvSpPr>
          <p:cNvPr id="9" name="Text 6"/>
          <p:cNvSpPr/>
          <p:nvPr/>
        </p:nvSpPr>
        <p:spPr>
          <a:xfrm>
            <a:off x="1005840" y="4169664"/>
            <a:ext cx="1790624" cy="914400"/>
          </a:xfrm>
          <a:prstGeom prst="rect">
            <a:avLst/>
          </a:prstGeom>
          <a:noFill/>
          <a:ln/>
        </p:spPr>
        <p:txBody>
          <a:bodyPr wrap="square" lIns="0" tIns="0" rIns="0" bIns="0" rtlCol="0" anchor="ctr"/>
          <a:lstStyle/>
          <a:p>
            <a:pPr marL="0" indent="0">
              <a:lnSpc>
                <a:spcPct val="116000"/>
              </a:lnSpc>
              <a:buNone/>
            </a:pPr>
            <a:r>
              <a:rPr lang="en-US" sz="1200" dirty="0">
                <a:solidFill>
                  <a:srgbClr val="6E7180"/>
                </a:solidFill>
                <a:latin typeface="Manrope" pitchFamily="34" charset="0"/>
                <a:ea typeface="Manrope" pitchFamily="34" charset="-122"/>
                <a:cs typeface="Manrope" pitchFamily="34" charset="-120"/>
              </a:rPr>
              <a:t>A dedicated water conservation and demand management business, not a side line.</a:t>
            </a:r>
            <a:endParaRPr lang="en-US" sz="1200" dirty="0"/>
          </a:p>
        </p:txBody>
      </p:sp>
      <p:sp>
        <p:nvSpPr>
          <p:cNvPr id="10" name="Shape 7"/>
          <p:cNvSpPr/>
          <p:nvPr/>
        </p:nvSpPr>
        <p:spPr>
          <a:xfrm>
            <a:off x="3436544" y="2011680"/>
            <a:ext cx="2522144" cy="3200400"/>
          </a:xfrm>
          <a:prstGeom prst="roundRect">
            <a:avLst>
              <a:gd name="adj" fmla="val 3263"/>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txBody>
          <a:bodyPr/>
          <a:lstStyle/>
          <a:p>
            <a:endParaRPr lang="en-US"/>
          </a:p>
        </p:txBody>
      </p:sp>
      <p:sp>
        <p:nvSpPr>
          <p:cNvPr id="11" name="Shape 8"/>
          <p:cNvSpPr/>
          <p:nvPr/>
        </p:nvSpPr>
        <p:spPr>
          <a:xfrm>
            <a:off x="3802304" y="2377440"/>
            <a:ext cx="822960" cy="822960"/>
          </a:xfrm>
          <a:prstGeom prst="ellipse">
            <a:avLst/>
          </a:prstGeom>
          <a:solidFill>
            <a:srgbClr val="00B6DB"/>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003472" y="2578608"/>
            <a:ext cx="420624" cy="420624"/>
          </a:xfrm>
          <a:prstGeom prst="rect">
            <a:avLst/>
          </a:prstGeom>
        </p:spPr>
      </p:pic>
      <p:sp>
        <p:nvSpPr>
          <p:cNvPr id="13" name="Text 9"/>
          <p:cNvSpPr/>
          <p:nvPr/>
        </p:nvSpPr>
        <p:spPr>
          <a:xfrm>
            <a:off x="3802304" y="3337560"/>
            <a:ext cx="1790624" cy="777240"/>
          </a:xfrm>
          <a:prstGeom prst="rect">
            <a:avLst/>
          </a:prstGeom>
          <a:noFill/>
          <a:ln/>
        </p:spPr>
        <p:txBody>
          <a:bodyPr wrap="square" lIns="0" tIns="0" rIns="0" bIns="0" rtlCol="0" anchor="ctr"/>
          <a:lstStyle/>
          <a:p>
            <a:pPr marL="0" indent="0">
              <a:lnSpc>
                <a:spcPct val="103000"/>
              </a:lnSpc>
              <a:buNone/>
            </a:pPr>
            <a:r>
              <a:rPr lang="en-US" sz="1500" b="1" dirty="0">
                <a:solidFill>
                  <a:srgbClr val="0C2C3A"/>
                </a:solidFill>
                <a:latin typeface="Manrope" pitchFamily="34" charset="0"/>
                <a:ea typeface="Manrope" pitchFamily="34" charset="-122"/>
                <a:cs typeface="Manrope" pitchFamily="34" charset="-120"/>
              </a:rPr>
              <a:t>Group strength</a:t>
            </a:r>
            <a:endParaRPr lang="en-US" sz="1500" dirty="0"/>
          </a:p>
        </p:txBody>
      </p:sp>
      <p:sp>
        <p:nvSpPr>
          <p:cNvPr id="14" name="Text 10"/>
          <p:cNvSpPr/>
          <p:nvPr/>
        </p:nvSpPr>
        <p:spPr>
          <a:xfrm>
            <a:off x="3802304" y="4169664"/>
            <a:ext cx="1790624" cy="914400"/>
          </a:xfrm>
          <a:prstGeom prst="rect">
            <a:avLst/>
          </a:prstGeom>
          <a:noFill/>
          <a:ln/>
        </p:spPr>
        <p:txBody>
          <a:bodyPr wrap="square" lIns="0" tIns="0" rIns="0" bIns="0" rtlCol="0" anchor="ctr"/>
          <a:lstStyle/>
          <a:p>
            <a:pPr marL="0" indent="0">
              <a:lnSpc>
                <a:spcPct val="116000"/>
              </a:lnSpc>
              <a:buNone/>
            </a:pPr>
            <a:r>
              <a:rPr lang="en-US" sz="1200" dirty="0">
                <a:solidFill>
                  <a:srgbClr val="6E7180"/>
                </a:solidFill>
                <a:latin typeface="Manrope" pitchFamily="34" charset="0"/>
                <a:ea typeface="Manrope" pitchFamily="34" charset="-122"/>
                <a:cs typeface="Manrope" pitchFamily="34" charset="-120"/>
              </a:rPr>
              <a:t>Backed by the Sustec group, with the platform to deliver at scale.</a:t>
            </a:r>
            <a:endParaRPr lang="en-US" sz="1200" dirty="0"/>
          </a:p>
        </p:txBody>
      </p:sp>
      <p:sp>
        <p:nvSpPr>
          <p:cNvPr id="15" name="Shape 11"/>
          <p:cNvSpPr/>
          <p:nvPr/>
        </p:nvSpPr>
        <p:spPr>
          <a:xfrm>
            <a:off x="6233008" y="2011680"/>
            <a:ext cx="2522144" cy="3200400"/>
          </a:xfrm>
          <a:prstGeom prst="roundRect">
            <a:avLst>
              <a:gd name="adj" fmla="val 3263"/>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txBody>
          <a:bodyPr/>
          <a:lstStyle/>
          <a:p>
            <a:endParaRPr lang="en-US"/>
          </a:p>
        </p:txBody>
      </p:sp>
      <p:sp>
        <p:nvSpPr>
          <p:cNvPr id="16" name="Shape 12"/>
          <p:cNvSpPr/>
          <p:nvPr/>
        </p:nvSpPr>
        <p:spPr>
          <a:xfrm>
            <a:off x="6598768" y="2377440"/>
            <a:ext cx="822960" cy="822960"/>
          </a:xfrm>
          <a:prstGeom prst="ellipse">
            <a:avLst/>
          </a:prstGeom>
          <a:solidFill>
            <a:srgbClr val="00B6DB"/>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6799936" y="2578608"/>
            <a:ext cx="420624" cy="420624"/>
          </a:xfrm>
          <a:prstGeom prst="rect">
            <a:avLst/>
          </a:prstGeom>
        </p:spPr>
      </p:pic>
      <p:sp>
        <p:nvSpPr>
          <p:cNvPr id="18" name="Text 13"/>
          <p:cNvSpPr/>
          <p:nvPr/>
        </p:nvSpPr>
        <p:spPr>
          <a:xfrm>
            <a:off x="6598768" y="3337560"/>
            <a:ext cx="1790624" cy="777240"/>
          </a:xfrm>
          <a:prstGeom prst="rect">
            <a:avLst/>
          </a:prstGeom>
          <a:noFill/>
          <a:ln/>
        </p:spPr>
        <p:txBody>
          <a:bodyPr wrap="square" lIns="0" tIns="0" rIns="0" bIns="0" rtlCol="0" anchor="ctr"/>
          <a:lstStyle/>
          <a:p>
            <a:pPr marL="0" indent="0">
              <a:lnSpc>
                <a:spcPct val="103000"/>
              </a:lnSpc>
              <a:buNone/>
            </a:pPr>
            <a:r>
              <a:rPr lang="en-US" sz="1500" b="1" dirty="0">
                <a:solidFill>
                  <a:srgbClr val="0C2C3A"/>
                </a:solidFill>
                <a:latin typeface="Manrope" pitchFamily="34" charset="0"/>
                <a:ea typeface="Manrope" pitchFamily="34" charset="-122"/>
                <a:cs typeface="Manrope" pitchFamily="34" charset="-120"/>
              </a:rPr>
              <a:t>One accountable partner</a:t>
            </a:r>
            <a:endParaRPr lang="en-US" sz="1500" dirty="0"/>
          </a:p>
        </p:txBody>
      </p:sp>
      <p:sp>
        <p:nvSpPr>
          <p:cNvPr id="19" name="Text 14"/>
          <p:cNvSpPr/>
          <p:nvPr/>
        </p:nvSpPr>
        <p:spPr>
          <a:xfrm>
            <a:off x="6598768" y="4169664"/>
            <a:ext cx="1790624" cy="914400"/>
          </a:xfrm>
          <a:prstGeom prst="rect">
            <a:avLst/>
          </a:prstGeom>
          <a:noFill/>
          <a:ln/>
        </p:spPr>
        <p:txBody>
          <a:bodyPr wrap="square" lIns="0" tIns="0" rIns="0" bIns="0" rtlCol="0" anchor="ctr"/>
          <a:lstStyle/>
          <a:p>
            <a:pPr marL="0" indent="0">
              <a:lnSpc>
                <a:spcPct val="116000"/>
              </a:lnSpc>
              <a:buNone/>
            </a:pPr>
            <a:r>
              <a:rPr lang="en-US" sz="1200" dirty="0">
                <a:solidFill>
                  <a:srgbClr val="6E7180"/>
                </a:solidFill>
                <a:latin typeface="Manrope" pitchFamily="34" charset="0"/>
                <a:ea typeface="Manrope" pitchFamily="34" charset="-122"/>
                <a:cs typeface="Manrope" pitchFamily="34" charset="-120"/>
              </a:rPr>
              <a:t>Network, customer-side and field delivery under one roof, from source to tap.</a:t>
            </a:r>
            <a:endParaRPr lang="en-US" sz="1200" dirty="0"/>
          </a:p>
        </p:txBody>
      </p:sp>
      <p:sp>
        <p:nvSpPr>
          <p:cNvPr id="20" name="Shape 15"/>
          <p:cNvSpPr/>
          <p:nvPr/>
        </p:nvSpPr>
        <p:spPr>
          <a:xfrm>
            <a:off x="9029471" y="2011680"/>
            <a:ext cx="2522144" cy="3200400"/>
          </a:xfrm>
          <a:prstGeom prst="roundRect">
            <a:avLst>
              <a:gd name="adj" fmla="val 3263"/>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txBody>
          <a:bodyPr/>
          <a:lstStyle/>
          <a:p>
            <a:endParaRPr lang="en-US"/>
          </a:p>
        </p:txBody>
      </p:sp>
      <p:sp>
        <p:nvSpPr>
          <p:cNvPr id="21" name="Shape 16"/>
          <p:cNvSpPr/>
          <p:nvPr/>
        </p:nvSpPr>
        <p:spPr>
          <a:xfrm>
            <a:off x="9395231" y="2377440"/>
            <a:ext cx="822960" cy="822960"/>
          </a:xfrm>
          <a:prstGeom prst="ellipse">
            <a:avLst/>
          </a:prstGeom>
          <a:solidFill>
            <a:srgbClr val="00B6DB"/>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9596399" y="2578608"/>
            <a:ext cx="420624" cy="420624"/>
          </a:xfrm>
          <a:prstGeom prst="rect">
            <a:avLst/>
          </a:prstGeom>
        </p:spPr>
      </p:pic>
      <p:sp>
        <p:nvSpPr>
          <p:cNvPr id="23" name="Text 17"/>
          <p:cNvSpPr/>
          <p:nvPr/>
        </p:nvSpPr>
        <p:spPr>
          <a:xfrm>
            <a:off x="9395231" y="3337560"/>
            <a:ext cx="1790624" cy="777240"/>
          </a:xfrm>
          <a:prstGeom prst="rect">
            <a:avLst/>
          </a:prstGeom>
          <a:noFill/>
          <a:ln/>
        </p:spPr>
        <p:txBody>
          <a:bodyPr wrap="square" lIns="0" tIns="0" rIns="0" bIns="0" rtlCol="0" anchor="ctr"/>
          <a:lstStyle/>
          <a:p>
            <a:pPr marL="0" indent="0">
              <a:lnSpc>
                <a:spcPct val="103000"/>
              </a:lnSpc>
              <a:buNone/>
            </a:pPr>
            <a:r>
              <a:rPr lang="en-US" sz="1500" b="1" dirty="0">
                <a:solidFill>
                  <a:srgbClr val="0C2C3A"/>
                </a:solidFill>
                <a:latin typeface="Manrope" pitchFamily="34" charset="0"/>
                <a:ea typeface="Manrope" pitchFamily="34" charset="-122"/>
                <a:cs typeface="Manrope" pitchFamily="34" charset="-120"/>
              </a:rPr>
              <a:t>Built to last</a:t>
            </a:r>
            <a:endParaRPr lang="en-US" sz="1500" dirty="0"/>
          </a:p>
        </p:txBody>
      </p:sp>
      <p:sp>
        <p:nvSpPr>
          <p:cNvPr id="24" name="Text 18"/>
          <p:cNvSpPr/>
          <p:nvPr/>
        </p:nvSpPr>
        <p:spPr>
          <a:xfrm>
            <a:off x="9395231" y="4169664"/>
            <a:ext cx="1790624" cy="914400"/>
          </a:xfrm>
          <a:prstGeom prst="rect">
            <a:avLst/>
          </a:prstGeom>
          <a:noFill/>
          <a:ln/>
        </p:spPr>
        <p:txBody>
          <a:bodyPr wrap="square" lIns="0" tIns="0" rIns="0" bIns="0" rtlCol="0" anchor="ctr"/>
          <a:lstStyle/>
          <a:p>
            <a:pPr marL="0" indent="0">
              <a:lnSpc>
                <a:spcPct val="116000"/>
              </a:lnSpc>
              <a:buNone/>
            </a:pPr>
            <a:r>
              <a:rPr lang="en-US" sz="1200" dirty="0">
                <a:solidFill>
                  <a:srgbClr val="6E7180"/>
                </a:solidFill>
                <a:latin typeface="Manrope" pitchFamily="34" charset="0"/>
                <a:ea typeface="Manrope" pitchFamily="34" charset="-122"/>
                <a:cs typeface="Manrope" pitchFamily="34" charset="-120"/>
              </a:rPr>
              <a:t>Decades of capability, accredited systems and a consistent delivery record.</a:t>
            </a:r>
            <a:endParaRPr lang="en-US" sz="1200" dirty="0"/>
          </a:p>
        </p:txBody>
      </p:sp>
      <p:pic>
        <p:nvPicPr>
          <p:cNvPr id="25" name="Image 4" descr="/home/claude/deck/img/mark.png"/>
          <p:cNvPicPr>
            <a:picLocks noChangeAspect="1"/>
          </p:cNvPicPr>
          <p:nvPr/>
        </p:nvPicPr>
        <p:blipFill>
          <a:blip r:embed="rId7"/>
          <a:stretch>
            <a:fillRect/>
          </a:stretch>
        </p:blipFill>
        <p:spPr>
          <a:xfrm>
            <a:off x="640080" y="6364224"/>
            <a:ext cx="274320" cy="274320"/>
          </a:xfrm>
          <a:prstGeom prst="rect">
            <a:avLst/>
          </a:prstGeom>
        </p:spPr>
      </p:pic>
      <p:sp>
        <p:nvSpPr>
          <p:cNvPr id="26" name="Text 19"/>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27" name="Text 20"/>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28" name="Text 21"/>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02  ·  ABOUT AQUALOGIC</a:t>
            </a:r>
            <a:endParaRPr lang="en-US" sz="1100" dirty="0"/>
          </a:p>
        </p:txBody>
      </p:sp>
      <p:sp>
        <p:nvSpPr>
          <p:cNvPr id="3" name="Text 1"/>
          <p:cNvSpPr/>
          <p:nvPr/>
        </p:nvSpPr>
        <p:spPr>
          <a:xfrm>
            <a:off x="640080" y="676656"/>
            <a:ext cx="10911535"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Our delivery model</a:t>
            </a:r>
            <a:endParaRPr lang="en-US" sz="2800" dirty="0"/>
          </a:p>
        </p:txBody>
      </p:sp>
      <p:sp>
        <p:nvSpPr>
          <p:cNvPr id="4" name="Shape 2"/>
          <p:cNvSpPr/>
          <p:nvPr/>
        </p:nvSpPr>
        <p:spPr>
          <a:xfrm>
            <a:off x="640080" y="1783080"/>
            <a:ext cx="3456432" cy="777240"/>
          </a:xfrm>
          <a:prstGeom prst="roundRect">
            <a:avLst>
              <a:gd name="adj" fmla="val 9412"/>
            </a:avLst>
          </a:prstGeom>
          <a:solidFill>
            <a:srgbClr val="FFFFFF"/>
          </a:solidFill>
          <a:ln w="19050">
            <a:solidFill>
              <a:srgbClr val="00B6DB"/>
            </a:solidFill>
            <a:prstDash val="solid"/>
          </a:ln>
        </p:spPr>
        <p:txBody>
          <a:bodyPr/>
          <a:lstStyle/>
          <a:p>
            <a:endParaRPr lang="en-US"/>
          </a:p>
        </p:txBody>
      </p:sp>
      <p:sp>
        <p:nvSpPr>
          <p:cNvPr id="5" name="Text 3"/>
          <p:cNvSpPr/>
          <p:nvPr/>
        </p:nvSpPr>
        <p:spPr>
          <a:xfrm>
            <a:off x="640080" y="1783080"/>
            <a:ext cx="3456432" cy="777240"/>
          </a:xfrm>
          <a:prstGeom prst="rect">
            <a:avLst/>
          </a:prstGeom>
          <a:noFill/>
          <a:ln/>
        </p:spPr>
        <p:txBody>
          <a:bodyPr wrap="square" lIns="0" tIns="0" rIns="0" bIns="0" rtlCol="0" anchor="ctr"/>
          <a:lstStyle/>
          <a:p>
            <a:pPr marL="0" indent="0" algn="ctr">
              <a:buNone/>
            </a:pPr>
            <a:r>
              <a:rPr lang="en-US" sz="1450" b="1" dirty="0">
                <a:solidFill>
                  <a:srgbClr val="0C2C3A"/>
                </a:solidFill>
                <a:latin typeface="Manrope" pitchFamily="34" charset="0"/>
                <a:ea typeface="Manrope" pitchFamily="34" charset="-122"/>
                <a:cs typeface="Manrope" pitchFamily="34" charset="-120"/>
              </a:rPr>
              <a:t>Water Networks</a:t>
            </a:r>
            <a:endParaRPr lang="en-US" sz="1450" dirty="0"/>
          </a:p>
        </p:txBody>
      </p:sp>
      <p:sp>
        <p:nvSpPr>
          <p:cNvPr id="6" name="Shape 4"/>
          <p:cNvSpPr/>
          <p:nvPr/>
        </p:nvSpPr>
        <p:spPr>
          <a:xfrm>
            <a:off x="4361688" y="1783080"/>
            <a:ext cx="3456432" cy="777240"/>
          </a:xfrm>
          <a:prstGeom prst="roundRect">
            <a:avLst>
              <a:gd name="adj" fmla="val 9412"/>
            </a:avLst>
          </a:prstGeom>
          <a:solidFill>
            <a:srgbClr val="FFFFFF"/>
          </a:solidFill>
          <a:ln w="19050">
            <a:solidFill>
              <a:srgbClr val="00B6DB"/>
            </a:solidFill>
            <a:prstDash val="solid"/>
          </a:ln>
        </p:spPr>
        <p:txBody>
          <a:bodyPr/>
          <a:lstStyle/>
          <a:p>
            <a:endParaRPr lang="en-US"/>
          </a:p>
        </p:txBody>
      </p:sp>
      <p:sp>
        <p:nvSpPr>
          <p:cNvPr id="7" name="Text 5"/>
          <p:cNvSpPr/>
          <p:nvPr/>
        </p:nvSpPr>
        <p:spPr>
          <a:xfrm>
            <a:off x="4361688" y="1783080"/>
            <a:ext cx="3456432" cy="777240"/>
          </a:xfrm>
          <a:prstGeom prst="rect">
            <a:avLst/>
          </a:prstGeom>
          <a:noFill/>
          <a:ln/>
        </p:spPr>
        <p:txBody>
          <a:bodyPr wrap="square" lIns="0" tIns="0" rIns="0" bIns="0" rtlCol="0" anchor="ctr"/>
          <a:lstStyle/>
          <a:p>
            <a:pPr marL="0" indent="0" algn="ctr">
              <a:buNone/>
            </a:pPr>
            <a:r>
              <a:rPr lang="en-US" sz="1450" b="1" dirty="0">
                <a:solidFill>
                  <a:srgbClr val="0C2C3A"/>
                </a:solidFill>
                <a:latin typeface="Manrope" pitchFamily="34" charset="0"/>
                <a:ea typeface="Manrope" pitchFamily="34" charset="-122"/>
                <a:cs typeface="Manrope" pitchFamily="34" charset="-120"/>
              </a:rPr>
              <a:t>Saving Water</a:t>
            </a:r>
            <a:endParaRPr lang="en-US" sz="1450" dirty="0"/>
          </a:p>
        </p:txBody>
      </p:sp>
      <p:sp>
        <p:nvSpPr>
          <p:cNvPr id="8" name="Shape 6"/>
          <p:cNvSpPr/>
          <p:nvPr/>
        </p:nvSpPr>
        <p:spPr>
          <a:xfrm>
            <a:off x="8083296" y="1783080"/>
            <a:ext cx="3456432" cy="777240"/>
          </a:xfrm>
          <a:prstGeom prst="roundRect">
            <a:avLst>
              <a:gd name="adj" fmla="val 9412"/>
            </a:avLst>
          </a:prstGeom>
          <a:solidFill>
            <a:srgbClr val="FFFFFF"/>
          </a:solidFill>
          <a:ln w="19050">
            <a:solidFill>
              <a:srgbClr val="00B6DB"/>
            </a:solidFill>
            <a:prstDash val="solid"/>
          </a:ln>
        </p:spPr>
        <p:txBody>
          <a:bodyPr/>
          <a:lstStyle/>
          <a:p>
            <a:endParaRPr lang="en-US"/>
          </a:p>
        </p:txBody>
      </p:sp>
      <p:sp>
        <p:nvSpPr>
          <p:cNvPr id="9" name="Text 7"/>
          <p:cNvSpPr/>
          <p:nvPr/>
        </p:nvSpPr>
        <p:spPr>
          <a:xfrm>
            <a:off x="8083296" y="1783080"/>
            <a:ext cx="3456432" cy="777240"/>
          </a:xfrm>
          <a:prstGeom prst="rect">
            <a:avLst/>
          </a:prstGeom>
          <a:noFill/>
          <a:ln/>
        </p:spPr>
        <p:txBody>
          <a:bodyPr wrap="square" lIns="0" tIns="0" rIns="0" bIns="0" rtlCol="0" anchor="ctr"/>
          <a:lstStyle/>
          <a:p>
            <a:pPr marL="0" indent="0" algn="ctr">
              <a:buNone/>
            </a:pPr>
            <a:r>
              <a:rPr lang="en-US" sz="1450" b="1" dirty="0">
                <a:solidFill>
                  <a:srgbClr val="0C2C3A"/>
                </a:solidFill>
                <a:latin typeface="Manrope" pitchFamily="34" charset="0"/>
                <a:ea typeface="Manrope" pitchFamily="34" charset="-122"/>
                <a:cs typeface="Manrope" pitchFamily="34" charset="-120"/>
              </a:rPr>
              <a:t>Intelligence</a:t>
            </a:r>
            <a:endParaRPr lang="en-US" sz="1450" dirty="0"/>
          </a:p>
        </p:txBody>
      </p:sp>
      <p:sp>
        <p:nvSpPr>
          <p:cNvPr id="10" name="Text 8"/>
          <p:cNvSpPr/>
          <p:nvPr/>
        </p:nvSpPr>
        <p:spPr>
          <a:xfrm>
            <a:off x="0" y="2697480"/>
            <a:ext cx="12191695" cy="365760"/>
          </a:xfrm>
          <a:prstGeom prst="rect">
            <a:avLst/>
          </a:prstGeom>
          <a:noFill/>
          <a:ln/>
        </p:spPr>
        <p:txBody>
          <a:bodyPr wrap="square" lIns="0" tIns="0" rIns="0" bIns="0" rtlCol="0" anchor="ctr"/>
          <a:lstStyle/>
          <a:p>
            <a:pPr marL="0" indent="0" algn="ctr">
              <a:buNone/>
            </a:pPr>
            <a:r>
              <a:rPr lang="en-US" sz="2000" dirty="0">
                <a:solidFill>
                  <a:srgbClr val="00B6DB"/>
                </a:solidFill>
                <a:latin typeface="Manrope" pitchFamily="34" charset="0"/>
                <a:ea typeface="Manrope" pitchFamily="34" charset="-122"/>
                <a:cs typeface="Manrope" pitchFamily="34" charset="-120"/>
              </a:rPr>
              <a:t>▼</a:t>
            </a:r>
            <a:endParaRPr lang="en-US" sz="2000" dirty="0"/>
          </a:p>
        </p:txBody>
      </p:sp>
      <p:sp>
        <p:nvSpPr>
          <p:cNvPr id="11" name="Shape 9"/>
          <p:cNvSpPr/>
          <p:nvPr/>
        </p:nvSpPr>
        <p:spPr>
          <a:xfrm>
            <a:off x="640080" y="3200400"/>
            <a:ext cx="10911535" cy="868680"/>
          </a:xfrm>
          <a:prstGeom prst="roundRect">
            <a:avLst>
              <a:gd name="adj" fmla="val 8421"/>
            </a:avLst>
          </a:prstGeom>
          <a:solidFill>
            <a:srgbClr val="0C2C3A"/>
          </a:solidFill>
          <a:ln/>
        </p:spPr>
        <p:txBody>
          <a:bodyPr/>
          <a:lstStyle/>
          <a:p>
            <a:endParaRPr lang="en-US"/>
          </a:p>
        </p:txBody>
      </p:sp>
      <p:sp>
        <p:nvSpPr>
          <p:cNvPr id="12" name="Text 10"/>
          <p:cNvSpPr/>
          <p:nvPr/>
        </p:nvSpPr>
        <p:spPr>
          <a:xfrm>
            <a:off x="640080" y="3200400"/>
            <a:ext cx="10911535" cy="868680"/>
          </a:xfrm>
          <a:prstGeom prst="rect">
            <a:avLst/>
          </a:prstGeom>
          <a:noFill/>
          <a:ln/>
        </p:spPr>
        <p:txBody>
          <a:bodyPr wrap="square" lIns="0" tIns="0" rIns="0" bIns="0" rtlCol="0" anchor="ctr"/>
          <a:lstStyle/>
          <a:p>
            <a:pPr marL="0" indent="0" algn="ctr">
              <a:buNone/>
            </a:pPr>
            <a:r>
              <a:rPr lang="en-US" sz="1800" b="1" dirty="0">
                <a:solidFill>
                  <a:srgbClr val="00B6DB"/>
                </a:solidFill>
                <a:latin typeface="Manrope" pitchFamily="34" charset="0"/>
                <a:ea typeface="Manrope" pitchFamily="34" charset="-122"/>
                <a:cs typeface="Manrope" pitchFamily="34" charset="-120"/>
              </a:rPr>
              <a:t>Integrated demand management</a:t>
            </a:r>
            <a:endParaRPr lang="en-US" sz="1800" dirty="0"/>
          </a:p>
        </p:txBody>
      </p:sp>
      <p:sp>
        <p:nvSpPr>
          <p:cNvPr id="13" name="Text 11"/>
          <p:cNvSpPr/>
          <p:nvPr/>
        </p:nvSpPr>
        <p:spPr>
          <a:xfrm>
            <a:off x="0" y="4160520"/>
            <a:ext cx="12191695" cy="365760"/>
          </a:xfrm>
          <a:prstGeom prst="rect">
            <a:avLst/>
          </a:prstGeom>
          <a:noFill/>
          <a:ln/>
        </p:spPr>
        <p:txBody>
          <a:bodyPr wrap="square" lIns="0" tIns="0" rIns="0" bIns="0" rtlCol="0" anchor="ctr"/>
          <a:lstStyle/>
          <a:p>
            <a:pPr marL="0" indent="0" algn="ctr">
              <a:buNone/>
            </a:pPr>
            <a:r>
              <a:rPr lang="en-US" sz="2000" dirty="0">
                <a:solidFill>
                  <a:srgbClr val="00B6DB"/>
                </a:solidFill>
                <a:latin typeface="Manrope" pitchFamily="34" charset="0"/>
                <a:ea typeface="Manrope" pitchFamily="34" charset="-122"/>
                <a:cs typeface="Manrope" pitchFamily="34" charset="-120"/>
              </a:rPr>
              <a:t>▼</a:t>
            </a:r>
            <a:endParaRPr lang="en-US" sz="2000" dirty="0"/>
          </a:p>
        </p:txBody>
      </p:sp>
      <p:sp>
        <p:nvSpPr>
          <p:cNvPr id="14" name="Shape 12"/>
          <p:cNvSpPr/>
          <p:nvPr/>
        </p:nvSpPr>
        <p:spPr>
          <a:xfrm>
            <a:off x="640080" y="4663440"/>
            <a:ext cx="3456432" cy="777240"/>
          </a:xfrm>
          <a:prstGeom prst="roundRect">
            <a:avLst>
              <a:gd name="adj" fmla="val 9412"/>
            </a:avLst>
          </a:prstGeom>
          <a:solidFill>
            <a:srgbClr val="00B6DB"/>
          </a:solidFill>
          <a:ln/>
        </p:spPr>
        <p:txBody>
          <a:bodyPr/>
          <a:lstStyle/>
          <a:p>
            <a:endParaRPr lang="en-US"/>
          </a:p>
        </p:txBody>
      </p:sp>
      <p:sp>
        <p:nvSpPr>
          <p:cNvPr id="15" name="Text 13"/>
          <p:cNvSpPr/>
          <p:nvPr/>
        </p:nvSpPr>
        <p:spPr>
          <a:xfrm>
            <a:off x="640080" y="4663440"/>
            <a:ext cx="3456432" cy="777240"/>
          </a:xfrm>
          <a:prstGeom prst="rect">
            <a:avLst/>
          </a:prstGeom>
          <a:noFill/>
          <a:ln/>
        </p:spPr>
        <p:txBody>
          <a:bodyPr wrap="square" lIns="0" tIns="0" rIns="0" bIns="0" rtlCol="0" anchor="ctr"/>
          <a:lstStyle/>
          <a:p>
            <a:pPr marL="0" indent="0" algn="ctr">
              <a:buNone/>
            </a:pPr>
            <a:r>
              <a:rPr lang="en-US" sz="1450" b="1" dirty="0">
                <a:solidFill>
                  <a:srgbClr val="FFFFFF"/>
                </a:solidFill>
                <a:latin typeface="Manrope" pitchFamily="34" charset="0"/>
                <a:ea typeface="Manrope" pitchFamily="34" charset="-122"/>
                <a:cs typeface="Manrope" pitchFamily="34" charset="-120"/>
              </a:rPr>
              <a:t>Reduce waste</a:t>
            </a:r>
            <a:endParaRPr lang="en-US" sz="1450" dirty="0"/>
          </a:p>
        </p:txBody>
      </p:sp>
      <p:sp>
        <p:nvSpPr>
          <p:cNvPr id="16" name="Shape 14"/>
          <p:cNvSpPr/>
          <p:nvPr/>
        </p:nvSpPr>
        <p:spPr>
          <a:xfrm>
            <a:off x="4361688" y="4663440"/>
            <a:ext cx="3456432" cy="777240"/>
          </a:xfrm>
          <a:prstGeom prst="roundRect">
            <a:avLst>
              <a:gd name="adj" fmla="val 9412"/>
            </a:avLst>
          </a:prstGeom>
          <a:solidFill>
            <a:srgbClr val="00B6DB"/>
          </a:solidFill>
          <a:ln/>
        </p:spPr>
        <p:txBody>
          <a:bodyPr/>
          <a:lstStyle/>
          <a:p>
            <a:endParaRPr lang="en-US"/>
          </a:p>
        </p:txBody>
      </p:sp>
      <p:sp>
        <p:nvSpPr>
          <p:cNvPr id="17" name="Text 15"/>
          <p:cNvSpPr/>
          <p:nvPr/>
        </p:nvSpPr>
        <p:spPr>
          <a:xfrm>
            <a:off x="4361688" y="4663440"/>
            <a:ext cx="3456432" cy="777240"/>
          </a:xfrm>
          <a:prstGeom prst="rect">
            <a:avLst/>
          </a:prstGeom>
          <a:noFill/>
          <a:ln/>
        </p:spPr>
        <p:txBody>
          <a:bodyPr wrap="square" lIns="0" tIns="0" rIns="0" bIns="0" rtlCol="0" anchor="ctr"/>
          <a:lstStyle/>
          <a:p>
            <a:pPr marL="0" indent="0" algn="ctr">
              <a:buNone/>
            </a:pPr>
            <a:r>
              <a:rPr lang="en-US" sz="1450" b="1" dirty="0">
                <a:solidFill>
                  <a:srgbClr val="FFFFFF"/>
                </a:solidFill>
                <a:latin typeface="Manrope" pitchFamily="34" charset="0"/>
                <a:ea typeface="Manrope" pitchFamily="34" charset="-122"/>
                <a:cs typeface="Manrope" pitchFamily="34" charset="-120"/>
              </a:rPr>
              <a:t>Improve performance</a:t>
            </a:r>
            <a:endParaRPr lang="en-US" sz="1450" dirty="0"/>
          </a:p>
        </p:txBody>
      </p:sp>
      <p:sp>
        <p:nvSpPr>
          <p:cNvPr id="18" name="Shape 16"/>
          <p:cNvSpPr/>
          <p:nvPr/>
        </p:nvSpPr>
        <p:spPr>
          <a:xfrm>
            <a:off x="8083296" y="4663440"/>
            <a:ext cx="3456432" cy="777240"/>
          </a:xfrm>
          <a:prstGeom prst="roundRect">
            <a:avLst>
              <a:gd name="adj" fmla="val 9412"/>
            </a:avLst>
          </a:prstGeom>
          <a:solidFill>
            <a:srgbClr val="00B6DB"/>
          </a:solidFill>
          <a:ln/>
        </p:spPr>
        <p:txBody>
          <a:bodyPr/>
          <a:lstStyle/>
          <a:p>
            <a:endParaRPr lang="en-US"/>
          </a:p>
        </p:txBody>
      </p:sp>
      <p:sp>
        <p:nvSpPr>
          <p:cNvPr id="19" name="Text 17"/>
          <p:cNvSpPr/>
          <p:nvPr/>
        </p:nvSpPr>
        <p:spPr>
          <a:xfrm>
            <a:off x="8083296" y="4663440"/>
            <a:ext cx="3456432" cy="777240"/>
          </a:xfrm>
          <a:prstGeom prst="rect">
            <a:avLst/>
          </a:prstGeom>
          <a:noFill/>
          <a:ln/>
        </p:spPr>
        <p:txBody>
          <a:bodyPr wrap="square" lIns="0" tIns="0" rIns="0" bIns="0" rtlCol="0" anchor="ctr"/>
          <a:lstStyle/>
          <a:p>
            <a:pPr marL="0" indent="0" algn="ctr">
              <a:buNone/>
            </a:pPr>
            <a:r>
              <a:rPr lang="en-US" sz="1450" b="1" dirty="0">
                <a:solidFill>
                  <a:srgbClr val="FFFFFF"/>
                </a:solidFill>
                <a:latin typeface="Manrope" pitchFamily="34" charset="0"/>
                <a:ea typeface="Manrope" pitchFamily="34" charset="-122"/>
                <a:cs typeface="Manrope" pitchFamily="34" charset="-120"/>
              </a:rPr>
              <a:t>Strengthen resilience</a:t>
            </a:r>
            <a:endParaRPr lang="en-US" sz="1450" dirty="0"/>
          </a:p>
        </p:txBody>
      </p:sp>
      <p:sp>
        <p:nvSpPr>
          <p:cNvPr id="20" name="Text 18"/>
          <p:cNvSpPr/>
          <p:nvPr/>
        </p:nvSpPr>
        <p:spPr>
          <a:xfrm>
            <a:off x="640080" y="5623560"/>
            <a:ext cx="10515600" cy="365760"/>
          </a:xfrm>
          <a:prstGeom prst="rect">
            <a:avLst/>
          </a:prstGeom>
          <a:noFill/>
          <a:ln/>
        </p:spPr>
        <p:txBody>
          <a:bodyPr wrap="square" lIns="0" tIns="0" rIns="0" bIns="0" rtlCol="0" anchor="ctr"/>
          <a:lstStyle/>
          <a:p>
            <a:pPr marL="0" indent="0" algn="ctr">
              <a:buNone/>
            </a:pPr>
            <a:r>
              <a:rPr lang="en-US" sz="1250" i="1" dirty="0">
                <a:solidFill>
                  <a:srgbClr val="6E7180"/>
                </a:solidFill>
                <a:latin typeface="Manrope" pitchFamily="34" charset="0"/>
                <a:ea typeface="Manrope" pitchFamily="34" charset="-122"/>
                <a:cs typeface="Manrope" pitchFamily="34" charset="-120"/>
              </a:rPr>
              <a:t>Three angles on one job, joined up under one partner.</a:t>
            </a:r>
            <a:endParaRPr lang="en-US" sz="1250" dirty="0"/>
          </a:p>
        </p:txBody>
      </p:sp>
      <p:pic>
        <p:nvPicPr>
          <p:cNvPr id="21" name="Image 0" descr="/home/claude/deck/img/mark.png"/>
          <p:cNvPicPr>
            <a:picLocks noChangeAspect="1"/>
          </p:cNvPicPr>
          <p:nvPr/>
        </p:nvPicPr>
        <p:blipFill>
          <a:blip r:embed="rId3"/>
          <a:stretch>
            <a:fillRect/>
          </a:stretch>
        </p:blipFill>
        <p:spPr>
          <a:xfrm>
            <a:off x="640080" y="6364224"/>
            <a:ext cx="274320" cy="274320"/>
          </a:xfrm>
          <a:prstGeom prst="rect">
            <a:avLst/>
          </a:prstGeom>
        </p:spPr>
      </p:pic>
      <p:sp>
        <p:nvSpPr>
          <p:cNvPr id="22" name="Text 19"/>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23" name="Text 20"/>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24" name="Text 21"/>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03  ·  HOW WE WORK</a:t>
            </a:r>
            <a:endParaRPr lang="en-US" sz="1100" dirty="0"/>
          </a:p>
        </p:txBody>
      </p:sp>
      <p:sp>
        <p:nvSpPr>
          <p:cNvPr id="3" name="Text 1"/>
          <p:cNvSpPr/>
          <p:nvPr/>
        </p:nvSpPr>
        <p:spPr>
          <a:xfrm>
            <a:off x="640080" y="676656"/>
            <a:ext cx="10911535"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Our approach</a:t>
            </a:r>
            <a:endParaRPr lang="en-US" sz="2800" dirty="0"/>
          </a:p>
        </p:txBody>
      </p:sp>
      <p:sp>
        <p:nvSpPr>
          <p:cNvPr id="4" name="Text 2"/>
          <p:cNvSpPr/>
          <p:nvPr/>
        </p:nvSpPr>
        <p:spPr>
          <a:xfrm>
            <a:off x="640080" y="1371600"/>
            <a:ext cx="10515600" cy="365760"/>
          </a:xfrm>
          <a:prstGeom prst="rect">
            <a:avLst/>
          </a:prstGeom>
          <a:noFill/>
          <a:ln/>
        </p:spPr>
        <p:txBody>
          <a:bodyPr wrap="square" lIns="0" tIns="0" rIns="0" bIns="0" rtlCol="0" anchor="ctr"/>
          <a:lstStyle/>
          <a:p>
            <a:pPr marL="0" indent="0">
              <a:buNone/>
            </a:pPr>
            <a:r>
              <a:rPr lang="en-US" sz="1450" dirty="0">
                <a:solidFill>
                  <a:srgbClr val="6E7180"/>
                </a:solidFill>
                <a:latin typeface="Manrope" pitchFamily="34" charset="0"/>
                <a:ea typeface="Manrope" pitchFamily="34" charset="-122"/>
                <a:cs typeface="Manrope" pitchFamily="34" charset="-120"/>
              </a:rPr>
              <a:t>Four connected stages, so improvements are targeted, delivered and made to last.</a:t>
            </a:r>
            <a:endParaRPr lang="en-US" sz="1450" dirty="0"/>
          </a:p>
        </p:txBody>
      </p:sp>
      <p:sp>
        <p:nvSpPr>
          <p:cNvPr id="5" name="Shape 3"/>
          <p:cNvSpPr/>
          <p:nvPr/>
        </p:nvSpPr>
        <p:spPr>
          <a:xfrm>
            <a:off x="640080" y="2286000"/>
            <a:ext cx="868680" cy="868680"/>
          </a:xfrm>
          <a:prstGeom prst="ellipse">
            <a:avLst/>
          </a:prstGeom>
          <a:solidFill>
            <a:srgbClr val="00B6DB"/>
          </a:solidFill>
          <a:ln/>
        </p:spPr>
        <p:txBody>
          <a:bodyPr/>
          <a:lstStyle/>
          <a:p>
            <a:endParaRPr lang="en-US"/>
          </a:p>
        </p:txBody>
      </p:sp>
      <p:sp>
        <p:nvSpPr>
          <p:cNvPr id="6" name="Text 4"/>
          <p:cNvSpPr/>
          <p:nvPr/>
        </p:nvSpPr>
        <p:spPr>
          <a:xfrm>
            <a:off x="640080" y="2286000"/>
            <a:ext cx="868680" cy="868680"/>
          </a:xfrm>
          <a:prstGeom prst="rect">
            <a:avLst/>
          </a:prstGeom>
          <a:noFill/>
          <a:ln/>
        </p:spPr>
        <p:txBody>
          <a:bodyPr wrap="square" lIns="0" tIns="0" rIns="0" bIns="0" rtlCol="0" anchor="ctr"/>
          <a:lstStyle/>
          <a:p>
            <a:pPr marL="0" indent="0" algn="ctr">
              <a:buNone/>
            </a:pPr>
            <a:r>
              <a:rPr lang="en-US" sz="2000" b="1" dirty="0">
                <a:solidFill>
                  <a:srgbClr val="FFFFFF"/>
                </a:solidFill>
                <a:latin typeface="Manrope" pitchFamily="34" charset="0"/>
                <a:ea typeface="Manrope" pitchFamily="34" charset="-122"/>
                <a:cs typeface="Manrope" pitchFamily="34" charset="-120"/>
              </a:rPr>
              <a:t>01</a:t>
            </a:r>
            <a:endParaRPr lang="en-US" sz="2000" dirty="0"/>
          </a:p>
        </p:txBody>
      </p:sp>
      <p:sp>
        <p:nvSpPr>
          <p:cNvPr id="7" name="Text 5"/>
          <p:cNvSpPr/>
          <p:nvPr/>
        </p:nvSpPr>
        <p:spPr>
          <a:xfrm>
            <a:off x="594360" y="3383280"/>
            <a:ext cx="2468880" cy="457200"/>
          </a:xfrm>
          <a:prstGeom prst="rect">
            <a:avLst/>
          </a:prstGeom>
          <a:noFill/>
          <a:ln/>
        </p:spPr>
        <p:txBody>
          <a:bodyPr wrap="square" lIns="0" tIns="0" rIns="0" bIns="0" rtlCol="0" anchor="ctr"/>
          <a:lstStyle/>
          <a:p>
            <a:pPr marL="0" indent="0">
              <a:buNone/>
            </a:pPr>
            <a:r>
              <a:rPr lang="en-US" sz="1800" b="1" dirty="0">
                <a:solidFill>
                  <a:srgbClr val="0C2C3A"/>
                </a:solidFill>
                <a:latin typeface="Manrope" pitchFamily="34" charset="0"/>
                <a:ea typeface="Manrope" pitchFamily="34" charset="-122"/>
                <a:cs typeface="Manrope" pitchFamily="34" charset="-120"/>
              </a:rPr>
              <a:t>Assess</a:t>
            </a:r>
            <a:endParaRPr lang="en-US" sz="1800" dirty="0"/>
          </a:p>
        </p:txBody>
      </p:sp>
      <p:sp>
        <p:nvSpPr>
          <p:cNvPr id="8" name="Text 6"/>
          <p:cNvSpPr/>
          <p:nvPr/>
        </p:nvSpPr>
        <p:spPr>
          <a:xfrm>
            <a:off x="594360" y="3886200"/>
            <a:ext cx="2560320" cy="1554480"/>
          </a:xfrm>
          <a:prstGeom prst="rect">
            <a:avLst/>
          </a:prstGeom>
          <a:noFill/>
          <a:ln/>
        </p:spPr>
        <p:txBody>
          <a:bodyPr wrap="square" lIns="0" tIns="0" rIns="0" bIns="0" rtlCol="0" anchor="ctr"/>
          <a:lstStyle/>
          <a:p>
            <a:pPr marL="0" indent="0">
              <a:lnSpc>
                <a:spcPct val="118000"/>
              </a:lnSpc>
              <a:buNone/>
            </a:pPr>
            <a:r>
              <a:rPr lang="en-US" sz="1300" dirty="0">
                <a:solidFill>
                  <a:srgbClr val="6E7180"/>
                </a:solidFill>
                <a:latin typeface="Manrope" pitchFamily="34" charset="0"/>
                <a:ea typeface="Manrope" pitchFamily="34" charset="-122"/>
                <a:cs typeface="Manrope" pitchFamily="34" charset="-120"/>
              </a:rPr>
              <a:t>Understand the network, the demand and the data to find where waste is happening.</a:t>
            </a:r>
            <a:endParaRPr lang="en-US" sz="1300" dirty="0"/>
          </a:p>
        </p:txBody>
      </p:sp>
      <p:sp>
        <p:nvSpPr>
          <p:cNvPr id="9" name="Shape 7"/>
          <p:cNvSpPr/>
          <p:nvPr/>
        </p:nvSpPr>
        <p:spPr>
          <a:xfrm>
            <a:off x="3447288" y="2286000"/>
            <a:ext cx="868680" cy="868680"/>
          </a:xfrm>
          <a:prstGeom prst="ellipse">
            <a:avLst/>
          </a:prstGeom>
          <a:solidFill>
            <a:srgbClr val="00B6DB"/>
          </a:solidFill>
          <a:ln/>
        </p:spPr>
        <p:txBody>
          <a:bodyPr/>
          <a:lstStyle/>
          <a:p>
            <a:endParaRPr lang="en-US"/>
          </a:p>
        </p:txBody>
      </p:sp>
      <p:sp>
        <p:nvSpPr>
          <p:cNvPr id="10" name="Text 8"/>
          <p:cNvSpPr/>
          <p:nvPr/>
        </p:nvSpPr>
        <p:spPr>
          <a:xfrm>
            <a:off x="3447288" y="2286000"/>
            <a:ext cx="868680" cy="868680"/>
          </a:xfrm>
          <a:prstGeom prst="rect">
            <a:avLst/>
          </a:prstGeom>
          <a:noFill/>
          <a:ln/>
        </p:spPr>
        <p:txBody>
          <a:bodyPr wrap="square" lIns="0" tIns="0" rIns="0" bIns="0" rtlCol="0" anchor="ctr"/>
          <a:lstStyle/>
          <a:p>
            <a:pPr marL="0" indent="0" algn="ctr">
              <a:buNone/>
            </a:pPr>
            <a:r>
              <a:rPr lang="en-US" sz="2000" b="1" dirty="0">
                <a:solidFill>
                  <a:srgbClr val="FFFFFF"/>
                </a:solidFill>
                <a:latin typeface="Manrope" pitchFamily="34" charset="0"/>
                <a:ea typeface="Manrope" pitchFamily="34" charset="-122"/>
                <a:cs typeface="Manrope" pitchFamily="34" charset="-120"/>
              </a:rPr>
              <a:t>02</a:t>
            </a:r>
            <a:endParaRPr lang="en-US" sz="2000" dirty="0"/>
          </a:p>
        </p:txBody>
      </p:sp>
      <p:sp>
        <p:nvSpPr>
          <p:cNvPr id="11" name="Text 9"/>
          <p:cNvSpPr/>
          <p:nvPr/>
        </p:nvSpPr>
        <p:spPr>
          <a:xfrm>
            <a:off x="3401568" y="3383280"/>
            <a:ext cx="2468880" cy="457200"/>
          </a:xfrm>
          <a:prstGeom prst="rect">
            <a:avLst/>
          </a:prstGeom>
          <a:noFill/>
          <a:ln/>
        </p:spPr>
        <p:txBody>
          <a:bodyPr wrap="square" lIns="0" tIns="0" rIns="0" bIns="0" rtlCol="0" anchor="ctr"/>
          <a:lstStyle/>
          <a:p>
            <a:pPr marL="0" indent="0">
              <a:buNone/>
            </a:pPr>
            <a:r>
              <a:rPr lang="en-US" sz="1800" b="1" dirty="0">
                <a:solidFill>
                  <a:srgbClr val="0C2C3A"/>
                </a:solidFill>
                <a:latin typeface="Manrope" pitchFamily="34" charset="0"/>
                <a:ea typeface="Manrope" pitchFamily="34" charset="-122"/>
                <a:cs typeface="Manrope" pitchFamily="34" charset="-120"/>
              </a:rPr>
              <a:t>Plan</a:t>
            </a:r>
            <a:endParaRPr lang="en-US" sz="1800" dirty="0"/>
          </a:p>
        </p:txBody>
      </p:sp>
      <p:sp>
        <p:nvSpPr>
          <p:cNvPr id="12" name="Text 10"/>
          <p:cNvSpPr/>
          <p:nvPr/>
        </p:nvSpPr>
        <p:spPr>
          <a:xfrm>
            <a:off x="3401568" y="3886200"/>
            <a:ext cx="2560320" cy="1554480"/>
          </a:xfrm>
          <a:prstGeom prst="rect">
            <a:avLst/>
          </a:prstGeom>
          <a:noFill/>
          <a:ln/>
        </p:spPr>
        <p:txBody>
          <a:bodyPr wrap="square" lIns="0" tIns="0" rIns="0" bIns="0" rtlCol="0" anchor="ctr"/>
          <a:lstStyle/>
          <a:p>
            <a:pPr marL="0" indent="0">
              <a:lnSpc>
                <a:spcPct val="118000"/>
              </a:lnSpc>
              <a:buNone/>
            </a:pPr>
            <a:r>
              <a:rPr lang="en-US" sz="1300" dirty="0">
                <a:solidFill>
                  <a:srgbClr val="6E7180"/>
                </a:solidFill>
                <a:latin typeface="Manrope" pitchFamily="34" charset="0"/>
                <a:ea typeface="Manrope" pitchFamily="34" charset="-122"/>
                <a:cs typeface="Manrope" pitchFamily="34" charset="-120"/>
              </a:rPr>
              <a:t>Target the right action and agree a clear, practical plan with you.</a:t>
            </a:r>
            <a:endParaRPr lang="en-US" sz="1300" dirty="0"/>
          </a:p>
        </p:txBody>
      </p:sp>
      <p:sp>
        <p:nvSpPr>
          <p:cNvPr id="13" name="Shape 11"/>
          <p:cNvSpPr/>
          <p:nvPr/>
        </p:nvSpPr>
        <p:spPr>
          <a:xfrm>
            <a:off x="6254496" y="2286000"/>
            <a:ext cx="868680" cy="868680"/>
          </a:xfrm>
          <a:prstGeom prst="ellipse">
            <a:avLst/>
          </a:prstGeom>
          <a:solidFill>
            <a:srgbClr val="00B6DB"/>
          </a:solidFill>
          <a:ln/>
        </p:spPr>
        <p:txBody>
          <a:bodyPr/>
          <a:lstStyle/>
          <a:p>
            <a:endParaRPr lang="en-US"/>
          </a:p>
        </p:txBody>
      </p:sp>
      <p:sp>
        <p:nvSpPr>
          <p:cNvPr id="14" name="Text 12"/>
          <p:cNvSpPr/>
          <p:nvPr/>
        </p:nvSpPr>
        <p:spPr>
          <a:xfrm>
            <a:off x="6254496" y="2286000"/>
            <a:ext cx="868680" cy="868680"/>
          </a:xfrm>
          <a:prstGeom prst="rect">
            <a:avLst/>
          </a:prstGeom>
          <a:noFill/>
          <a:ln/>
        </p:spPr>
        <p:txBody>
          <a:bodyPr wrap="square" lIns="0" tIns="0" rIns="0" bIns="0" rtlCol="0" anchor="ctr"/>
          <a:lstStyle/>
          <a:p>
            <a:pPr marL="0" indent="0" algn="ctr">
              <a:buNone/>
            </a:pPr>
            <a:r>
              <a:rPr lang="en-US" sz="2000" b="1" dirty="0">
                <a:solidFill>
                  <a:srgbClr val="FFFFFF"/>
                </a:solidFill>
                <a:latin typeface="Manrope" pitchFamily="34" charset="0"/>
                <a:ea typeface="Manrope" pitchFamily="34" charset="-122"/>
                <a:cs typeface="Manrope" pitchFamily="34" charset="-120"/>
              </a:rPr>
              <a:t>03</a:t>
            </a:r>
            <a:endParaRPr lang="en-US" sz="2000" dirty="0"/>
          </a:p>
        </p:txBody>
      </p:sp>
      <p:sp>
        <p:nvSpPr>
          <p:cNvPr id="15" name="Text 13"/>
          <p:cNvSpPr/>
          <p:nvPr/>
        </p:nvSpPr>
        <p:spPr>
          <a:xfrm>
            <a:off x="6208776" y="3383280"/>
            <a:ext cx="2468880" cy="457200"/>
          </a:xfrm>
          <a:prstGeom prst="rect">
            <a:avLst/>
          </a:prstGeom>
          <a:noFill/>
          <a:ln/>
        </p:spPr>
        <p:txBody>
          <a:bodyPr wrap="square" lIns="0" tIns="0" rIns="0" bIns="0" rtlCol="0" anchor="ctr"/>
          <a:lstStyle/>
          <a:p>
            <a:pPr marL="0" indent="0">
              <a:buNone/>
            </a:pPr>
            <a:r>
              <a:rPr lang="en-US" sz="1800" b="1" dirty="0">
                <a:solidFill>
                  <a:srgbClr val="0C2C3A"/>
                </a:solidFill>
                <a:latin typeface="Manrope" pitchFamily="34" charset="0"/>
                <a:ea typeface="Manrope" pitchFamily="34" charset="-122"/>
                <a:cs typeface="Manrope" pitchFamily="34" charset="-120"/>
              </a:rPr>
              <a:t>Deliver</a:t>
            </a:r>
            <a:endParaRPr lang="en-US" sz="1800" dirty="0"/>
          </a:p>
        </p:txBody>
      </p:sp>
      <p:sp>
        <p:nvSpPr>
          <p:cNvPr id="16" name="Text 14"/>
          <p:cNvSpPr/>
          <p:nvPr/>
        </p:nvSpPr>
        <p:spPr>
          <a:xfrm>
            <a:off x="6208776" y="3886200"/>
            <a:ext cx="2560320" cy="1554480"/>
          </a:xfrm>
          <a:prstGeom prst="rect">
            <a:avLst/>
          </a:prstGeom>
          <a:noFill/>
          <a:ln/>
        </p:spPr>
        <p:txBody>
          <a:bodyPr wrap="square" lIns="0" tIns="0" rIns="0" bIns="0" rtlCol="0" anchor="ctr"/>
          <a:lstStyle/>
          <a:p>
            <a:pPr marL="0" indent="0">
              <a:lnSpc>
                <a:spcPct val="118000"/>
              </a:lnSpc>
              <a:buNone/>
            </a:pPr>
            <a:r>
              <a:rPr lang="en-US" sz="1300" dirty="0">
                <a:solidFill>
                  <a:srgbClr val="6E7180"/>
                </a:solidFill>
                <a:latin typeface="Manrope" pitchFamily="34" charset="0"/>
                <a:ea typeface="Manrope" pitchFamily="34" charset="-122"/>
                <a:cs typeface="Manrope" pitchFamily="34" charset="-120"/>
              </a:rPr>
              <a:t>Detection, repair and installation by skilled field teams on the ground.</a:t>
            </a:r>
            <a:endParaRPr lang="en-US" sz="1300" dirty="0"/>
          </a:p>
        </p:txBody>
      </p:sp>
      <p:sp>
        <p:nvSpPr>
          <p:cNvPr id="17" name="Shape 15"/>
          <p:cNvSpPr/>
          <p:nvPr/>
        </p:nvSpPr>
        <p:spPr>
          <a:xfrm>
            <a:off x="9061704" y="2286000"/>
            <a:ext cx="868680" cy="868680"/>
          </a:xfrm>
          <a:prstGeom prst="ellipse">
            <a:avLst/>
          </a:prstGeom>
          <a:solidFill>
            <a:srgbClr val="00B6DB"/>
          </a:solidFill>
          <a:ln/>
        </p:spPr>
        <p:txBody>
          <a:bodyPr/>
          <a:lstStyle/>
          <a:p>
            <a:endParaRPr lang="en-US"/>
          </a:p>
        </p:txBody>
      </p:sp>
      <p:sp>
        <p:nvSpPr>
          <p:cNvPr id="18" name="Text 16"/>
          <p:cNvSpPr/>
          <p:nvPr/>
        </p:nvSpPr>
        <p:spPr>
          <a:xfrm>
            <a:off x="9061704" y="2286000"/>
            <a:ext cx="868680" cy="868680"/>
          </a:xfrm>
          <a:prstGeom prst="rect">
            <a:avLst/>
          </a:prstGeom>
          <a:noFill/>
          <a:ln/>
        </p:spPr>
        <p:txBody>
          <a:bodyPr wrap="square" lIns="0" tIns="0" rIns="0" bIns="0" rtlCol="0" anchor="ctr"/>
          <a:lstStyle/>
          <a:p>
            <a:pPr marL="0" indent="0" algn="ctr">
              <a:buNone/>
            </a:pPr>
            <a:r>
              <a:rPr lang="en-US" sz="2000" b="1" dirty="0">
                <a:solidFill>
                  <a:srgbClr val="FFFFFF"/>
                </a:solidFill>
                <a:latin typeface="Manrope" pitchFamily="34" charset="0"/>
                <a:ea typeface="Manrope" pitchFamily="34" charset="-122"/>
                <a:cs typeface="Manrope" pitchFamily="34" charset="-120"/>
              </a:rPr>
              <a:t>04</a:t>
            </a:r>
            <a:endParaRPr lang="en-US" sz="2000" dirty="0"/>
          </a:p>
        </p:txBody>
      </p:sp>
      <p:sp>
        <p:nvSpPr>
          <p:cNvPr id="19" name="Text 17"/>
          <p:cNvSpPr/>
          <p:nvPr/>
        </p:nvSpPr>
        <p:spPr>
          <a:xfrm>
            <a:off x="9015984" y="3383280"/>
            <a:ext cx="2468880" cy="457200"/>
          </a:xfrm>
          <a:prstGeom prst="rect">
            <a:avLst/>
          </a:prstGeom>
          <a:noFill/>
          <a:ln/>
        </p:spPr>
        <p:txBody>
          <a:bodyPr wrap="square" lIns="0" tIns="0" rIns="0" bIns="0" rtlCol="0" anchor="ctr"/>
          <a:lstStyle/>
          <a:p>
            <a:pPr marL="0" indent="0">
              <a:buNone/>
            </a:pPr>
            <a:r>
              <a:rPr lang="en-US" sz="1800" b="1" dirty="0">
                <a:solidFill>
                  <a:srgbClr val="0C2C3A"/>
                </a:solidFill>
                <a:latin typeface="Manrope" pitchFamily="34" charset="0"/>
                <a:ea typeface="Manrope" pitchFamily="34" charset="-122"/>
                <a:cs typeface="Manrope" pitchFamily="34" charset="-120"/>
              </a:rPr>
              <a:t>Optimise</a:t>
            </a:r>
            <a:endParaRPr lang="en-US" sz="1800" dirty="0"/>
          </a:p>
        </p:txBody>
      </p:sp>
      <p:sp>
        <p:nvSpPr>
          <p:cNvPr id="20" name="Text 18"/>
          <p:cNvSpPr/>
          <p:nvPr/>
        </p:nvSpPr>
        <p:spPr>
          <a:xfrm>
            <a:off x="9015984" y="3886200"/>
            <a:ext cx="2560320" cy="1554480"/>
          </a:xfrm>
          <a:prstGeom prst="rect">
            <a:avLst/>
          </a:prstGeom>
          <a:noFill/>
          <a:ln/>
        </p:spPr>
        <p:txBody>
          <a:bodyPr wrap="square" lIns="0" tIns="0" rIns="0" bIns="0" rtlCol="0" anchor="ctr"/>
          <a:lstStyle/>
          <a:p>
            <a:pPr marL="0" indent="0">
              <a:lnSpc>
                <a:spcPct val="118000"/>
              </a:lnSpc>
              <a:buNone/>
            </a:pPr>
            <a:r>
              <a:rPr lang="en-US" sz="1300" dirty="0">
                <a:solidFill>
                  <a:srgbClr val="6E7180"/>
                </a:solidFill>
                <a:latin typeface="Manrope" pitchFamily="34" charset="0"/>
                <a:ea typeface="Manrope" pitchFamily="34" charset="-122"/>
                <a:cs typeface="Manrope" pitchFamily="34" charset="-120"/>
              </a:rPr>
              <a:t>Monitor, measure and refine so improvements hold over the long term.</a:t>
            </a:r>
            <a:endParaRPr lang="en-US" sz="1300" dirty="0"/>
          </a:p>
        </p:txBody>
      </p:sp>
      <p:pic>
        <p:nvPicPr>
          <p:cNvPr id="21" name="Image 0" descr="/home/claude/deck/img/mark.png"/>
          <p:cNvPicPr>
            <a:picLocks noChangeAspect="1"/>
          </p:cNvPicPr>
          <p:nvPr/>
        </p:nvPicPr>
        <p:blipFill>
          <a:blip r:embed="rId3"/>
          <a:stretch>
            <a:fillRect/>
          </a:stretch>
        </p:blipFill>
        <p:spPr>
          <a:xfrm>
            <a:off x="640080" y="6364224"/>
            <a:ext cx="274320" cy="274320"/>
          </a:xfrm>
          <a:prstGeom prst="rect">
            <a:avLst/>
          </a:prstGeom>
        </p:spPr>
      </p:pic>
      <p:sp>
        <p:nvSpPr>
          <p:cNvPr id="22" name="Text 19"/>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23" name="Text 20"/>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24" name="Text 21"/>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03  ·  HOW WE WORK</a:t>
            </a:r>
            <a:endParaRPr lang="en-US" sz="1100" dirty="0"/>
          </a:p>
        </p:txBody>
      </p:sp>
      <p:sp>
        <p:nvSpPr>
          <p:cNvPr id="3" name="Text 1"/>
          <p:cNvSpPr/>
          <p:nvPr/>
        </p:nvSpPr>
        <p:spPr>
          <a:xfrm>
            <a:off x="640080" y="676656"/>
            <a:ext cx="10911535"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Our services</a:t>
            </a:r>
            <a:endParaRPr lang="en-US" sz="2800" dirty="0"/>
          </a:p>
        </p:txBody>
      </p:sp>
      <p:sp>
        <p:nvSpPr>
          <p:cNvPr id="4" name="Text 2"/>
          <p:cNvSpPr/>
          <p:nvPr/>
        </p:nvSpPr>
        <p:spPr>
          <a:xfrm>
            <a:off x="640080" y="1371600"/>
            <a:ext cx="10515600" cy="457200"/>
          </a:xfrm>
          <a:prstGeom prst="rect">
            <a:avLst/>
          </a:prstGeom>
          <a:noFill/>
          <a:ln/>
        </p:spPr>
        <p:txBody>
          <a:bodyPr wrap="square" lIns="0" tIns="0" rIns="0" bIns="0" rtlCol="0" anchor="ctr"/>
          <a:lstStyle/>
          <a:p>
            <a:pPr marL="0" indent="0">
              <a:buNone/>
            </a:pPr>
            <a:r>
              <a:rPr lang="en-US" sz="1400" dirty="0">
                <a:solidFill>
                  <a:srgbClr val="6E7180"/>
                </a:solidFill>
                <a:latin typeface="Manrope" pitchFamily="34" charset="0"/>
                <a:ea typeface="Manrope" pitchFamily="34" charset="-122"/>
                <a:cs typeface="Manrope" pitchFamily="34" charset="-120"/>
              </a:rPr>
              <a:t>Three angles on one job: reduce waste, improve performance and strengthen resilience through integrated demand management.</a:t>
            </a:r>
            <a:endParaRPr lang="en-US" sz="1400" dirty="0"/>
          </a:p>
        </p:txBody>
      </p:sp>
      <p:sp>
        <p:nvSpPr>
          <p:cNvPr id="5" name="Shape 3"/>
          <p:cNvSpPr/>
          <p:nvPr/>
        </p:nvSpPr>
        <p:spPr>
          <a:xfrm>
            <a:off x="640080" y="2057400"/>
            <a:ext cx="3454298" cy="3383280"/>
          </a:xfrm>
          <a:prstGeom prst="roundRect">
            <a:avLst>
              <a:gd name="adj" fmla="val 2432"/>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txBody>
          <a:bodyPr/>
          <a:lstStyle/>
          <a:p>
            <a:endParaRPr lang="en-US"/>
          </a:p>
        </p:txBody>
      </p:sp>
      <p:sp>
        <p:nvSpPr>
          <p:cNvPr id="6" name="Shape 4"/>
          <p:cNvSpPr/>
          <p:nvPr/>
        </p:nvSpPr>
        <p:spPr>
          <a:xfrm>
            <a:off x="1005840" y="2423160"/>
            <a:ext cx="822960" cy="822960"/>
          </a:xfrm>
          <a:prstGeom prst="ellipse">
            <a:avLst/>
          </a:prstGeom>
          <a:solidFill>
            <a:srgbClr val="00B6D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207008" y="2624328"/>
            <a:ext cx="420624" cy="420624"/>
          </a:xfrm>
          <a:prstGeom prst="rect">
            <a:avLst/>
          </a:prstGeom>
        </p:spPr>
      </p:pic>
      <p:sp>
        <p:nvSpPr>
          <p:cNvPr id="8" name="Text 5"/>
          <p:cNvSpPr/>
          <p:nvPr/>
        </p:nvSpPr>
        <p:spPr>
          <a:xfrm>
            <a:off x="1005840" y="3383280"/>
            <a:ext cx="2722778" cy="457200"/>
          </a:xfrm>
          <a:prstGeom prst="rect">
            <a:avLst/>
          </a:prstGeom>
          <a:noFill/>
          <a:ln/>
        </p:spPr>
        <p:txBody>
          <a:bodyPr wrap="square" lIns="0" tIns="0" rIns="0" bIns="0" rtlCol="0" anchor="ctr"/>
          <a:lstStyle/>
          <a:p>
            <a:pPr marL="0" indent="0">
              <a:lnSpc>
                <a:spcPct val="103000"/>
              </a:lnSpc>
              <a:buNone/>
            </a:pPr>
            <a:r>
              <a:rPr lang="en-US" sz="1800" b="1" dirty="0">
                <a:solidFill>
                  <a:srgbClr val="0C2C3A"/>
                </a:solidFill>
                <a:latin typeface="Manrope" pitchFamily="34" charset="0"/>
                <a:ea typeface="Manrope" pitchFamily="34" charset="-122"/>
                <a:cs typeface="Manrope" pitchFamily="34" charset="-120"/>
              </a:rPr>
              <a:t>Water Networks</a:t>
            </a:r>
            <a:endParaRPr lang="en-US" sz="1800" dirty="0"/>
          </a:p>
        </p:txBody>
      </p:sp>
      <p:sp>
        <p:nvSpPr>
          <p:cNvPr id="9" name="Text 6"/>
          <p:cNvSpPr/>
          <p:nvPr/>
        </p:nvSpPr>
        <p:spPr>
          <a:xfrm>
            <a:off x="1005840" y="3895344"/>
            <a:ext cx="2722778" cy="1417320"/>
          </a:xfrm>
          <a:prstGeom prst="rect">
            <a:avLst/>
          </a:prstGeom>
          <a:noFill/>
          <a:ln/>
        </p:spPr>
        <p:txBody>
          <a:bodyPr wrap="square" lIns="0" tIns="0" rIns="0" bIns="0" rtlCol="0" anchor="ctr"/>
          <a:lstStyle/>
          <a:p>
            <a:pPr marL="0" indent="0">
              <a:lnSpc>
                <a:spcPct val="116000"/>
              </a:lnSpc>
              <a:buNone/>
            </a:pPr>
            <a:r>
              <a:rPr lang="en-US" sz="1250" dirty="0">
                <a:solidFill>
                  <a:srgbClr val="6E7180"/>
                </a:solidFill>
                <a:latin typeface="Manrope" pitchFamily="34" charset="0"/>
                <a:ea typeface="Manrope" pitchFamily="34" charset="-122"/>
                <a:cs typeface="Manrope" pitchFamily="34" charset="-120"/>
              </a:rPr>
              <a:t>Keeping more water in the network: leak detection, pressure management, metering, network services and consultancy.</a:t>
            </a:r>
            <a:endParaRPr lang="en-US" sz="1250" dirty="0"/>
          </a:p>
        </p:txBody>
      </p:sp>
      <p:sp>
        <p:nvSpPr>
          <p:cNvPr id="10" name="Shape 7"/>
          <p:cNvSpPr/>
          <p:nvPr/>
        </p:nvSpPr>
        <p:spPr>
          <a:xfrm>
            <a:off x="4368698" y="2057400"/>
            <a:ext cx="3454298" cy="3383280"/>
          </a:xfrm>
          <a:prstGeom prst="roundRect">
            <a:avLst>
              <a:gd name="adj" fmla="val 2432"/>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txBody>
          <a:bodyPr/>
          <a:lstStyle/>
          <a:p>
            <a:endParaRPr lang="en-US"/>
          </a:p>
        </p:txBody>
      </p:sp>
      <p:sp>
        <p:nvSpPr>
          <p:cNvPr id="11" name="Shape 8"/>
          <p:cNvSpPr/>
          <p:nvPr/>
        </p:nvSpPr>
        <p:spPr>
          <a:xfrm>
            <a:off x="4734458" y="2423160"/>
            <a:ext cx="822960" cy="822960"/>
          </a:xfrm>
          <a:prstGeom prst="ellipse">
            <a:avLst/>
          </a:prstGeom>
          <a:solidFill>
            <a:srgbClr val="00B6DB"/>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935626" y="2624328"/>
            <a:ext cx="420624" cy="420624"/>
          </a:xfrm>
          <a:prstGeom prst="rect">
            <a:avLst/>
          </a:prstGeom>
        </p:spPr>
      </p:pic>
      <p:sp>
        <p:nvSpPr>
          <p:cNvPr id="13" name="Text 9"/>
          <p:cNvSpPr/>
          <p:nvPr/>
        </p:nvSpPr>
        <p:spPr>
          <a:xfrm>
            <a:off x="4734458" y="3383280"/>
            <a:ext cx="2722778" cy="457200"/>
          </a:xfrm>
          <a:prstGeom prst="rect">
            <a:avLst/>
          </a:prstGeom>
          <a:noFill/>
          <a:ln/>
        </p:spPr>
        <p:txBody>
          <a:bodyPr wrap="square" lIns="0" tIns="0" rIns="0" bIns="0" rtlCol="0" anchor="ctr"/>
          <a:lstStyle/>
          <a:p>
            <a:pPr marL="0" indent="0">
              <a:lnSpc>
                <a:spcPct val="103000"/>
              </a:lnSpc>
              <a:buNone/>
            </a:pPr>
            <a:r>
              <a:rPr lang="en-US" sz="1800" b="1" dirty="0">
                <a:solidFill>
                  <a:srgbClr val="0C2C3A"/>
                </a:solidFill>
                <a:latin typeface="Manrope" pitchFamily="34" charset="0"/>
                <a:ea typeface="Manrope" pitchFamily="34" charset="-122"/>
                <a:cs typeface="Manrope" pitchFamily="34" charset="-120"/>
              </a:rPr>
              <a:t>Saving Water</a:t>
            </a:r>
            <a:endParaRPr lang="en-US" sz="1800" dirty="0"/>
          </a:p>
        </p:txBody>
      </p:sp>
      <p:sp>
        <p:nvSpPr>
          <p:cNvPr id="14" name="Text 10"/>
          <p:cNvSpPr/>
          <p:nvPr/>
        </p:nvSpPr>
        <p:spPr>
          <a:xfrm>
            <a:off x="4734458" y="3895344"/>
            <a:ext cx="2722778" cy="1417320"/>
          </a:xfrm>
          <a:prstGeom prst="rect">
            <a:avLst/>
          </a:prstGeom>
          <a:noFill/>
          <a:ln/>
        </p:spPr>
        <p:txBody>
          <a:bodyPr wrap="square" lIns="0" tIns="0" rIns="0" bIns="0" rtlCol="0" anchor="ctr"/>
          <a:lstStyle/>
          <a:p>
            <a:pPr marL="0" indent="0">
              <a:lnSpc>
                <a:spcPct val="116000"/>
              </a:lnSpc>
              <a:buNone/>
            </a:pPr>
            <a:r>
              <a:rPr lang="en-US" sz="1250" dirty="0">
                <a:solidFill>
                  <a:srgbClr val="6E7180"/>
                </a:solidFill>
                <a:latin typeface="Manrope" pitchFamily="34" charset="0"/>
                <a:ea typeface="Manrope" pitchFamily="34" charset="-122"/>
                <a:cs typeface="Manrope" pitchFamily="34" charset="-120"/>
              </a:rPr>
              <a:t>Reducing demand where water is used: home visits, workplace assessments and water-saving products for homes and businesses.</a:t>
            </a:r>
            <a:endParaRPr lang="en-US" sz="1250" dirty="0"/>
          </a:p>
        </p:txBody>
      </p:sp>
      <p:sp>
        <p:nvSpPr>
          <p:cNvPr id="15" name="Shape 11"/>
          <p:cNvSpPr/>
          <p:nvPr/>
        </p:nvSpPr>
        <p:spPr>
          <a:xfrm>
            <a:off x="8097317" y="2057400"/>
            <a:ext cx="3454298" cy="3383280"/>
          </a:xfrm>
          <a:prstGeom prst="roundRect">
            <a:avLst>
              <a:gd name="adj" fmla="val 2432"/>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txBody>
          <a:bodyPr/>
          <a:lstStyle/>
          <a:p>
            <a:endParaRPr lang="en-US"/>
          </a:p>
        </p:txBody>
      </p:sp>
      <p:sp>
        <p:nvSpPr>
          <p:cNvPr id="16" name="Shape 12"/>
          <p:cNvSpPr/>
          <p:nvPr/>
        </p:nvSpPr>
        <p:spPr>
          <a:xfrm>
            <a:off x="8463077" y="2423160"/>
            <a:ext cx="822960" cy="822960"/>
          </a:xfrm>
          <a:prstGeom prst="ellipse">
            <a:avLst/>
          </a:prstGeom>
          <a:solidFill>
            <a:srgbClr val="00B6DB"/>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8664245" y="2624328"/>
            <a:ext cx="420624" cy="420624"/>
          </a:xfrm>
          <a:prstGeom prst="rect">
            <a:avLst/>
          </a:prstGeom>
        </p:spPr>
      </p:pic>
      <p:sp>
        <p:nvSpPr>
          <p:cNvPr id="18" name="Text 13"/>
          <p:cNvSpPr/>
          <p:nvPr/>
        </p:nvSpPr>
        <p:spPr>
          <a:xfrm>
            <a:off x="8463077" y="3383280"/>
            <a:ext cx="2722778" cy="457200"/>
          </a:xfrm>
          <a:prstGeom prst="rect">
            <a:avLst/>
          </a:prstGeom>
          <a:noFill/>
          <a:ln/>
        </p:spPr>
        <p:txBody>
          <a:bodyPr wrap="square" lIns="0" tIns="0" rIns="0" bIns="0" rtlCol="0" anchor="ctr"/>
          <a:lstStyle/>
          <a:p>
            <a:pPr marL="0" indent="0">
              <a:lnSpc>
                <a:spcPct val="103000"/>
              </a:lnSpc>
              <a:buNone/>
            </a:pPr>
            <a:r>
              <a:rPr lang="en-US" sz="1800" b="1" dirty="0">
                <a:solidFill>
                  <a:srgbClr val="0C2C3A"/>
                </a:solidFill>
                <a:latin typeface="Manrope" pitchFamily="34" charset="0"/>
                <a:ea typeface="Manrope" pitchFamily="34" charset="-122"/>
                <a:cs typeface="Manrope" pitchFamily="34" charset="-120"/>
              </a:rPr>
              <a:t>Intelligence</a:t>
            </a:r>
            <a:endParaRPr lang="en-US" sz="1800" dirty="0"/>
          </a:p>
        </p:txBody>
      </p:sp>
      <p:sp>
        <p:nvSpPr>
          <p:cNvPr id="19" name="Text 14"/>
          <p:cNvSpPr/>
          <p:nvPr/>
        </p:nvSpPr>
        <p:spPr>
          <a:xfrm>
            <a:off x="8463077" y="3895344"/>
            <a:ext cx="2722778" cy="1417320"/>
          </a:xfrm>
          <a:prstGeom prst="rect">
            <a:avLst/>
          </a:prstGeom>
          <a:noFill/>
          <a:ln/>
        </p:spPr>
        <p:txBody>
          <a:bodyPr wrap="square" lIns="0" tIns="0" rIns="0" bIns="0" rtlCol="0" anchor="ctr"/>
          <a:lstStyle/>
          <a:p>
            <a:pPr marL="0" indent="0">
              <a:lnSpc>
                <a:spcPct val="116000"/>
              </a:lnSpc>
              <a:buNone/>
            </a:pPr>
            <a:r>
              <a:rPr lang="en-US" sz="1250" dirty="0">
                <a:solidFill>
                  <a:srgbClr val="6E7180"/>
                </a:solidFill>
                <a:latin typeface="Manrope" pitchFamily="34" charset="0"/>
                <a:ea typeface="Manrope" pitchFamily="34" charset="-122"/>
                <a:cs typeface="Manrope" pitchFamily="34" charset="-120"/>
              </a:rPr>
              <a:t>Turning data into decisions: digital infrastructure, communications and AI-led analysis that show where to act first.</a:t>
            </a:r>
            <a:endParaRPr lang="en-US" sz="1250" dirty="0"/>
          </a:p>
        </p:txBody>
      </p:sp>
      <p:pic>
        <p:nvPicPr>
          <p:cNvPr id="20" name="Image 3" descr="/home/claude/deck/img/mark.png"/>
          <p:cNvPicPr>
            <a:picLocks noChangeAspect="1"/>
          </p:cNvPicPr>
          <p:nvPr/>
        </p:nvPicPr>
        <p:blipFill>
          <a:blip r:embed="rId6"/>
          <a:stretch>
            <a:fillRect/>
          </a:stretch>
        </p:blipFill>
        <p:spPr>
          <a:xfrm>
            <a:off x="640080" y="6364224"/>
            <a:ext cx="274320" cy="274320"/>
          </a:xfrm>
          <a:prstGeom prst="rect">
            <a:avLst/>
          </a:prstGeom>
        </p:spPr>
      </p:pic>
      <p:sp>
        <p:nvSpPr>
          <p:cNvPr id="21" name="Text 15"/>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22" name="Text 16"/>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23" name="Text 17"/>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03  ·  HOW WE WORK</a:t>
            </a:r>
            <a:endParaRPr lang="en-US" sz="1100" dirty="0"/>
          </a:p>
        </p:txBody>
      </p:sp>
      <p:sp>
        <p:nvSpPr>
          <p:cNvPr id="3" name="Text 1"/>
          <p:cNvSpPr/>
          <p:nvPr/>
        </p:nvSpPr>
        <p:spPr>
          <a:xfrm>
            <a:off x="640080" y="676656"/>
            <a:ext cx="10911535"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Service areas in detail</a:t>
            </a:r>
            <a:endParaRPr lang="en-US" sz="2800" dirty="0"/>
          </a:p>
        </p:txBody>
      </p:sp>
      <p:sp>
        <p:nvSpPr>
          <p:cNvPr id="4" name="Shape 2"/>
          <p:cNvSpPr/>
          <p:nvPr/>
        </p:nvSpPr>
        <p:spPr>
          <a:xfrm>
            <a:off x="640080" y="1828800"/>
            <a:ext cx="3456432" cy="3931920"/>
          </a:xfrm>
          <a:prstGeom prst="roundRect">
            <a:avLst>
              <a:gd name="adj" fmla="val 2381"/>
            </a:avLst>
          </a:prstGeom>
          <a:solidFill>
            <a:srgbClr val="EDEFF7"/>
          </a:solidFill>
          <a:ln/>
        </p:spPr>
        <p:txBody>
          <a:bodyPr/>
          <a:lstStyle/>
          <a:p>
            <a:endParaRPr lang="en-US"/>
          </a:p>
        </p:txBody>
      </p:sp>
      <p:sp>
        <p:nvSpPr>
          <p:cNvPr id="5" name="Text 3"/>
          <p:cNvSpPr/>
          <p:nvPr/>
        </p:nvSpPr>
        <p:spPr>
          <a:xfrm>
            <a:off x="932688" y="2084832"/>
            <a:ext cx="2926080" cy="411480"/>
          </a:xfrm>
          <a:prstGeom prst="rect">
            <a:avLst/>
          </a:prstGeom>
          <a:noFill/>
          <a:ln/>
        </p:spPr>
        <p:txBody>
          <a:bodyPr wrap="square" lIns="0" tIns="0" rIns="0" bIns="0" rtlCol="0" anchor="ctr"/>
          <a:lstStyle/>
          <a:p>
            <a:pPr marL="0" indent="0">
              <a:buNone/>
            </a:pPr>
            <a:r>
              <a:rPr lang="en-US" sz="1550" b="1" dirty="0">
                <a:solidFill>
                  <a:srgbClr val="00B6DB"/>
                </a:solidFill>
                <a:latin typeface="Manrope" pitchFamily="34" charset="0"/>
                <a:ea typeface="Manrope" pitchFamily="34" charset="-122"/>
                <a:cs typeface="Manrope" pitchFamily="34" charset="-120"/>
              </a:rPr>
              <a:t>Water Networks</a:t>
            </a:r>
            <a:endParaRPr lang="en-US" sz="1550" dirty="0"/>
          </a:p>
        </p:txBody>
      </p:sp>
      <p:sp>
        <p:nvSpPr>
          <p:cNvPr id="6" name="Shape 4"/>
          <p:cNvSpPr/>
          <p:nvPr/>
        </p:nvSpPr>
        <p:spPr>
          <a:xfrm>
            <a:off x="932688" y="2542032"/>
            <a:ext cx="914400" cy="27432"/>
          </a:xfrm>
          <a:prstGeom prst="rect">
            <a:avLst/>
          </a:prstGeom>
          <a:solidFill>
            <a:srgbClr val="D3D6E0"/>
          </a:solidFill>
          <a:ln/>
        </p:spPr>
        <p:txBody>
          <a:bodyPr/>
          <a:lstStyle/>
          <a:p>
            <a:endParaRPr lang="en-US"/>
          </a:p>
        </p:txBody>
      </p:sp>
      <p:sp>
        <p:nvSpPr>
          <p:cNvPr id="7" name="Text 5"/>
          <p:cNvSpPr/>
          <p:nvPr/>
        </p:nvSpPr>
        <p:spPr>
          <a:xfrm>
            <a:off x="932688" y="2697480"/>
            <a:ext cx="2907792" cy="2926080"/>
          </a:xfrm>
          <a:prstGeom prst="rect">
            <a:avLst/>
          </a:prstGeom>
          <a:noFill/>
          <a:ln/>
        </p:spPr>
        <p:txBody>
          <a:bodyPr wrap="square" lIns="0" tIns="0" rIns="0" bIns="0" rtlCol="0" anchor="t"/>
          <a:lstStyle/>
          <a:p>
            <a:pPr marL="177800" indent="-177800">
              <a:lnSpc>
                <a:spcPct val="116000"/>
              </a:lnSpc>
              <a:spcAft>
                <a:spcPts val="700"/>
              </a:spcAft>
              <a:buSzPct val="100000"/>
              <a:buChar char="•"/>
            </a:pPr>
            <a:r>
              <a:rPr lang="en-US" sz="1200" dirty="0">
                <a:solidFill>
                  <a:srgbClr val="40424D"/>
                </a:solidFill>
                <a:latin typeface="Manrope" pitchFamily="34" charset="0"/>
                <a:ea typeface="Manrope" pitchFamily="34" charset="-122"/>
                <a:cs typeface="Manrope" pitchFamily="34" charset="-120"/>
              </a:rPr>
              <a:t>Digital leak detection, with real-time visibility through Aquaint</a:t>
            </a:r>
            <a:endParaRPr lang="en-US" sz="1200" dirty="0"/>
          </a:p>
          <a:p>
            <a:pPr marL="177800" indent="-177800">
              <a:lnSpc>
                <a:spcPct val="116000"/>
              </a:lnSpc>
              <a:spcAft>
                <a:spcPts val="700"/>
              </a:spcAft>
              <a:buSzPct val="100000"/>
              <a:buChar char="•"/>
            </a:pPr>
            <a:r>
              <a:rPr lang="en-US" sz="1200" dirty="0">
                <a:solidFill>
                  <a:srgbClr val="40424D"/>
                </a:solidFill>
                <a:latin typeface="Manrope" pitchFamily="34" charset="0"/>
                <a:ea typeface="Manrope" pitchFamily="34" charset="-122"/>
                <a:cs typeface="Manrope" pitchFamily="34" charset="-120"/>
              </a:rPr>
              <a:t>Pressure management</a:t>
            </a:r>
            <a:endParaRPr lang="en-US" sz="1200" dirty="0"/>
          </a:p>
          <a:p>
            <a:pPr marL="177800" indent="-177800">
              <a:lnSpc>
                <a:spcPct val="116000"/>
              </a:lnSpc>
              <a:spcAft>
                <a:spcPts val="700"/>
              </a:spcAft>
              <a:buSzPct val="100000"/>
              <a:buChar char="•"/>
            </a:pPr>
            <a:r>
              <a:rPr lang="en-US" sz="1200" dirty="0">
                <a:solidFill>
                  <a:srgbClr val="40424D"/>
                </a:solidFill>
                <a:latin typeface="Manrope" pitchFamily="34" charset="0"/>
                <a:ea typeface="Manrope" pitchFamily="34" charset="-122"/>
                <a:cs typeface="Manrope" pitchFamily="34" charset="-120"/>
              </a:rPr>
              <a:t>Metering infrastructure</a:t>
            </a:r>
            <a:endParaRPr lang="en-US" sz="1200" dirty="0"/>
          </a:p>
          <a:p>
            <a:pPr marL="177800" indent="-177800">
              <a:lnSpc>
                <a:spcPct val="116000"/>
              </a:lnSpc>
              <a:spcAft>
                <a:spcPts val="700"/>
              </a:spcAft>
              <a:buSzPct val="100000"/>
              <a:buChar char="•"/>
            </a:pPr>
            <a:r>
              <a:rPr lang="en-US" sz="1200" dirty="0">
                <a:solidFill>
                  <a:srgbClr val="40424D"/>
                </a:solidFill>
                <a:latin typeface="Manrope" pitchFamily="34" charset="0"/>
                <a:ea typeface="Manrope" pitchFamily="34" charset="-122"/>
                <a:cs typeface="Manrope" pitchFamily="34" charset="-120"/>
              </a:rPr>
              <a:t>Network services</a:t>
            </a:r>
            <a:endParaRPr lang="en-US" sz="1200" dirty="0"/>
          </a:p>
          <a:p>
            <a:pPr marL="177800" indent="-177800">
              <a:lnSpc>
                <a:spcPct val="116000"/>
              </a:lnSpc>
              <a:spcAft>
                <a:spcPts val="700"/>
              </a:spcAft>
              <a:buSzPct val="100000"/>
              <a:buChar char="•"/>
            </a:pPr>
            <a:r>
              <a:rPr lang="en-US" sz="1200" dirty="0">
                <a:solidFill>
                  <a:srgbClr val="40424D"/>
                </a:solidFill>
                <a:latin typeface="Manrope" pitchFamily="34" charset="0"/>
                <a:ea typeface="Manrope" pitchFamily="34" charset="-122"/>
                <a:cs typeface="Manrope" pitchFamily="34" charset="-120"/>
              </a:rPr>
              <a:t>Consultancy, including IDM integrated demand management</a:t>
            </a:r>
            <a:endParaRPr lang="en-US" sz="1200" dirty="0"/>
          </a:p>
        </p:txBody>
      </p:sp>
      <p:sp>
        <p:nvSpPr>
          <p:cNvPr id="8" name="Shape 6"/>
          <p:cNvSpPr/>
          <p:nvPr/>
        </p:nvSpPr>
        <p:spPr>
          <a:xfrm>
            <a:off x="4361688" y="1828800"/>
            <a:ext cx="3456432" cy="3931920"/>
          </a:xfrm>
          <a:prstGeom prst="roundRect">
            <a:avLst>
              <a:gd name="adj" fmla="val 2381"/>
            </a:avLst>
          </a:prstGeom>
          <a:solidFill>
            <a:srgbClr val="EDEFF7"/>
          </a:solidFill>
          <a:ln/>
        </p:spPr>
        <p:txBody>
          <a:bodyPr/>
          <a:lstStyle/>
          <a:p>
            <a:endParaRPr lang="en-US"/>
          </a:p>
        </p:txBody>
      </p:sp>
      <p:sp>
        <p:nvSpPr>
          <p:cNvPr id="9" name="Text 7"/>
          <p:cNvSpPr/>
          <p:nvPr/>
        </p:nvSpPr>
        <p:spPr>
          <a:xfrm>
            <a:off x="4654296" y="2084832"/>
            <a:ext cx="2926080" cy="411480"/>
          </a:xfrm>
          <a:prstGeom prst="rect">
            <a:avLst/>
          </a:prstGeom>
          <a:noFill/>
          <a:ln/>
        </p:spPr>
        <p:txBody>
          <a:bodyPr wrap="square" lIns="0" tIns="0" rIns="0" bIns="0" rtlCol="0" anchor="ctr"/>
          <a:lstStyle/>
          <a:p>
            <a:pPr marL="0" indent="0">
              <a:buNone/>
            </a:pPr>
            <a:r>
              <a:rPr lang="en-US" sz="1550" b="1" dirty="0">
                <a:solidFill>
                  <a:srgbClr val="00B6DB"/>
                </a:solidFill>
                <a:latin typeface="Manrope" pitchFamily="34" charset="0"/>
                <a:ea typeface="Manrope" pitchFamily="34" charset="-122"/>
                <a:cs typeface="Manrope" pitchFamily="34" charset="-120"/>
              </a:rPr>
              <a:t>Saving Water</a:t>
            </a:r>
            <a:endParaRPr lang="en-US" sz="1550" dirty="0"/>
          </a:p>
        </p:txBody>
      </p:sp>
      <p:sp>
        <p:nvSpPr>
          <p:cNvPr id="10" name="Shape 8"/>
          <p:cNvSpPr/>
          <p:nvPr/>
        </p:nvSpPr>
        <p:spPr>
          <a:xfrm>
            <a:off x="4654296" y="2542032"/>
            <a:ext cx="914400" cy="27432"/>
          </a:xfrm>
          <a:prstGeom prst="rect">
            <a:avLst/>
          </a:prstGeom>
          <a:solidFill>
            <a:srgbClr val="D3D6E0"/>
          </a:solidFill>
          <a:ln/>
        </p:spPr>
        <p:txBody>
          <a:bodyPr/>
          <a:lstStyle/>
          <a:p>
            <a:endParaRPr lang="en-US"/>
          </a:p>
        </p:txBody>
      </p:sp>
      <p:sp>
        <p:nvSpPr>
          <p:cNvPr id="11" name="Text 9"/>
          <p:cNvSpPr/>
          <p:nvPr/>
        </p:nvSpPr>
        <p:spPr>
          <a:xfrm>
            <a:off x="4654296" y="2697480"/>
            <a:ext cx="2907792" cy="2926080"/>
          </a:xfrm>
          <a:prstGeom prst="rect">
            <a:avLst/>
          </a:prstGeom>
          <a:noFill/>
          <a:ln/>
        </p:spPr>
        <p:txBody>
          <a:bodyPr wrap="square" lIns="0" tIns="0" rIns="0" bIns="0" rtlCol="0" anchor="t"/>
          <a:lstStyle/>
          <a:p>
            <a:pPr marL="177800" indent="-177800">
              <a:lnSpc>
                <a:spcPct val="116000"/>
              </a:lnSpc>
              <a:spcAft>
                <a:spcPts val="700"/>
              </a:spcAft>
              <a:buSzPct val="100000"/>
              <a:buChar char="•"/>
            </a:pPr>
            <a:r>
              <a:rPr lang="en-US" sz="1200" dirty="0">
                <a:solidFill>
                  <a:srgbClr val="40424D"/>
                </a:solidFill>
                <a:latin typeface="Manrope" pitchFamily="34" charset="0"/>
                <a:ea typeface="Manrope" pitchFamily="34" charset="-122"/>
                <a:cs typeface="Manrope" pitchFamily="34" charset="-120"/>
              </a:rPr>
              <a:t>Home water-efficiency visits</a:t>
            </a:r>
            <a:endParaRPr lang="en-US" sz="1200" dirty="0"/>
          </a:p>
          <a:p>
            <a:pPr marL="177800" indent="-177800">
              <a:lnSpc>
                <a:spcPct val="116000"/>
              </a:lnSpc>
              <a:spcAft>
                <a:spcPts val="700"/>
              </a:spcAft>
              <a:buSzPct val="100000"/>
              <a:buChar char="•"/>
            </a:pPr>
            <a:r>
              <a:rPr lang="en-US" sz="1200" dirty="0">
                <a:solidFill>
                  <a:srgbClr val="40424D"/>
                </a:solidFill>
                <a:latin typeface="Manrope" pitchFamily="34" charset="0"/>
                <a:ea typeface="Manrope" pitchFamily="34" charset="-122"/>
                <a:cs typeface="Manrope" pitchFamily="34" charset="-120"/>
              </a:rPr>
              <a:t>Workplace assessments</a:t>
            </a:r>
            <a:endParaRPr lang="en-US" sz="1200" dirty="0"/>
          </a:p>
          <a:p>
            <a:pPr marL="177800" indent="-177800">
              <a:lnSpc>
                <a:spcPct val="116000"/>
              </a:lnSpc>
              <a:spcAft>
                <a:spcPts val="700"/>
              </a:spcAft>
              <a:buSzPct val="100000"/>
              <a:buChar char="•"/>
            </a:pPr>
            <a:r>
              <a:rPr lang="en-US" sz="1200" dirty="0">
                <a:solidFill>
                  <a:srgbClr val="40424D"/>
                </a:solidFill>
                <a:latin typeface="Manrope" pitchFamily="34" charset="0"/>
                <a:ea typeface="Manrope" pitchFamily="34" charset="-122"/>
                <a:cs typeface="Manrope" pitchFamily="34" charset="-120"/>
              </a:rPr>
              <a:t>Water-saving products for homes and businesses</a:t>
            </a:r>
            <a:endParaRPr lang="en-US" sz="1200" dirty="0"/>
          </a:p>
        </p:txBody>
      </p:sp>
      <p:sp>
        <p:nvSpPr>
          <p:cNvPr id="12" name="Shape 10"/>
          <p:cNvSpPr/>
          <p:nvPr/>
        </p:nvSpPr>
        <p:spPr>
          <a:xfrm>
            <a:off x="8083296" y="1828800"/>
            <a:ext cx="3456432" cy="3931920"/>
          </a:xfrm>
          <a:prstGeom prst="roundRect">
            <a:avLst>
              <a:gd name="adj" fmla="val 2381"/>
            </a:avLst>
          </a:prstGeom>
          <a:solidFill>
            <a:srgbClr val="EDEFF7"/>
          </a:solidFill>
          <a:ln/>
        </p:spPr>
        <p:txBody>
          <a:bodyPr/>
          <a:lstStyle/>
          <a:p>
            <a:endParaRPr lang="en-US"/>
          </a:p>
        </p:txBody>
      </p:sp>
      <p:sp>
        <p:nvSpPr>
          <p:cNvPr id="13" name="Text 11"/>
          <p:cNvSpPr/>
          <p:nvPr/>
        </p:nvSpPr>
        <p:spPr>
          <a:xfrm>
            <a:off x="8375904" y="2084832"/>
            <a:ext cx="2926080" cy="411480"/>
          </a:xfrm>
          <a:prstGeom prst="rect">
            <a:avLst/>
          </a:prstGeom>
          <a:noFill/>
          <a:ln/>
        </p:spPr>
        <p:txBody>
          <a:bodyPr wrap="square" lIns="0" tIns="0" rIns="0" bIns="0" rtlCol="0" anchor="ctr"/>
          <a:lstStyle/>
          <a:p>
            <a:pPr marL="0" indent="0">
              <a:buNone/>
            </a:pPr>
            <a:r>
              <a:rPr lang="en-US" sz="1550" b="1" dirty="0">
                <a:solidFill>
                  <a:srgbClr val="00B6DB"/>
                </a:solidFill>
                <a:latin typeface="Manrope" pitchFamily="34" charset="0"/>
                <a:ea typeface="Manrope" pitchFamily="34" charset="-122"/>
                <a:cs typeface="Manrope" pitchFamily="34" charset="-120"/>
              </a:rPr>
              <a:t>Intelligence</a:t>
            </a:r>
            <a:endParaRPr lang="en-US" sz="1550" dirty="0"/>
          </a:p>
        </p:txBody>
      </p:sp>
      <p:sp>
        <p:nvSpPr>
          <p:cNvPr id="14" name="Shape 12"/>
          <p:cNvSpPr/>
          <p:nvPr/>
        </p:nvSpPr>
        <p:spPr>
          <a:xfrm>
            <a:off x="8375904" y="2542032"/>
            <a:ext cx="914400" cy="27432"/>
          </a:xfrm>
          <a:prstGeom prst="rect">
            <a:avLst/>
          </a:prstGeom>
          <a:solidFill>
            <a:srgbClr val="D3D6E0"/>
          </a:solidFill>
          <a:ln/>
        </p:spPr>
        <p:txBody>
          <a:bodyPr/>
          <a:lstStyle/>
          <a:p>
            <a:endParaRPr lang="en-US"/>
          </a:p>
        </p:txBody>
      </p:sp>
      <p:sp>
        <p:nvSpPr>
          <p:cNvPr id="15" name="Text 13"/>
          <p:cNvSpPr/>
          <p:nvPr/>
        </p:nvSpPr>
        <p:spPr>
          <a:xfrm>
            <a:off x="8375904" y="2697480"/>
            <a:ext cx="2907792" cy="2926080"/>
          </a:xfrm>
          <a:prstGeom prst="rect">
            <a:avLst/>
          </a:prstGeom>
          <a:noFill/>
          <a:ln/>
        </p:spPr>
        <p:txBody>
          <a:bodyPr wrap="square" lIns="0" tIns="0" rIns="0" bIns="0" rtlCol="0" anchor="t"/>
          <a:lstStyle/>
          <a:p>
            <a:pPr marL="177800" indent="-177800">
              <a:lnSpc>
                <a:spcPct val="116000"/>
              </a:lnSpc>
              <a:spcAft>
                <a:spcPts val="700"/>
              </a:spcAft>
              <a:buSzPct val="100000"/>
              <a:buChar char="•"/>
            </a:pPr>
            <a:r>
              <a:rPr lang="en-US" sz="1200" dirty="0">
                <a:solidFill>
                  <a:srgbClr val="40424D"/>
                </a:solidFill>
                <a:latin typeface="Manrope" pitchFamily="34" charset="0"/>
                <a:ea typeface="Manrope" pitchFamily="34" charset="-122"/>
                <a:cs typeface="Manrope" pitchFamily="34" charset="-120"/>
              </a:rPr>
              <a:t>Digital infrastructure</a:t>
            </a:r>
            <a:endParaRPr lang="en-US" sz="1200" dirty="0"/>
          </a:p>
          <a:p>
            <a:pPr marL="177800" indent="-177800">
              <a:lnSpc>
                <a:spcPct val="116000"/>
              </a:lnSpc>
              <a:spcAft>
                <a:spcPts val="700"/>
              </a:spcAft>
              <a:buSzPct val="100000"/>
              <a:buChar char="•"/>
            </a:pPr>
            <a:r>
              <a:rPr lang="en-US" sz="1200" dirty="0">
                <a:solidFill>
                  <a:srgbClr val="40424D"/>
                </a:solidFill>
                <a:latin typeface="Manrope" pitchFamily="34" charset="0"/>
                <a:ea typeface="Manrope" pitchFamily="34" charset="-122"/>
                <a:cs typeface="Manrope" pitchFamily="34" charset="-120"/>
              </a:rPr>
              <a:t>Communications</a:t>
            </a:r>
            <a:endParaRPr lang="en-US" sz="1200" dirty="0"/>
          </a:p>
          <a:p>
            <a:pPr marL="177800" indent="-177800">
              <a:lnSpc>
                <a:spcPct val="116000"/>
              </a:lnSpc>
              <a:spcAft>
                <a:spcPts val="700"/>
              </a:spcAft>
              <a:buSzPct val="100000"/>
              <a:buChar char="•"/>
            </a:pPr>
            <a:r>
              <a:rPr lang="en-US" sz="1200" dirty="0">
                <a:solidFill>
                  <a:srgbClr val="40424D"/>
                </a:solidFill>
                <a:latin typeface="Manrope" pitchFamily="34" charset="0"/>
                <a:ea typeface="Manrope" pitchFamily="34" charset="-122"/>
                <a:cs typeface="Manrope" pitchFamily="34" charset="-120"/>
              </a:rPr>
              <a:t>AI-led analysis to show where to act first</a:t>
            </a:r>
            <a:endParaRPr lang="en-US" sz="1200" dirty="0"/>
          </a:p>
        </p:txBody>
      </p:sp>
      <p:pic>
        <p:nvPicPr>
          <p:cNvPr id="16" name="Image 0" descr="/home/claude/deck/img/mark.png"/>
          <p:cNvPicPr>
            <a:picLocks noChangeAspect="1"/>
          </p:cNvPicPr>
          <p:nvPr/>
        </p:nvPicPr>
        <p:blipFill>
          <a:blip r:embed="rId3"/>
          <a:stretch>
            <a:fillRect/>
          </a:stretch>
        </p:blipFill>
        <p:spPr>
          <a:xfrm>
            <a:off x="640080" y="6364224"/>
            <a:ext cx="274320" cy="274320"/>
          </a:xfrm>
          <a:prstGeom prst="rect">
            <a:avLst/>
          </a:prstGeom>
        </p:spPr>
      </p:pic>
      <p:sp>
        <p:nvSpPr>
          <p:cNvPr id="17" name="Text 14"/>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18" name="Text 15"/>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19" name="Text 16"/>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04  ·  METHODOLOGY AND PROOF</a:t>
            </a:r>
            <a:endParaRPr lang="en-US" sz="1100" dirty="0"/>
          </a:p>
        </p:txBody>
      </p:sp>
      <p:sp>
        <p:nvSpPr>
          <p:cNvPr id="3" name="Text 1"/>
          <p:cNvSpPr/>
          <p:nvPr/>
        </p:nvSpPr>
        <p:spPr>
          <a:xfrm>
            <a:off x="640080" y="676656"/>
            <a:ext cx="10911535"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How we find and reduce loss</a:t>
            </a:r>
            <a:endParaRPr lang="en-US" sz="2800" dirty="0"/>
          </a:p>
        </p:txBody>
      </p:sp>
      <p:sp>
        <p:nvSpPr>
          <p:cNvPr id="4" name="Shape 2"/>
          <p:cNvSpPr/>
          <p:nvPr/>
        </p:nvSpPr>
        <p:spPr>
          <a:xfrm>
            <a:off x="640080" y="1965960"/>
            <a:ext cx="2522144" cy="3566160"/>
          </a:xfrm>
          <a:prstGeom prst="roundRect">
            <a:avLst>
              <a:gd name="adj" fmla="val 3263"/>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txBody>
          <a:bodyPr/>
          <a:lstStyle/>
          <a:p>
            <a:endParaRPr lang="en-US"/>
          </a:p>
        </p:txBody>
      </p:sp>
      <p:sp>
        <p:nvSpPr>
          <p:cNvPr id="5" name="Shape 3"/>
          <p:cNvSpPr/>
          <p:nvPr/>
        </p:nvSpPr>
        <p:spPr>
          <a:xfrm>
            <a:off x="1005840" y="2331720"/>
            <a:ext cx="822960" cy="822960"/>
          </a:xfrm>
          <a:prstGeom prst="ellipse">
            <a:avLst/>
          </a:prstGeom>
          <a:solidFill>
            <a:srgbClr val="00B6D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207008" y="2532888"/>
            <a:ext cx="420624" cy="420624"/>
          </a:xfrm>
          <a:prstGeom prst="rect">
            <a:avLst/>
          </a:prstGeom>
        </p:spPr>
      </p:pic>
      <p:sp>
        <p:nvSpPr>
          <p:cNvPr id="7" name="Text 4"/>
          <p:cNvSpPr/>
          <p:nvPr/>
        </p:nvSpPr>
        <p:spPr>
          <a:xfrm>
            <a:off x="1005840" y="3291840"/>
            <a:ext cx="1790624" cy="457200"/>
          </a:xfrm>
          <a:prstGeom prst="rect">
            <a:avLst/>
          </a:prstGeom>
          <a:noFill/>
          <a:ln/>
        </p:spPr>
        <p:txBody>
          <a:bodyPr wrap="square" lIns="0" tIns="0" rIns="0" bIns="0" rtlCol="0" anchor="ctr"/>
          <a:lstStyle/>
          <a:p>
            <a:pPr marL="0" indent="0">
              <a:lnSpc>
                <a:spcPct val="103000"/>
              </a:lnSpc>
              <a:buNone/>
            </a:pPr>
            <a:r>
              <a:rPr lang="en-US" sz="1700" b="1" dirty="0">
                <a:solidFill>
                  <a:srgbClr val="0C2C3A"/>
                </a:solidFill>
                <a:latin typeface="Manrope" pitchFamily="34" charset="0"/>
                <a:ea typeface="Manrope" pitchFamily="34" charset="-122"/>
                <a:cs typeface="Manrope" pitchFamily="34" charset="-120"/>
              </a:rPr>
              <a:t>Survey</a:t>
            </a:r>
            <a:endParaRPr lang="en-US" sz="1700" dirty="0"/>
          </a:p>
        </p:txBody>
      </p:sp>
      <p:sp>
        <p:nvSpPr>
          <p:cNvPr id="8" name="Text 5"/>
          <p:cNvSpPr/>
          <p:nvPr/>
        </p:nvSpPr>
        <p:spPr>
          <a:xfrm>
            <a:off x="1005840" y="3803904"/>
            <a:ext cx="1790624" cy="1600200"/>
          </a:xfrm>
          <a:prstGeom prst="rect">
            <a:avLst/>
          </a:prstGeom>
          <a:noFill/>
          <a:ln/>
        </p:spPr>
        <p:txBody>
          <a:bodyPr wrap="square" lIns="0" tIns="0" rIns="0" bIns="0" rtlCol="0" anchor="ctr"/>
          <a:lstStyle/>
          <a:p>
            <a:pPr marL="0" indent="0">
              <a:lnSpc>
                <a:spcPct val="116000"/>
              </a:lnSpc>
              <a:buNone/>
            </a:pPr>
            <a:r>
              <a:rPr lang="en-US" sz="1200" dirty="0">
                <a:solidFill>
                  <a:srgbClr val="6E7180"/>
                </a:solidFill>
                <a:latin typeface="Manrope" pitchFamily="34" charset="0"/>
                <a:ea typeface="Manrope" pitchFamily="34" charset="-122"/>
                <a:cs typeface="Manrope" pitchFamily="34" charset="-120"/>
              </a:rPr>
              <a:t>Acoustic surveying across the network, collecting more than 250 data points per shift to find points of interest.</a:t>
            </a:r>
            <a:endParaRPr lang="en-US" sz="1200" dirty="0"/>
          </a:p>
        </p:txBody>
      </p:sp>
      <p:sp>
        <p:nvSpPr>
          <p:cNvPr id="9" name="Shape 6"/>
          <p:cNvSpPr/>
          <p:nvPr/>
        </p:nvSpPr>
        <p:spPr>
          <a:xfrm>
            <a:off x="3436544" y="1965960"/>
            <a:ext cx="2522144" cy="3566160"/>
          </a:xfrm>
          <a:prstGeom prst="roundRect">
            <a:avLst>
              <a:gd name="adj" fmla="val 3263"/>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txBody>
          <a:bodyPr/>
          <a:lstStyle/>
          <a:p>
            <a:endParaRPr lang="en-US"/>
          </a:p>
        </p:txBody>
      </p:sp>
      <p:sp>
        <p:nvSpPr>
          <p:cNvPr id="10" name="Shape 7"/>
          <p:cNvSpPr/>
          <p:nvPr/>
        </p:nvSpPr>
        <p:spPr>
          <a:xfrm>
            <a:off x="3802304" y="2331720"/>
            <a:ext cx="822960" cy="822960"/>
          </a:xfrm>
          <a:prstGeom prst="ellipse">
            <a:avLst/>
          </a:prstGeom>
          <a:solidFill>
            <a:srgbClr val="00B6DB"/>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003472" y="2532888"/>
            <a:ext cx="420624" cy="420624"/>
          </a:xfrm>
          <a:prstGeom prst="rect">
            <a:avLst/>
          </a:prstGeom>
        </p:spPr>
      </p:pic>
      <p:sp>
        <p:nvSpPr>
          <p:cNvPr id="12" name="Text 8"/>
          <p:cNvSpPr/>
          <p:nvPr/>
        </p:nvSpPr>
        <p:spPr>
          <a:xfrm>
            <a:off x="3802304" y="3291840"/>
            <a:ext cx="1790624" cy="457200"/>
          </a:xfrm>
          <a:prstGeom prst="rect">
            <a:avLst/>
          </a:prstGeom>
          <a:noFill/>
          <a:ln/>
        </p:spPr>
        <p:txBody>
          <a:bodyPr wrap="square" lIns="0" tIns="0" rIns="0" bIns="0" rtlCol="0" anchor="ctr"/>
          <a:lstStyle/>
          <a:p>
            <a:pPr marL="0" indent="0">
              <a:lnSpc>
                <a:spcPct val="103000"/>
              </a:lnSpc>
              <a:buNone/>
            </a:pPr>
            <a:r>
              <a:rPr lang="en-US" sz="1700" b="1" dirty="0">
                <a:solidFill>
                  <a:srgbClr val="0C2C3A"/>
                </a:solidFill>
                <a:latin typeface="Manrope" pitchFamily="34" charset="0"/>
                <a:ea typeface="Manrope" pitchFamily="34" charset="-122"/>
                <a:cs typeface="Manrope" pitchFamily="34" charset="-120"/>
              </a:rPr>
              <a:t>Detect</a:t>
            </a:r>
            <a:endParaRPr lang="en-US" sz="1700" dirty="0"/>
          </a:p>
        </p:txBody>
      </p:sp>
      <p:sp>
        <p:nvSpPr>
          <p:cNvPr id="13" name="Text 9"/>
          <p:cNvSpPr/>
          <p:nvPr/>
        </p:nvSpPr>
        <p:spPr>
          <a:xfrm>
            <a:off x="3802304" y="3803904"/>
            <a:ext cx="1790624" cy="1600200"/>
          </a:xfrm>
          <a:prstGeom prst="rect">
            <a:avLst/>
          </a:prstGeom>
          <a:noFill/>
          <a:ln/>
        </p:spPr>
        <p:txBody>
          <a:bodyPr wrap="square" lIns="0" tIns="0" rIns="0" bIns="0" rtlCol="0" anchor="ctr"/>
          <a:lstStyle/>
          <a:p>
            <a:pPr marL="0" indent="0">
              <a:lnSpc>
                <a:spcPct val="116000"/>
              </a:lnSpc>
              <a:buNone/>
            </a:pPr>
            <a:r>
              <a:rPr lang="en-US" sz="1200" dirty="0">
                <a:solidFill>
                  <a:srgbClr val="6E7180"/>
                </a:solidFill>
                <a:latin typeface="Manrope" pitchFamily="34" charset="0"/>
                <a:ea typeface="Manrope" pitchFamily="34" charset="-122"/>
                <a:cs typeface="Manrope" pitchFamily="34" charset="-120"/>
              </a:rPr>
              <a:t>Acoustic logging deployed at pace, 50 to 60 noise loggers per shift covering around 1,000 properties.</a:t>
            </a:r>
            <a:endParaRPr lang="en-US" sz="1200" dirty="0"/>
          </a:p>
        </p:txBody>
      </p:sp>
      <p:sp>
        <p:nvSpPr>
          <p:cNvPr id="14" name="Shape 10"/>
          <p:cNvSpPr/>
          <p:nvPr/>
        </p:nvSpPr>
        <p:spPr>
          <a:xfrm>
            <a:off x="6233008" y="1965960"/>
            <a:ext cx="2522144" cy="3566160"/>
          </a:xfrm>
          <a:prstGeom prst="roundRect">
            <a:avLst>
              <a:gd name="adj" fmla="val 3263"/>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txBody>
          <a:bodyPr/>
          <a:lstStyle/>
          <a:p>
            <a:endParaRPr lang="en-US"/>
          </a:p>
        </p:txBody>
      </p:sp>
      <p:sp>
        <p:nvSpPr>
          <p:cNvPr id="15" name="Shape 11"/>
          <p:cNvSpPr/>
          <p:nvPr/>
        </p:nvSpPr>
        <p:spPr>
          <a:xfrm>
            <a:off x="6598768" y="2331720"/>
            <a:ext cx="822960" cy="822960"/>
          </a:xfrm>
          <a:prstGeom prst="ellipse">
            <a:avLst/>
          </a:prstGeom>
          <a:solidFill>
            <a:srgbClr val="00B6DB"/>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6799936" y="2532888"/>
            <a:ext cx="420624" cy="420624"/>
          </a:xfrm>
          <a:prstGeom prst="rect">
            <a:avLst/>
          </a:prstGeom>
        </p:spPr>
      </p:pic>
      <p:sp>
        <p:nvSpPr>
          <p:cNvPr id="17" name="Text 12"/>
          <p:cNvSpPr/>
          <p:nvPr/>
        </p:nvSpPr>
        <p:spPr>
          <a:xfrm>
            <a:off x="6598768" y="3291840"/>
            <a:ext cx="1790624" cy="457200"/>
          </a:xfrm>
          <a:prstGeom prst="rect">
            <a:avLst/>
          </a:prstGeom>
          <a:noFill/>
          <a:ln/>
        </p:spPr>
        <p:txBody>
          <a:bodyPr wrap="square" lIns="0" tIns="0" rIns="0" bIns="0" rtlCol="0" anchor="ctr"/>
          <a:lstStyle/>
          <a:p>
            <a:pPr marL="0" indent="0">
              <a:lnSpc>
                <a:spcPct val="103000"/>
              </a:lnSpc>
              <a:buNone/>
            </a:pPr>
            <a:r>
              <a:rPr lang="en-US" sz="1700" b="1" dirty="0">
                <a:solidFill>
                  <a:srgbClr val="0C2C3A"/>
                </a:solidFill>
                <a:latin typeface="Manrope" pitchFamily="34" charset="0"/>
                <a:ea typeface="Manrope" pitchFamily="34" charset="-122"/>
                <a:cs typeface="Manrope" pitchFamily="34" charset="-120"/>
              </a:rPr>
              <a:t>Analyse</a:t>
            </a:r>
            <a:endParaRPr lang="en-US" sz="1700" dirty="0"/>
          </a:p>
        </p:txBody>
      </p:sp>
      <p:sp>
        <p:nvSpPr>
          <p:cNvPr id="18" name="Text 13"/>
          <p:cNvSpPr/>
          <p:nvPr/>
        </p:nvSpPr>
        <p:spPr>
          <a:xfrm>
            <a:off x="6598768" y="3803904"/>
            <a:ext cx="1790624" cy="1600200"/>
          </a:xfrm>
          <a:prstGeom prst="rect">
            <a:avLst/>
          </a:prstGeom>
          <a:noFill/>
          <a:ln/>
        </p:spPr>
        <p:txBody>
          <a:bodyPr wrap="square" lIns="0" tIns="0" rIns="0" bIns="0" rtlCol="0" anchor="ctr"/>
          <a:lstStyle/>
          <a:p>
            <a:pPr marL="0" indent="0">
              <a:lnSpc>
                <a:spcPct val="116000"/>
              </a:lnSpc>
              <a:buNone/>
            </a:pPr>
            <a:r>
              <a:rPr lang="en-US" sz="1200" dirty="0">
                <a:solidFill>
                  <a:srgbClr val="6E7180"/>
                </a:solidFill>
                <a:latin typeface="Manrope" pitchFamily="34" charset="0"/>
                <a:ea typeface="Manrope" pitchFamily="34" charset="-122"/>
                <a:cs typeface="Manrope" pitchFamily="34" charset="-120"/>
              </a:rPr>
              <a:t>Forensic analysis of the data, typically within 24 hours, progressed for strategic investigation.</a:t>
            </a:r>
            <a:endParaRPr lang="en-US" sz="1200" dirty="0"/>
          </a:p>
        </p:txBody>
      </p:sp>
      <p:sp>
        <p:nvSpPr>
          <p:cNvPr id="19" name="Shape 14"/>
          <p:cNvSpPr/>
          <p:nvPr/>
        </p:nvSpPr>
        <p:spPr>
          <a:xfrm>
            <a:off x="9029471" y="1965960"/>
            <a:ext cx="2522144" cy="3566160"/>
          </a:xfrm>
          <a:prstGeom prst="roundRect">
            <a:avLst>
              <a:gd name="adj" fmla="val 3263"/>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txBody>
          <a:bodyPr/>
          <a:lstStyle/>
          <a:p>
            <a:endParaRPr lang="en-US"/>
          </a:p>
        </p:txBody>
      </p:sp>
      <p:sp>
        <p:nvSpPr>
          <p:cNvPr id="20" name="Shape 15"/>
          <p:cNvSpPr/>
          <p:nvPr/>
        </p:nvSpPr>
        <p:spPr>
          <a:xfrm>
            <a:off x="9395231" y="2331720"/>
            <a:ext cx="822960" cy="822960"/>
          </a:xfrm>
          <a:prstGeom prst="ellipse">
            <a:avLst/>
          </a:prstGeom>
          <a:solidFill>
            <a:srgbClr val="00B6DB"/>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9596399" y="2532888"/>
            <a:ext cx="420624" cy="420624"/>
          </a:xfrm>
          <a:prstGeom prst="rect">
            <a:avLst/>
          </a:prstGeom>
        </p:spPr>
      </p:pic>
      <p:sp>
        <p:nvSpPr>
          <p:cNvPr id="22" name="Text 16"/>
          <p:cNvSpPr/>
          <p:nvPr/>
        </p:nvSpPr>
        <p:spPr>
          <a:xfrm>
            <a:off x="9395231" y="3291840"/>
            <a:ext cx="1790624" cy="457200"/>
          </a:xfrm>
          <a:prstGeom prst="rect">
            <a:avLst/>
          </a:prstGeom>
          <a:noFill/>
          <a:ln/>
        </p:spPr>
        <p:txBody>
          <a:bodyPr wrap="square" lIns="0" tIns="0" rIns="0" bIns="0" rtlCol="0" anchor="ctr"/>
          <a:lstStyle/>
          <a:p>
            <a:pPr marL="0" indent="0">
              <a:lnSpc>
                <a:spcPct val="103000"/>
              </a:lnSpc>
              <a:buNone/>
            </a:pPr>
            <a:r>
              <a:rPr lang="en-US" sz="1700" b="1" dirty="0">
                <a:solidFill>
                  <a:srgbClr val="0C2C3A"/>
                </a:solidFill>
                <a:latin typeface="Manrope" pitchFamily="34" charset="0"/>
                <a:ea typeface="Manrope" pitchFamily="34" charset="-122"/>
                <a:cs typeface="Manrope" pitchFamily="34" charset="-120"/>
              </a:rPr>
              <a:t>Verify</a:t>
            </a:r>
            <a:endParaRPr lang="en-US" sz="1700" dirty="0"/>
          </a:p>
        </p:txBody>
      </p:sp>
      <p:sp>
        <p:nvSpPr>
          <p:cNvPr id="23" name="Text 17"/>
          <p:cNvSpPr/>
          <p:nvPr/>
        </p:nvSpPr>
        <p:spPr>
          <a:xfrm>
            <a:off x="9395231" y="3803904"/>
            <a:ext cx="1790624" cy="1600200"/>
          </a:xfrm>
          <a:prstGeom prst="rect">
            <a:avLst/>
          </a:prstGeom>
          <a:noFill/>
          <a:ln/>
        </p:spPr>
        <p:txBody>
          <a:bodyPr wrap="square" lIns="0" tIns="0" rIns="0" bIns="0" rtlCol="0" anchor="ctr"/>
          <a:lstStyle/>
          <a:p>
            <a:pPr marL="0" indent="0">
              <a:lnSpc>
                <a:spcPct val="116000"/>
              </a:lnSpc>
              <a:buNone/>
            </a:pPr>
            <a:r>
              <a:rPr lang="en-US" sz="1200" dirty="0">
                <a:solidFill>
                  <a:srgbClr val="6E7180"/>
                </a:solidFill>
                <a:latin typeface="Manrope" pitchFamily="34" charset="0"/>
                <a:ea typeface="Manrope" pitchFamily="34" charset="-122"/>
                <a:cs typeface="Manrope" pitchFamily="34" charset="-120"/>
              </a:rPr>
              <a:t>Verification on the ground, then repair and optimisation to hold the saving.</a:t>
            </a:r>
            <a:endParaRPr lang="en-US" sz="1200" dirty="0"/>
          </a:p>
        </p:txBody>
      </p:sp>
      <p:pic>
        <p:nvPicPr>
          <p:cNvPr id="24" name="Image 4" descr="/home/claude/deck/img/mark.png"/>
          <p:cNvPicPr>
            <a:picLocks noChangeAspect="1"/>
          </p:cNvPicPr>
          <p:nvPr/>
        </p:nvPicPr>
        <p:blipFill>
          <a:blip r:embed="rId7"/>
          <a:stretch>
            <a:fillRect/>
          </a:stretch>
        </p:blipFill>
        <p:spPr>
          <a:xfrm>
            <a:off x="640080" y="6364224"/>
            <a:ext cx="274320" cy="274320"/>
          </a:xfrm>
          <a:prstGeom prst="rect">
            <a:avLst/>
          </a:prstGeom>
        </p:spPr>
      </p:pic>
      <p:sp>
        <p:nvSpPr>
          <p:cNvPr id="25" name="Text 18"/>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26" name="Text 19"/>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27" name="Text 20"/>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04  ·  METHODOLOGY AND PROOF</a:t>
            </a:r>
            <a:endParaRPr lang="en-US" sz="1100" dirty="0"/>
          </a:p>
        </p:txBody>
      </p:sp>
      <p:sp>
        <p:nvSpPr>
          <p:cNvPr id="3" name="Text 1"/>
          <p:cNvSpPr/>
          <p:nvPr/>
        </p:nvSpPr>
        <p:spPr>
          <a:xfrm>
            <a:off x="640080" y="676656"/>
            <a:ext cx="10911535"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Survey and detection methodology</a:t>
            </a:r>
            <a:endParaRPr lang="en-US" sz="2800" dirty="0"/>
          </a:p>
        </p:txBody>
      </p:sp>
      <p:sp>
        <p:nvSpPr>
          <p:cNvPr id="4" name="Shape 2"/>
          <p:cNvSpPr/>
          <p:nvPr/>
        </p:nvSpPr>
        <p:spPr>
          <a:xfrm>
            <a:off x="640080" y="1691640"/>
            <a:ext cx="5330952" cy="3611880"/>
          </a:xfrm>
          <a:prstGeom prst="roundRect">
            <a:avLst>
              <a:gd name="adj" fmla="val 2278"/>
            </a:avLst>
          </a:prstGeom>
          <a:solidFill>
            <a:srgbClr val="EDEFF7"/>
          </a:solidFill>
          <a:ln/>
        </p:spPr>
        <p:txBody>
          <a:bodyPr/>
          <a:lstStyle/>
          <a:p>
            <a:endParaRPr lang="en-US"/>
          </a:p>
        </p:txBody>
      </p:sp>
      <p:sp>
        <p:nvSpPr>
          <p:cNvPr id="5" name="Text 3"/>
          <p:cNvSpPr/>
          <p:nvPr/>
        </p:nvSpPr>
        <p:spPr>
          <a:xfrm>
            <a:off x="932688" y="1938528"/>
            <a:ext cx="4754880" cy="365760"/>
          </a:xfrm>
          <a:prstGeom prst="rect">
            <a:avLst/>
          </a:prstGeom>
          <a:noFill/>
          <a:ln/>
        </p:spPr>
        <p:txBody>
          <a:bodyPr wrap="square" lIns="0" tIns="0" rIns="0" bIns="0" rtlCol="0" anchor="ctr"/>
          <a:lstStyle/>
          <a:p>
            <a:pPr marL="0" indent="0">
              <a:buNone/>
            </a:pPr>
            <a:r>
              <a:rPr lang="en-US" sz="1500" b="1" dirty="0">
                <a:solidFill>
                  <a:srgbClr val="00B6DB"/>
                </a:solidFill>
                <a:latin typeface="Manrope" pitchFamily="34" charset="0"/>
                <a:ea typeface="Manrope" pitchFamily="34" charset="-122"/>
                <a:cs typeface="Manrope" pitchFamily="34" charset="-120"/>
              </a:rPr>
              <a:t>Acoustic surveying</a:t>
            </a:r>
            <a:endParaRPr lang="en-US" sz="1500" dirty="0"/>
          </a:p>
        </p:txBody>
      </p:sp>
      <p:sp>
        <p:nvSpPr>
          <p:cNvPr id="6" name="Text 4"/>
          <p:cNvSpPr/>
          <p:nvPr/>
        </p:nvSpPr>
        <p:spPr>
          <a:xfrm>
            <a:off x="932688" y="2377440"/>
            <a:ext cx="4800600" cy="2743200"/>
          </a:xfrm>
          <a:prstGeom prst="rect">
            <a:avLst/>
          </a:prstGeom>
          <a:noFill/>
          <a:ln/>
        </p:spPr>
        <p:txBody>
          <a:bodyPr wrap="square" lIns="0" tIns="0" rIns="0" bIns="0" rtlCol="0" anchor="ctr"/>
          <a:lstStyle/>
          <a:p>
            <a:pPr marL="0" indent="0">
              <a:lnSpc>
                <a:spcPct val="122000"/>
              </a:lnSpc>
              <a:buNone/>
            </a:pPr>
            <a:r>
              <a:rPr lang="en-US" sz="1250" dirty="0">
                <a:solidFill>
                  <a:srgbClr val="40424D"/>
                </a:solidFill>
                <a:latin typeface="Manrope" pitchFamily="34" charset="0"/>
                <a:ea typeface="Manrope" pitchFamily="34" charset="-122"/>
                <a:cs typeface="Manrope" pitchFamily="34" charset="-120"/>
              </a:rPr>
              <a:t>Forensic investigation of the DMA through acoustic data collection. Technicians collate in excess of 250 data points per shift, with full verification of the area, including stop taps, boundary valves, customer meters, service pipes, fire hydrants and washouts. Analysis is completed within 24 hours and progressed for strategic investigation.</a:t>
            </a:r>
            <a:endParaRPr lang="en-US" sz="1250" dirty="0"/>
          </a:p>
        </p:txBody>
      </p:sp>
      <p:sp>
        <p:nvSpPr>
          <p:cNvPr id="7" name="Shape 5"/>
          <p:cNvSpPr/>
          <p:nvPr/>
        </p:nvSpPr>
        <p:spPr>
          <a:xfrm>
            <a:off x="6217920" y="1691640"/>
            <a:ext cx="5330952" cy="3611880"/>
          </a:xfrm>
          <a:prstGeom prst="roundRect">
            <a:avLst>
              <a:gd name="adj" fmla="val 2278"/>
            </a:avLst>
          </a:prstGeom>
          <a:solidFill>
            <a:srgbClr val="EDEFF7"/>
          </a:solidFill>
          <a:ln/>
        </p:spPr>
        <p:txBody>
          <a:bodyPr/>
          <a:lstStyle/>
          <a:p>
            <a:endParaRPr lang="en-US"/>
          </a:p>
        </p:txBody>
      </p:sp>
      <p:sp>
        <p:nvSpPr>
          <p:cNvPr id="8" name="Text 6"/>
          <p:cNvSpPr/>
          <p:nvPr/>
        </p:nvSpPr>
        <p:spPr>
          <a:xfrm>
            <a:off x="6510528" y="1938528"/>
            <a:ext cx="4754880" cy="365760"/>
          </a:xfrm>
          <a:prstGeom prst="rect">
            <a:avLst/>
          </a:prstGeom>
          <a:noFill/>
          <a:ln/>
        </p:spPr>
        <p:txBody>
          <a:bodyPr wrap="square" lIns="0" tIns="0" rIns="0" bIns="0" rtlCol="0" anchor="ctr"/>
          <a:lstStyle/>
          <a:p>
            <a:pPr marL="0" indent="0">
              <a:buNone/>
            </a:pPr>
            <a:r>
              <a:rPr lang="en-US" sz="1500" b="1" dirty="0">
                <a:solidFill>
                  <a:srgbClr val="00B6DB"/>
                </a:solidFill>
                <a:latin typeface="Manrope" pitchFamily="34" charset="0"/>
                <a:ea typeface="Manrope" pitchFamily="34" charset="-122"/>
                <a:cs typeface="Manrope" pitchFamily="34" charset="-120"/>
              </a:rPr>
              <a:t>Acoustic logging: lift and shift</a:t>
            </a:r>
            <a:endParaRPr lang="en-US" sz="1500" dirty="0"/>
          </a:p>
        </p:txBody>
      </p:sp>
      <p:sp>
        <p:nvSpPr>
          <p:cNvPr id="9" name="Text 7"/>
          <p:cNvSpPr/>
          <p:nvPr/>
        </p:nvSpPr>
        <p:spPr>
          <a:xfrm>
            <a:off x="6510528" y="2377440"/>
            <a:ext cx="4800600" cy="2743200"/>
          </a:xfrm>
          <a:prstGeom prst="rect">
            <a:avLst/>
          </a:prstGeom>
          <a:noFill/>
          <a:ln/>
        </p:spPr>
        <p:txBody>
          <a:bodyPr wrap="square" lIns="0" tIns="0" rIns="0" bIns="0" rtlCol="0" anchor="ctr"/>
          <a:lstStyle/>
          <a:p>
            <a:pPr marL="0" indent="0">
              <a:lnSpc>
                <a:spcPct val="122000"/>
              </a:lnSpc>
              <a:buNone/>
            </a:pPr>
            <a:r>
              <a:rPr lang="en-US" sz="1250" dirty="0">
                <a:solidFill>
                  <a:srgbClr val="40424D"/>
                </a:solidFill>
                <a:latin typeface="Manrope" pitchFamily="34" charset="0"/>
                <a:ea typeface="Manrope" pitchFamily="34" charset="-122"/>
                <a:cs typeface="Manrope" pitchFamily="34" charset="-120"/>
              </a:rPr>
              <a:t>Reduced survey time using noise logger technology. A technician deploys 50 to 60 loggers per shift, covering around 1,000 properties. Loggers are left in underground chambers to record overnight, then collected and downloaded the following day for analysis.</a:t>
            </a:r>
            <a:endParaRPr lang="en-US" sz="1250" dirty="0"/>
          </a:p>
        </p:txBody>
      </p:sp>
      <p:sp>
        <p:nvSpPr>
          <p:cNvPr id="10" name="Text 8"/>
          <p:cNvSpPr/>
          <p:nvPr/>
        </p:nvSpPr>
        <p:spPr>
          <a:xfrm>
            <a:off x="640080" y="5440680"/>
            <a:ext cx="10515600" cy="365760"/>
          </a:xfrm>
          <a:prstGeom prst="rect">
            <a:avLst/>
          </a:prstGeom>
          <a:noFill/>
          <a:ln/>
        </p:spPr>
        <p:txBody>
          <a:bodyPr wrap="square" lIns="0" tIns="0" rIns="0" bIns="0" rtlCol="0" anchor="ctr"/>
          <a:lstStyle/>
          <a:p>
            <a:pPr marL="0" indent="0">
              <a:buNone/>
            </a:pPr>
            <a:r>
              <a:rPr lang="en-US" sz="1250" i="1" dirty="0">
                <a:solidFill>
                  <a:srgbClr val="6E7180"/>
                </a:solidFill>
                <a:latin typeface="Manrope" pitchFamily="34" charset="0"/>
                <a:ea typeface="Manrope" pitchFamily="34" charset="-122"/>
                <a:cs typeface="Manrope" pitchFamily="34" charset="-120"/>
              </a:rPr>
              <a:t>Real-time network visibility is provided through our Aquaint system.</a:t>
            </a:r>
            <a:endParaRPr lang="en-US" sz="1250" dirty="0"/>
          </a:p>
        </p:txBody>
      </p:sp>
      <p:pic>
        <p:nvPicPr>
          <p:cNvPr id="11" name="Image 0" descr="/home/claude/deck/img/mark.png"/>
          <p:cNvPicPr>
            <a:picLocks noChangeAspect="1"/>
          </p:cNvPicPr>
          <p:nvPr/>
        </p:nvPicPr>
        <p:blipFill>
          <a:blip r:embed="rId3"/>
          <a:stretch>
            <a:fillRect/>
          </a:stretch>
        </p:blipFill>
        <p:spPr>
          <a:xfrm>
            <a:off x="640080" y="6364224"/>
            <a:ext cx="274320" cy="274320"/>
          </a:xfrm>
          <a:prstGeom prst="rect">
            <a:avLst/>
          </a:prstGeom>
        </p:spPr>
      </p:pic>
      <p:sp>
        <p:nvSpPr>
          <p:cNvPr id="12" name="Text 9"/>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13" name="Text 10"/>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14" name="Text 11"/>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2C3A"/>
        </a:solidFill>
        <a:effectLst/>
      </p:bgPr>
    </p:bg>
    <p:spTree>
      <p:nvGrpSpPr>
        <p:cNvPr id="1" name=""/>
        <p:cNvGrpSpPr/>
        <p:nvPr/>
      </p:nvGrpSpPr>
      <p:grpSpPr>
        <a:xfrm>
          <a:off x="0" y="0"/>
          <a:ext cx="0" cy="0"/>
          <a:chOff x="0" y="0"/>
          <a:chExt cx="0" cy="0"/>
        </a:xfrm>
      </p:grpSpPr>
      <p:pic>
        <p:nvPicPr>
          <p:cNvPr id="2" name="Image 0" descr="/home/claude/deck/img/mark.png"/>
          <p:cNvPicPr>
            <a:picLocks noChangeAspect="1"/>
          </p:cNvPicPr>
          <p:nvPr/>
        </p:nvPicPr>
        <p:blipFill>
          <a:blip r:embed="rId3">
            <a:alphaModFix amt="12000"/>
          </a:blip>
          <a:stretch>
            <a:fillRect/>
          </a:stretch>
        </p:blipFill>
        <p:spPr>
          <a:xfrm>
            <a:off x="8869680" y="3108960"/>
            <a:ext cx="5120640" cy="5120640"/>
          </a:xfrm>
          <a:prstGeom prst="rect">
            <a:avLst/>
          </a:prstGeom>
        </p:spPr>
      </p:pic>
      <p:sp>
        <p:nvSpPr>
          <p:cNvPr id="3"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6AC2D8"/>
                </a:solidFill>
                <a:latin typeface="Manrope" pitchFamily="34" charset="0"/>
                <a:ea typeface="Manrope" pitchFamily="34" charset="-122"/>
                <a:cs typeface="Manrope" pitchFamily="34" charset="-120"/>
              </a:rPr>
              <a:t>04  ·  METHODOLOGY AND PROOF</a:t>
            </a:r>
            <a:endParaRPr lang="en-US" sz="1100" dirty="0"/>
          </a:p>
        </p:txBody>
      </p:sp>
      <p:sp>
        <p:nvSpPr>
          <p:cNvPr id="4" name="Text 1"/>
          <p:cNvSpPr/>
          <p:nvPr/>
        </p:nvSpPr>
        <p:spPr>
          <a:xfrm>
            <a:off x="640080" y="676656"/>
            <a:ext cx="10911535" cy="777240"/>
          </a:xfrm>
          <a:prstGeom prst="rect">
            <a:avLst/>
          </a:prstGeom>
          <a:noFill/>
          <a:ln/>
        </p:spPr>
        <p:txBody>
          <a:bodyPr wrap="square" lIns="0" tIns="0" rIns="0" bIns="0" rtlCol="0" anchor="ctr"/>
          <a:lstStyle/>
          <a:p>
            <a:pPr marL="0" indent="0">
              <a:buNone/>
            </a:pPr>
            <a:r>
              <a:rPr lang="en-US" sz="2800" b="1" dirty="0">
                <a:solidFill>
                  <a:srgbClr val="FFFFFF"/>
                </a:solidFill>
                <a:latin typeface="Manrope" pitchFamily="34" charset="0"/>
                <a:ea typeface="Manrope" pitchFamily="34" charset="-122"/>
                <a:cs typeface="Manrope" pitchFamily="34" charset="-120"/>
              </a:rPr>
              <a:t>Track record and proof</a:t>
            </a:r>
            <a:endParaRPr lang="en-US" sz="2800" dirty="0"/>
          </a:p>
        </p:txBody>
      </p:sp>
      <p:sp>
        <p:nvSpPr>
          <p:cNvPr id="5" name="Text 2"/>
          <p:cNvSpPr/>
          <p:nvPr/>
        </p:nvSpPr>
        <p:spPr>
          <a:xfrm>
            <a:off x="640080" y="2286000"/>
            <a:ext cx="2651760" cy="1005840"/>
          </a:xfrm>
          <a:prstGeom prst="rect">
            <a:avLst/>
          </a:prstGeom>
          <a:noFill/>
          <a:ln/>
        </p:spPr>
        <p:txBody>
          <a:bodyPr wrap="square" lIns="0" tIns="0" rIns="0" bIns="0" rtlCol="0" anchor="ctr"/>
          <a:lstStyle/>
          <a:p>
            <a:pPr marL="0" indent="0">
              <a:buNone/>
            </a:pPr>
            <a:r>
              <a:rPr lang="en-US" sz="5000" b="1" dirty="0">
                <a:solidFill>
                  <a:srgbClr val="00B6DB"/>
                </a:solidFill>
                <a:latin typeface="Manrope" pitchFamily="34" charset="0"/>
                <a:ea typeface="Manrope" pitchFamily="34" charset="-122"/>
                <a:cs typeface="Manrope" pitchFamily="34" charset="-120"/>
              </a:rPr>
              <a:t>90+</a:t>
            </a:r>
            <a:r>
              <a:rPr lang="en-US" sz="2000" b="1" dirty="0">
                <a:solidFill>
                  <a:srgbClr val="6AC2D8"/>
                </a:solidFill>
                <a:latin typeface="Manrope" pitchFamily="34" charset="0"/>
                <a:ea typeface="Manrope" pitchFamily="34" charset="-122"/>
                <a:cs typeface="Manrope" pitchFamily="34" charset="-120"/>
              </a:rPr>
              <a:t> Ml/d</a:t>
            </a:r>
            <a:endParaRPr lang="en-US" sz="5000" dirty="0"/>
          </a:p>
        </p:txBody>
      </p:sp>
      <p:sp>
        <p:nvSpPr>
          <p:cNvPr id="6" name="Text 3"/>
          <p:cNvSpPr/>
          <p:nvPr/>
        </p:nvSpPr>
        <p:spPr>
          <a:xfrm>
            <a:off x="640080" y="3429000"/>
            <a:ext cx="2468880" cy="1463040"/>
          </a:xfrm>
          <a:prstGeom prst="rect">
            <a:avLst/>
          </a:prstGeom>
          <a:noFill/>
          <a:ln/>
        </p:spPr>
        <p:txBody>
          <a:bodyPr wrap="square" lIns="0" tIns="0" rIns="0" bIns="0" rtlCol="0" anchor="ctr"/>
          <a:lstStyle/>
          <a:p>
            <a:pPr marL="0" indent="0">
              <a:lnSpc>
                <a:spcPct val="118000"/>
              </a:lnSpc>
              <a:buNone/>
            </a:pPr>
            <a:r>
              <a:rPr lang="en-US" sz="1350" dirty="0">
                <a:solidFill>
                  <a:srgbClr val="FFFFFF"/>
                </a:solidFill>
                <a:latin typeface="Manrope" pitchFamily="34" charset="0"/>
                <a:ea typeface="Manrope" pitchFamily="34" charset="-122"/>
                <a:cs typeface="Manrope" pitchFamily="34" charset="-120"/>
              </a:rPr>
              <a:t>leakage savings delivered in a single year</a:t>
            </a:r>
            <a:endParaRPr lang="en-US" sz="1350" dirty="0"/>
          </a:p>
        </p:txBody>
      </p:sp>
      <p:sp>
        <p:nvSpPr>
          <p:cNvPr id="7" name="Text 4"/>
          <p:cNvSpPr/>
          <p:nvPr/>
        </p:nvSpPr>
        <p:spPr>
          <a:xfrm>
            <a:off x="3429000" y="2286000"/>
            <a:ext cx="2651760" cy="1005840"/>
          </a:xfrm>
          <a:prstGeom prst="rect">
            <a:avLst/>
          </a:prstGeom>
          <a:noFill/>
          <a:ln/>
        </p:spPr>
        <p:txBody>
          <a:bodyPr wrap="square" lIns="0" tIns="0" rIns="0" bIns="0" rtlCol="0" anchor="ctr"/>
          <a:lstStyle/>
          <a:p>
            <a:pPr marL="0" indent="0">
              <a:buNone/>
            </a:pPr>
            <a:r>
              <a:rPr lang="en-US" sz="5000" b="1" dirty="0">
                <a:solidFill>
                  <a:srgbClr val="00B6DB"/>
                </a:solidFill>
                <a:latin typeface="Manrope" pitchFamily="34" charset="0"/>
                <a:ea typeface="Manrope" pitchFamily="34" charset="-122"/>
                <a:cs typeface="Manrope" pitchFamily="34" charset="-120"/>
              </a:rPr>
              <a:t>130k+</a:t>
            </a:r>
            <a:endParaRPr lang="en-US" sz="5000" dirty="0"/>
          </a:p>
        </p:txBody>
      </p:sp>
      <p:sp>
        <p:nvSpPr>
          <p:cNvPr id="8" name="Text 5"/>
          <p:cNvSpPr/>
          <p:nvPr/>
        </p:nvSpPr>
        <p:spPr>
          <a:xfrm>
            <a:off x="3429000" y="3429000"/>
            <a:ext cx="2468880" cy="1463040"/>
          </a:xfrm>
          <a:prstGeom prst="rect">
            <a:avLst/>
          </a:prstGeom>
          <a:noFill/>
          <a:ln/>
        </p:spPr>
        <p:txBody>
          <a:bodyPr wrap="square" lIns="0" tIns="0" rIns="0" bIns="0" rtlCol="0" anchor="ctr"/>
          <a:lstStyle/>
          <a:p>
            <a:pPr marL="0" indent="0">
              <a:lnSpc>
                <a:spcPct val="118000"/>
              </a:lnSpc>
              <a:buNone/>
            </a:pPr>
            <a:r>
              <a:rPr lang="en-US" sz="1350" dirty="0">
                <a:solidFill>
                  <a:srgbClr val="FFFFFF"/>
                </a:solidFill>
                <a:latin typeface="Manrope" pitchFamily="34" charset="0"/>
                <a:ea typeface="Manrope" pitchFamily="34" charset="-122"/>
                <a:cs typeface="Manrope" pitchFamily="34" charset="-120"/>
              </a:rPr>
              <a:t>smart meters installed across the group</a:t>
            </a:r>
            <a:endParaRPr lang="en-US" sz="1350" dirty="0"/>
          </a:p>
        </p:txBody>
      </p:sp>
      <p:sp>
        <p:nvSpPr>
          <p:cNvPr id="9" name="Text 6"/>
          <p:cNvSpPr/>
          <p:nvPr/>
        </p:nvSpPr>
        <p:spPr>
          <a:xfrm>
            <a:off x="6217920" y="2286000"/>
            <a:ext cx="2651760" cy="1005840"/>
          </a:xfrm>
          <a:prstGeom prst="rect">
            <a:avLst/>
          </a:prstGeom>
          <a:noFill/>
          <a:ln/>
        </p:spPr>
        <p:txBody>
          <a:bodyPr wrap="square" lIns="0" tIns="0" rIns="0" bIns="0" rtlCol="0" anchor="ctr"/>
          <a:lstStyle/>
          <a:p>
            <a:pPr marL="0" indent="0">
              <a:buNone/>
            </a:pPr>
            <a:r>
              <a:rPr lang="en-US" sz="5000" b="1" dirty="0">
                <a:solidFill>
                  <a:srgbClr val="00B6DB"/>
                </a:solidFill>
                <a:latin typeface="Manrope" pitchFamily="34" charset="0"/>
                <a:ea typeface="Manrope" pitchFamily="34" charset="-122"/>
                <a:cs typeface="Manrope" pitchFamily="34" charset="-120"/>
              </a:rPr>
              <a:t>200</a:t>
            </a:r>
            <a:endParaRPr lang="en-US" sz="5000" dirty="0"/>
          </a:p>
        </p:txBody>
      </p:sp>
      <p:sp>
        <p:nvSpPr>
          <p:cNvPr id="10" name="Text 7"/>
          <p:cNvSpPr/>
          <p:nvPr/>
        </p:nvSpPr>
        <p:spPr>
          <a:xfrm>
            <a:off x="6217920" y="3429000"/>
            <a:ext cx="2468880" cy="1463040"/>
          </a:xfrm>
          <a:prstGeom prst="rect">
            <a:avLst/>
          </a:prstGeom>
          <a:noFill/>
          <a:ln/>
        </p:spPr>
        <p:txBody>
          <a:bodyPr wrap="square" lIns="0" tIns="0" rIns="0" bIns="0" rtlCol="0" anchor="ctr"/>
          <a:lstStyle/>
          <a:p>
            <a:pPr marL="0" indent="0">
              <a:lnSpc>
                <a:spcPct val="118000"/>
              </a:lnSpc>
              <a:buNone/>
            </a:pPr>
            <a:r>
              <a:rPr lang="en-US" sz="1350" dirty="0">
                <a:solidFill>
                  <a:srgbClr val="FFFFFF"/>
                </a:solidFill>
                <a:latin typeface="Manrope" pitchFamily="34" charset="0"/>
                <a:ea typeface="Manrope" pitchFamily="34" charset="-122"/>
                <a:cs typeface="Manrope" pitchFamily="34" charset="-120"/>
              </a:rPr>
              <a:t>trained field personnel nationwide</a:t>
            </a:r>
            <a:endParaRPr lang="en-US" sz="1350" dirty="0"/>
          </a:p>
        </p:txBody>
      </p:sp>
      <p:sp>
        <p:nvSpPr>
          <p:cNvPr id="11" name="Text 8"/>
          <p:cNvSpPr/>
          <p:nvPr/>
        </p:nvSpPr>
        <p:spPr>
          <a:xfrm>
            <a:off x="9006840" y="2286000"/>
            <a:ext cx="2651760" cy="1005840"/>
          </a:xfrm>
          <a:prstGeom prst="rect">
            <a:avLst/>
          </a:prstGeom>
          <a:noFill/>
          <a:ln/>
        </p:spPr>
        <p:txBody>
          <a:bodyPr wrap="square" lIns="0" tIns="0" rIns="0" bIns="0" rtlCol="0" anchor="ctr"/>
          <a:lstStyle/>
          <a:p>
            <a:pPr marL="0" indent="0">
              <a:buNone/>
            </a:pPr>
            <a:r>
              <a:rPr lang="en-US" sz="5000" b="1" dirty="0">
                <a:solidFill>
                  <a:srgbClr val="00B6DB"/>
                </a:solidFill>
                <a:latin typeface="Manrope" pitchFamily="34" charset="0"/>
                <a:ea typeface="Manrope" pitchFamily="34" charset="-122"/>
                <a:cs typeface="Manrope" pitchFamily="34" charset="-120"/>
              </a:rPr>
              <a:t>4</a:t>
            </a:r>
            <a:r>
              <a:rPr lang="en-US" sz="2000" b="1" dirty="0">
                <a:solidFill>
                  <a:srgbClr val="6AC2D8"/>
                </a:solidFill>
                <a:latin typeface="Manrope" pitchFamily="34" charset="0"/>
                <a:ea typeface="Manrope" pitchFamily="34" charset="-122"/>
                <a:cs typeface="Manrope" pitchFamily="34" charset="-120"/>
              </a:rPr>
              <a:t> ISO</a:t>
            </a:r>
            <a:endParaRPr lang="en-US" sz="5000" dirty="0"/>
          </a:p>
        </p:txBody>
      </p:sp>
      <p:sp>
        <p:nvSpPr>
          <p:cNvPr id="12" name="Text 9"/>
          <p:cNvSpPr/>
          <p:nvPr/>
        </p:nvSpPr>
        <p:spPr>
          <a:xfrm>
            <a:off x="9006840" y="3429000"/>
            <a:ext cx="2468880" cy="1463040"/>
          </a:xfrm>
          <a:prstGeom prst="rect">
            <a:avLst/>
          </a:prstGeom>
          <a:noFill/>
          <a:ln/>
        </p:spPr>
        <p:txBody>
          <a:bodyPr wrap="square" lIns="0" tIns="0" rIns="0" bIns="0" rtlCol="0" anchor="ctr"/>
          <a:lstStyle/>
          <a:p>
            <a:pPr marL="0" indent="0">
              <a:lnSpc>
                <a:spcPct val="118000"/>
              </a:lnSpc>
              <a:buNone/>
            </a:pPr>
            <a:r>
              <a:rPr lang="en-US" sz="1350" dirty="0">
                <a:solidFill>
                  <a:srgbClr val="FFFFFF"/>
                </a:solidFill>
                <a:latin typeface="Manrope" pitchFamily="34" charset="0"/>
                <a:ea typeface="Manrope" pitchFamily="34" charset="-122"/>
                <a:cs typeface="Manrope" pitchFamily="34" charset="-120"/>
              </a:rPr>
              <a:t>accreditations: 9001 · 14001 · 45001 · 27001</a:t>
            </a:r>
            <a:endParaRPr lang="en-US" sz="1350" dirty="0"/>
          </a:p>
        </p:txBody>
      </p:sp>
      <p:pic>
        <p:nvPicPr>
          <p:cNvPr id="13" name="Image 1" descr="/home/claude/deck/img/mark.png"/>
          <p:cNvPicPr>
            <a:picLocks noChangeAspect="1"/>
          </p:cNvPicPr>
          <p:nvPr/>
        </p:nvPicPr>
        <p:blipFill>
          <a:blip r:embed="rId3"/>
          <a:stretch>
            <a:fillRect/>
          </a:stretch>
        </p:blipFill>
        <p:spPr>
          <a:xfrm>
            <a:off x="640080" y="6364224"/>
            <a:ext cx="274320" cy="274320"/>
          </a:xfrm>
          <a:prstGeom prst="rect">
            <a:avLst/>
          </a:prstGeom>
        </p:spPr>
      </p:pic>
      <p:sp>
        <p:nvSpPr>
          <p:cNvPr id="14" name="Text 10"/>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AC2D8"/>
                </a:solidFill>
                <a:latin typeface="Manrope" pitchFamily="34" charset="0"/>
                <a:ea typeface="Manrope" pitchFamily="34" charset="-122"/>
                <a:cs typeface="Manrope" pitchFamily="34" charset="-120"/>
              </a:rPr>
              <a:t>Aqualogic, a Sustec company</a:t>
            </a:r>
            <a:endParaRPr lang="en-US" sz="900" dirty="0"/>
          </a:p>
        </p:txBody>
      </p:sp>
      <p:sp>
        <p:nvSpPr>
          <p:cNvPr id="15" name="Text 11"/>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16" name="Text 12"/>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BCBFCC"/>
                </a:solidFill>
                <a:latin typeface="Manrope" pitchFamily="34" charset="0"/>
                <a:ea typeface="Manrope" pitchFamily="34" charset="-122"/>
                <a:cs typeface="Manrope"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04  ·  METHODOLOGY AND PROOF</a:t>
            </a:r>
            <a:endParaRPr lang="en-US" sz="1100" dirty="0"/>
          </a:p>
        </p:txBody>
      </p:sp>
      <p:sp>
        <p:nvSpPr>
          <p:cNvPr id="3" name="Text 1"/>
          <p:cNvSpPr/>
          <p:nvPr/>
        </p:nvSpPr>
        <p:spPr>
          <a:xfrm>
            <a:off x="640080" y="676656"/>
            <a:ext cx="10911535"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Case study: Wessex Water schools programme</a:t>
            </a:r>
            <a:endParaRPr lang="en-US" sz="2800" dirty="0"/>
          </a:p>
        </p:txBody>
      </p:sp>
      <p:sp>
        <p:nvSpPr>
          <p:cNvPr id="4" name="Text 2"/>
          <p:cNvSpPr/>
          <p:nvPr/>
        </p:nvSpPr>
        <p:spPr>
          <a:xfrm>
            <a:off x="640080" y="1417320"/>
            <a:ext cx="10515600" cy="365760"/>
          </a:xfrm>
          <a:prstGeom prst="rect">
            <a:avLst/>
          </a:prstGeom>
          <a:noFill/>
          <a:ln/>
        </p:spPr>
        <p:txBody>
          <a:bodyPr wrap="square" lIns="0" tIns="0" rIns="0" bIns="0" rtlCol="0" anchor="ctr"/>
          <a:lstStyle/>
          <a:p>
            <a:pPr marL="0" indent="0">
              <a:buNone/>
            </a:pPr>
            <a:r>
              <a:rPr lang="en-US" sz="1500" b="1" dirty="0">
                <a:solidFill>
                  <a:srgbClr val="0C2C3A"/>
                </a:solidFill>
                <a:latin typeface="Manrope" pitchFamily="34" charset="0"/>
                <a:ea typeface="Manrope" pitchFamily="34" charset="-122"/>
                <a:cs typeface="Manrope" pitchFamily="34" charset="-120"/>
              </a:rPr>
              <a:t>A behaviour-led water efficiency programme across 100 schools, cutting water use by 20%.</a:t>
            </a:r>
            <a:endParaRPr lang="en-US" sz="1500" dirty="0"/>
          </a:p>
        </p:txBody>
      </p:sp>
      <p:sp>
        <p:nvSpPr>
          <p:cNvPr id="5" name="Text 3"/>
          <p:cNvSpPr/>
          <p:nvPr/>
        </p:nvSpPr>
        <p:spPr>
          <a:xfrm>
            <a:off x="640080" y="2011680"/>
            <a:ext cx="6035040" cy="274320"/>
          </a:xfrm>
          <a:prstGeom prst="rect">
            <a:avLst/>
          </a:prstGeom>
          <a:noFill/>
          <a:ln/>
        </p:spPr>
        <p:txBody>
          <a:bodyPr wrap="square" lIns="0" tIns="0" rIns="0" bIns="0" rtlCol="0" anchor="ctr"/>
          <a:lstStyle/>
          <a:p>
            <a:pPr marL="0" indent="0">
              <a:buNone/>
            </a:pPr>
            <a:r>
              <a:rPr lang="en-US" sz="1100" b="1" kern="0" spc="100" dirty="0">
                <a:solidFill>
                  <a:srgbClr val="00B6DB"/>
                </a:solidFill>
                <a:latin typeface="Manrope" pitchFamily="34" charset="0"/>
                <a:ea typeface="Manrope" pitchFamily="34" charset="-122"/>
                <a:cs typeface="Manrope" pitchFamily="34" charset="-120"/>
              </a:rPr>
              <a:t>CHALLENGE</a:t>
            </a:r>
            <a:endParaRPr lang="en-US" sz="1100" dirty="0"/>
          </a:p>
        </p:txBody>
      </p:sp>
      <p:sp>
        <p:nvSpPr>
          <p:cNvPr id="6" name="Text 4"/>
          <p:cNvSpPr/>
          <p:nvPr/>
        </p:nvSpPr>
        <p:spPr>
          <a:xfrm>
            <a:off x="640080" y="2304288"/>
            <a:ext cx="6035040" cy="822960"/>
          </a:xfrm>
          <a:prstGeom prst="rect">
            <a:avLst/>
          </a:prstGeom>
          <a:noFill/>
          <a:ln/>
        </p:spPr>
        <p:txBody>
          <a:bodyPr wrap="square" lIns="0" tIns="0" rIns="0" bIns="0" rtlCol="0" anchor="ctr"/>
          <a:lstStyle/>
          <a:p>
            <a:pPr marL="0" indent="0">
              <a:lnSpc>
                <a:spcPct val="118000"/>
              </a:lnSpc>
              <a:buNone/>
            </a:pPr>
            <a:r>
              <a:rPr lang="en-US" sz="1300" dirty="0">
                <a:solidFill>
                  <a:srgbClr val="40424D"/>
                </a:solidFill>
                <a:latin typeface="Manrope" pitchFamily="34" charset="0"/>
                <a:ea typeface="Manrope" pitchFamily="34" charset="-122"/>
                <a:cs typeface="Manrope" pitchFamily="34" charset="-120"/>
              </a:rPr>
              <a:t>Reduce consumption across a large schools estate, with lasting habit change rather than a one-off fix.</a:t>
            </a:r>
            <a:endParaRPr lang="en-US" sz="1300" dirty="0"/>
          </a:p>
        </p:txBody>
      </p:sp>
      <p:sp>
        <p:nvSpPr>
          <p:cNvPr id="7" name="Text 5"/>
          <p:cNvSpPr/>
          <p:nvPr/>
        </p:nvSpPr>
        <p:spPr>
          <a:xfrm>
            <a:off x="640080" y="3154680"/>
            <a:ext cx="6035040" cy="274320"/>
          </a:xfrm>
          <a:prstGeom prst="rect">
            <a:avLst/>
          </a:prstGeom>
          <a:noFill/>
          <a:ln/>
        </p:spPr>
        <p:txBody>
          <a:bodyPr wrap="square" lIns="0" tIns="0" rIns="0" bIns="0" rtlCol="0" anchor="ctr"/>
          <a:lstStyle/>
          <a:p>
            <a:pPr marL="0" indent="0">
              <a:buNone/>
            </a:pPr>
            <a:r>
              <a:rPr lang="en-US" sz="1100" b="1" kern="0" spc="100" dirty="0">
                <a:solidFill>
                  <a:srgbClr val="00B6DB"/>
                </a:solidFill>
                <a:latin typeface="Manrope" pitchFamily="34" charset="0"/>
                <a:ea typeface="Manrope" pitchFamily="34" charset="-122"/>
                <a:cs typeface="Manrope" pitchFamily="34" charset="-120"/>
              </a:rPr>
              <a:t>APPROACH</a:t>
            </a:r>
            <a:endParaRPr lang="en-US" sz="1100" dirty="0"/>
          </a:p>
        </p:txBody>
      </p:sp>
      <p:sp>
        <p:nvSpPr>
          <p:cNvPr id="8" name="Text 6"/>
          <p:cNvSpPr/>
          <p:nvPr/>
        </p:nvSpPr>
        <p:spPr>
          <a:xfrm>
            <a:off x="640080" y="3447288"/>
            <a:ext cx="6035040" cy="822960"/>
          </a:xfrm>
          <a:prstGeom prst="rect">
            <a:avLst/>
          </a:prstGeom>
          <a:noFill/>
          <a:ln/>
        </p:spPr>
        <p:txBody>
          <a:bodyPr wrap="square" lIns="0" tIns="0" rIns="0" bIns="0" rtlCol="0" anchor="ctr"/>
          <a:lstStyle/>
          <a:p>
            <a:pPr marL="0" indent="0">
              <a:lnSpc>
                <a:spcPct val="118000"/>
              </a:lnSpc>
              <a:buNone/>
            </a:pPr>
            <a:r>
              <a:rPr lang="en-US" sz="1300" dirty="0">
                <a:solidFill>
                  <a:srgbClr val="40424D"/>
                </a:solidFill>
                <a:latin typeface="Manrope" pitchFamily="34" charset="0"/>
                <a:ea typeface="Manrope" pitchFamily="34" charset="-122"/>
                <a:cs typeface="Manrope" pitchFamily="34" charset="-120"/>
              </a:rPr>
              <a:t>A behaviour-led programme delivered by a locally based project manager and trained water-efficiency engineers, with a mix of WC fittings.</a:t>
            </a:r>
            <a:endParaRPr lang="en-US" sz="1300" dirty="0"/>
          </a:p>
        </p:txBody>
      </p:sp>
      <p:sp>
        <p:nvSpPr>
          <p:cNvPr id="9" name="Text 7"/>
          <p:cNvSpPr/>
          <p:nvPr/>
        </p:nvSpPr>
        <p:spPr>
          <a:xfrm>
            <a:off x="640080" y="4297680"/>
            <a:ext cx="6035040" cy="274320"/>
          </a:xfrm>
          <a:prstGeom prst="rect">
            <a:avLst/>
          </a:prstGeom>
          <a:noFill/>
          <a:ln/>
        </p:spPr>
        <p:txBody>
          <a:bodyPr wrap="square" lIns="0" tIns="0" rIns="0" bIns="0" rtlCol="0" anchor="ctr"/>
          <a:lstStyle/>
          <a:p>
            <a:pPr marL="0" indent="0">
              <a:buNone/>
            </a:pPr>
            <a:r>
              <a:rPr lang="en-US" sz="1100" b="1" kern="0" spc="100" dirty="0">
                <a:solidFill>
                  <a:srgbClr val="00B6DB"/>
                </a:solidFill>
                <a:latin typeface="Manrope" pitchFamily="34" charset="0"/>
                <a:ea typeface="Manrope" pitchFamily="34" charset="-122"/>
                <a:cs typeface="Manrope" pitchFamily="34" charset="-120"/>
              </a:rPr>
              <a:t>WHAT IT PROVES</a:t>
            </a:r>
            <a:endParaRPr lang="en-US" sz="1100" dirty="0"/>
          </a:p>
        </p:txBody>
      </p:sp>
      <p:sp>
        <p:nvSpPr>
          <p:cNvPr id="10" name="Text 8"/>
          <p:cNvSpPr/>
          <p:nvPr/>
        </p:nvSpPr>
        <p:spPr>
          <a:xfrm>
            <a:off x="640080" y="4590288"/>
            <a:ext cx="6035040" cy="822960"/>
          </a:xfrm>
          <a:prstGeom prst="rect">
            <a:avLst/>
          </a:prstGeom>
          <a:noFill/>
          <a:ln/>
        </p:spPr>
        <p:txBody>
          <a:bodyPr wrap="square" lIns="0" tIns="0" rIns="0" bIns="0" rtlCol="0" anchor="ctr"/>
          <a:lstStyle/>
          <a:p>
            <a:pPr marL="0" indent="0">
              <a:lnSpc>
                <a:spcPct val="118000"/>
              </a:lnSpc>
              <a:buNone/>
            </a:pPr>
            <a:r>
              <a:rPr lang="en-US" sz="1300" dirty="0">
                <a:solidFill>
                  <a:srgbClr val="40424D"/>
                </a:solidFill>
                <a:latin typeface="Manrope" pitchFamily="34" charset="0"/>
                <a:ea typeface="Manrope" pitchFamily="34" charset="-122"/>
                <a:cs typeface="Manrope" pitchFamily="34" charset="-120"/>
              </a:rPr>
              <a:t>Practical delivery that makes a measurable difference. Pillar two in action.</a:t>
            </a:r>
            <a:endParaRPr lang="en-US" sz="1300" dirty="0"/>
          </a:p>
        </p:txBody>
      </p:sp>
      <p:sp>
        <p:nvSpPr>
          <p:cNvPr id="11" name="Shape 9"/>
          <p:cNvSpPr/>
          <p:nvPr/>
        </p:nvSpPr>
        <p:spPr>
          <a:xfrm>
            <a:off x="7315200" y="2011680"/>
            <a:ext cx="4233672" cy="3611880"/>
          </a:xfrm>
          <a:prstGeom prst="roundRect">
            <a:avLst>
              <a:gd name="adj" fmla="val 2278"/>
            </a:avLst>
          </a:prstGeom>
          <a:solidFill>
            <a:srgbClr val="0C2C3A"/>
          </a:solidFill>
          <a:ln/>
        </p:spPr>
        <p:txBody>
          <a:bodyPr/>
          <a:lstStyle/>
          <a:p>
            <a:endParaRPr lang="en-US"/>
          </a:p>
        </p:txBody>
      </p:sp>
      <p:sp>
        <p:nvSpPr>
          <p:cNvPr id="12" name="Text 10"/>
          <p:cNvSpPr/>
          <p:nvPr/>
        </p:nvSpPr>
        <p:spPr>
          <a:xfrm>
            <a:off x="7680960" y="2331720"/>
            <a:ext cx="1691640" cy="548640"/>
          </a:xfrm>
          <a:prstGeom prst="rect">
            <a:avLst/>
          </a:prstGeom>
          <a:noFill/>
          <a:ln/>
        </p:spPr>
        <p:txBody>
          <a:bodyPr wrap="square" lIns="0" tIns="0" rIns="0" bIns="0" rtlCol="0" anchor="ctr"/>
          <a:lstStyle/>
          <a:p>
            <a:pPr marL="0" indent="0">
              <a:buNone/>
            </a:pPr>
            <a:r>
              <a:rPr lang="en-US" sz="2500" b="1" dirty="0">
                <a:solidFill>
                  <a:srgbClr val="00B6DB"/>
                </a:solidFill>
                <a:latin typeface="Manrope" pitchFamily="34" charset="0"/>
                <a:ea typeface="Manrope" pitchFamily="34" charset="-122"/>
                <a:cs typeface="Manrope" pitchFamily="34" charset="-120"/>
              </a:rPr>
              <a:t>20%</a:t>
            </a:r>
            <a:endParaRPr lang="en-US" sz="2500" dirty="0"/>
          </a:p>
        </p:txBody>
      </p:sp>
      <p:sp>
        <p:nvSpPr>
          <p:cNvPr id="13" name="Text 11"/>
          <p:cNvSpPr/>
          <p:nvPr/>
        </p:nvSpPr>
        <p:spPr>
          <a:xfrm>
            <a:off x="7680960" y="2898648"/>
            <a:ext cx="1691640" cy="548640"/>
          </a:xfrm>
          <a:prstGeom prst="rect">
            <a:avLst/>
          </a:prstGeom>
          <a:noFill/>
          <a:ln/>
        </p:spPr>
        <p:txBody>
          <a:bodyPr wrap="square" lIns="0" tIns="0" rIns="0" bIns="0" rtlCol="0" anchor="ctr"/>
          <a:lstStyle/>
          <a:p>
            <a:pPr marL="0" indent="0">
              <a:lnSpc>
                <a:spcPct val="110000"/>
              </a:lnSpc>
              <a:buNone/>
            </a:pPr>
            <a:r>
              <a:rPr lang="en-US" sz="1150" dirty="0">
                <a:solidFill>
                  <a:srgbClr val="FFFFFF"/>
                </a:solidFill>
                <a:latin typeface="Manrope" pitchFamily="34" charset="0"/>
                <a:ea typeface="Manrope" pitchFamily="34" charset="-122"/>
                <a:cs typeface="Manrope" pitchFamily="34" charset="-120"/>
              </a:rPr>
              <a:t>water saving</a:t>
            </a:r>
            <a:endParaRPr lang="en-US" sz="1150" dirty="0"/>
          </a:p>
        </p:txBody>
      </p:sp>
      <p:sp>
        <p:nvSpPr>
          <p:cNvPr id="14" name="Text 12"/>
          <p:cNvSpPr/>
          <p:nvPr/>
        </p:nvSpPr>
        <p:spPr>
          <a:xfrm>
            <a:off x="9509760" y="2331720"/>
            <a:ext cx="1691640" cy="548640"/>
          </a:xfrm>
          <a:prstGeom prst="rect">
            <a:avLst/>
          </a:prstGeom>
          <a:noFill/>
          <a:ln/>
        </p:spPr>
        <p:txBody>
          <a:bodyPr wrap="square" lIns="0" tIns="0" rIns="0" bIns="0" rtlCol="0" anchor="ctr"/>
          <a:lstStyle/>
          <a:p>
            <a:pPr marL="0" indent="0">
              <a:buNone/>
            </a:pPr>
            <a:r>
              <a:rPr lang="en-US" sz="2500" b="1" dirty="0">
                <a:solidFill>
                  <a:srgbClr val="00B6DB"/>
                </a:solidFill>
                <a:latin typeface="Manrope" pitchFamily="34" charset="0"/>
                <a:ea typeface="Manrope" pitchFamily="34" charset="-122"/>
                <a:cs typeface="Manrope" pitchFamily="34" charset="-120"/>
              </a:rPr>
              <a:t>100</a:t>
            </a:r>
            <a:endParaRPr lang="en-US" sz="2500" dirty="0"/>
          </a:p>
        </p:txBody>
      </p:sp>
      <p:sp>
        <p:nvSpPr>
          <p:cNvPr id="15" name="Text 13"/>
          <p:cNvSpPr/>
          <p:nvPr/>
        </p:nvSpPr>
        <p:spPr>
          <a:xfrm>
            <a:off x="9509760" y="2898648"/>
            <a:ext cx="1691640" cy="548640"/>
          </a:xfrm>
          <a:prstGeom prst="rect">
            <a:avLst/>
          </a:prstGeom>
          <a:noFill/>
          <a:ln/>
        </p:spPr>
        <p:txBody>
          <a:bodyPr wrap="square" lIns="0" tIns="0" rIns="0" bIns="0" rtlCol="0" anchor="ctr"/>
          <a:lstStyle/>
          <a:p>
            <a:pPr marL="0" indent="0">
              <a:lnSpc>
                <a:spcPct val="110000"/>
              </a:lnSpc>
              <a:buNone/>
            </a:pPr>
            <a:r>
              <a:rPr lang="en-US" sz="1150" dirty="0">
                <a:solidFill>
                  <a:srgbClr val="FFFFFF"/>
                </a:solidFill>
                <a:latin typeface="Manrope" pitchFamily="34" charset="0"/>
                <a:ea typeface="Manrope" pitchFamily="34" charset="-122"/>
                <a:cs typeface="Manrope" pitchFamily="34" charset="-120"/>
              </a:rPr>
              <a:t>schools visited</a:t>
            </a:r>
            <a:endParaRPr lang="en-US" sz="1150" dirty="0"/>
          </a:p>
        </p:txBody>
      </p:sp>
      <p:sp>
        <p:nvSpPr>
          <p:cNvPr id="16" name="Text 14"/>
          <p:cNvSpPr/>
          <p:nvPr/>
        </p:nvSpPr>
        <p:spPr>
          <a:xfrm>
            <a:off x="7680960" y="3931920"/>
            <a:ext cx="1691640" cy="548640"/>
          </a:xfrm>
          <a:prstGeom prst="rect">
            <a:avLst/>
          </a:prstGeom>
          <a:noFill/>
          <a:ln/>
        </p:spPr>
        <p:txBody>
          <a:bodyPr wrap="square" lIns="0" tIns="0" rIns="0" bIns="0" rtlCol="0" anchor="ctr"/>
          <a:lstStyle/>
          <a:p>
            <a:pPr marL="0" indent="0">
              <a:buNone/>
            </a:pPr>
            <a:r>
              <a:rPr lang="en-US" sz="2500" b="1" dirty="0">
                <a:solidFill>
                  <a:srgbClr val="00B6DB"/>
                </a:solidFill>
                <a:latin typeface="Manrope" pitchFamily="34" charset="0"/>
                <a:ea typeface="Manrope" pitchFamily="34" charset="-122"/>
                <a:cs typeface="Manrope" pitchFamily="34" charset="-120"/>
              </a:rPr>
              <a:t>21,496 m³</a:t>
            </a:r>
            <a:endParaRPr lang="en-US" sz="2500" dirty="0"/>
          </a:p>
        </p:txBody>
      </p:sp>
      <p:sp>
        <p:nvSpPr>
          <p:cNvPr id="17" name="Text 15"/>
          <p:cNvSpPr/>
          <p:nvPr/>
        </p:nvSpPr>
        <p:spPr>
          <a:xfrm>
            <a:off x="7680960" y="4498848"/>
            <a:ext cx="1691640" cy="548640"/>
          </a:xfrm>
          <a:prstGeom prst="rect">
            <a:avLst/>
          </a:prstGeom>
          <a:noFill/>
          <a:ln/>
        </p:spPr>
        <p:txBody>
          <a:bodyPr wrap="square" lIns="0" tIns="0" rIns="0" bIns="0" rtlCol="0" anchor="ctr"/>
          <a:lstStyle/>
          <a:p>
            <a:pPr marL="0" indent="0">
              <a:lnSpc>
                <a:spcPct val="110000"/>
              </a:lnSpc>
              <a:buNone/>
            </a:pPr>
            <a:r>
              <a:rPr lang="en-US" sz="1150" dirty="0">
                <a:solidFill>
                  <a:srgbClr val="FFFFFF"/>
                </a:solidFill>
                <a:latin typeface="Manrope" pitchFamily="34" charset="0"/>
                <a:ea typeface="Manrope" pitchFamily="34" charset="-122"/>
                <a:cs typeface="Manrope" pitchFamily="34" charset="-120"/>
              </a:rPr>
              <a:t>saved per year</a:t>
            </a:r>
            <a:endParaRPr lang="en-US" sz="1150" dirty="0"/>
          </a:p>
        </p:txBody>
      </p:sp>
      <p:sp>
        <p:nvSpPr>
          <p:cNvPr id="18" name="Text 16"/>
          <p:cNvSpPr/>
          <p:nvPr/>
        </p:nvSpPr>
        <p:spPr>
          <a:xfrm>
            <a:off x="9509760" y="3931920"/>
            <a:ext cx="1691640" cy="548640"/>
          </a:xfrm>
          <a:prstGeom prst="rect">
            <a:avLst/>
          </a:prstGeom>
          <a:noFill/>
          <a:ln/>
        </p:spPr>
        <p:txBody>
          <a:bodyPr wrap="square" lIns="0" tIns="0" rIns="0" bIns="0" rtlCol="0" anchor="ctr"/>
          <a:lstStyle/>
          <a:p>
            <a:pPr marL="0" indent="0">
              <a:buNone/>
            </a:pPr>
            <a:r>
              <a:rPr lang="en-US" sz="2500" b="1" dirty="0">
                <a:solidFill>
                  <a:srgbClr val="00B6DB"/>
                </a:solidFill>
                <a:latin typeface="Manrope" pitchFamily="34" charset="0"/>
                <a:ea typeface="Manrope" pitchFamily="34" charset="-122"/>
                <a:cs typeface="Manrope" pitchFamily="34" charset="-120"/>
              </a:rPr>
              <a:t>£81,040</a:t>
            </a:r>
            <a:endParaRPr lang="en-US" sz="2500" dirty="0"/>
          </a:p>
        </p:txBody>
      </p:sp>
      <p:sp>
        <p:nvSpPr>
          <p:cNvPr id="19" name="Text 17"/>
          <p:cNvSpPr/>
          <p:nvPr/>
        </p:nvSpPr>
        <p:spPr>
          <a:xfrm>
            <a:off x="9509760" y="4498848"/>
            <a:ext cx="1691640" cy="548640"/>
          </a:xfrm>
          <a:prstGeom prst="rect">
            <a:avLst/>
          </a:prstGeom>
          <a:noFill/>
          <a:ln/>
        </p:spPr>
        <p:txBody>
          <a:bodyPr wrap="square" lIns="0" tIns="0" rIns="0" bIns="0" rtlCol="0" anchor="ctr"/>
          <a:lstStyle/>
          <a:p>
            <a:pPr marL="0" indent="0">
              <a:lnSpc>
                <a:spcPct val="110000"/>
              </a:lnSpc>
              <a:buNone/>
            </a:pPr>
            <a:r>
              <a:rPr lang="en-US" sz="1150" dirty="0">
                <a:solidFill>
                  <a:srgbClr val="FFFFFF"/>
                </a:solidFill>
                <a:latin typeface="Manrope" pitchFamily="34" charset="0"/>
                <a:ea typeface="Manrope" pitchFamily="34" charset="-122"/>
                <a:cs typeface="Manrope" pitchFamily="34" charset="-120"/>
              </a:rPr>
              <a:t>financial saving</a:t>
            </a:r>
            <a:endParaRPr lang="en-US" sz="1150" dirty="0"/>
          </a:p>
        </p:txBody>
      </p:sp>
      <p:pic>
        <p:nvPicPr>
          <p:cNvPr id="20" name="Image 0" descr="/home/claude/deck/img/mark.png"/>
          <p:cNvPicPr>
            <a:picLocks noChangeAspect="1"/>
          </p:cNvPicPr>
          <p:nvPr/>
        </p:nvPicPr>
        <p:blipFill>
          <a:blip r:embed="rId3"/>
          <a:stretch>
            <a:fillRect/>
          </a:stretch>
        </p:blipFill>
        <p:spPr>
          <a:xfrm>
            <a:off x="640080" y="6364224"/>
            <a:ext cx="274320" cy="274320"/>
          </a:xfrm>
          <a:prstGeom prst="rect">
            <a:avLst/>
          </a:prstGeom>
        </p:spPr>
      </p:pic>
      <p:sp>
        <p:nvSpPr>
          <p:cNvPr id="21" name="Text 18"/>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22" name="Text 19"/>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23" name="Text 20"/>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05  ·  PROGRAMME AND COMMERCIALS</a:t>
            </a:r>
            <a:endParaRPr lang="en-US" sz="1100" dirty="0"/>
          </a:p>
        </p:txBody>
      </p:sp>
      <p:sp>
        <p:nvSpPr>
          <p:cNvPr id="3" name="Text 1"/>
          <p:cNvSpPr/>
          <p:nvPr/>
        </p:nvSpPr>
        <p:spPr>
          <a:xfrm>
            <a:off x="640080" y="676656"/>
            <a:ext cx="10911535"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Programme and delivery</a:t>
            </a:r>
            <a:endParaRPr lang="en-US" sz="2800" dirty="0"/>
          </a:p>
        </p:txBody>
      </p:sp>
      <p:sp>
        <p:nvSpPr>
          <p:cNvPr id="4" name="Text 2"/>
          <p:cNvSpPr/>
          <p:nvPr/>
        </p:nvSpPr>
        <p:spPr>
          <a:xfrm>
            <a:off x="640080" y="1371600"/>
            <a:ext cx="10515600" cy="411480"/>
          </a:xfrm>
          <a:prstGeom prst="rect">
            <a:avLst/>
          </a:prstGeom>
          <a:noFill/>
          <a:ln/>
        </p:spPr>
        <p:txBody>
          <a:bodyPr wrap="square" lIns="0" tIns="0" rIns="0" bIns="0" rtlCol="0" anchor="ctr"/>
          <a:lstStyle/>
          <a:p>
            <a:pPr marL="0" indent="0">
              <a:buNone/>
            </a:pPr>
            <a:r>
              <a:rPr lang="en-US" sz="1450" dirty="0">
                <a:solidFill>
                  <a:srgbClr val="6E7180"/>
                </a:solidFill>
                <a:latin typeface="Manrope" pitchFamily="34" charset="0"/>
                <a:ea typeface="Manrope" pitchFamily="34" charset="-122"/>
                <a:cs typeface="Manrope" pitchFamily="34" charset="-120"/>
              </a:rPr>
              <a:t>Indicative programme. Replace the phases, activities and timings with the detail for this submission.</a:t>
            </a:r>
            <a:endParaRPr lang="en-US" sz="14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2011680"/>
          <a:ext cx="10908792" cy="1828800"/>
        </p:xfrm>
        <a:graphic>
          <a:graphicData uri="http://schemas.openxmlformats.org/drawingml/2006/table">
            <a:tbl>
              <a:tblPr/>
              <a:tblGrid>
                <a:gridCol w="21945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496312">
                  <a:extLst>
                    <a:ext uri="{9D8B030D-6E8A-4147-A177-3AD203B41FA5}">
                      <a16:colId xmlns:a16="http://schemas.microsoft.com/office/drawing/2014/main" val="20003"/>
                    </a:ext>
                  </a:extLst>
                </a:gridCol>
              </a:tblGrid>
              <a:tr h="457200">
                <a:tc>
                  <a:txBody>
                    <a:bodyPr/>
                    <a:lstStyle/>
                    <a:p>
                      <a:pPr marL="0" indent="0">
                        <a:buNone/>
                      </a:pPr>
                      <a:r>
                        <a:rPr lang="en-US" sz="1300" b="1" dirty="0">
                          <a:solidFill>
                            <a:srgbClr val="FFFFFF"/>
                          </a:solidFill>
                          <a:latin typeface="Manrope" pitchFamily="34" charset="0"/>
                          <a:ea typeface="Manrope" pitchFamily="34" charset="-122"/>
                          <a:cs typeface="Manrope" pitchFamily="34" charset="-120"/>
                        </a:rPr>
                        <a:t>Phase</a:t>
                      </a:r>
                      <a:endParaRPr lang="en-US" sz="130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0C2C3A"/>
                    </a:solidFill>
                  </a:tcPr>
                </a:tc>
                <a:tc>
                  <a:txBody>
                    <a:bodyPr/>
                    <a:lstStyle/>
                    <a:p>
                      <a:pPr marL="0" indent="0">
                        <a:buNone/>
                      </a:pPr>
                      <a:r>
                        <a:rPr lang="en-US" sz="1300" b="1" dirty="0">
                          <a:solidFill>
                            <a:srgbClr val="FFFFFF"/>
                          </a:solidFill>
                          <a:latin typeface="Manrope" pitchFamily="34" charset="0"/>
                          <a:ea typeface="Manrope" pitchFamily="34" charset="-122"/>
                          <a:cs typeface="Manrope" pitchFamily="34" charset="-120"/>
                        </a:rPr>
                        <a:t>Activities</a:t>
                      </a:r>
                      <a:endParaRPr lang="en-US" sz="130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0C2C3A"/>
                    </a:solidFill>
                  </a:tcPr>
                </a:tc>
                <a:tc>
                  <a:txBody>
                    <a:bodyPr/>
                    <a:lstStyle/>
                    <a:p>
                      <a:pPr marL="0" indent="0">
                        <a:buNone/>
                      </a:pPr>
                      <a:r>
                        <a:rPr lang="en-US" sz="1300" b="1" dirty="0">
                          <a:solidFill>
                            <a:srgbClr val="FFFFFF"/>
                          </a:solidFill>
                          <a:latin typeface="Manrope" pitchFamily="34" charset="0"/>
                          <a:ea typeface="Manrope" pitchFamily="34" charset="-122"/>
                          <a:cs typeface="Manrope" pitchFamily="34" charset="-120"/>
                        </a:rPr>
                        <a:t>Outputs</a:t>
                      </a:r>
                      <a:endParaRPr lang="en-US" sz="130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0C2C3A"/>
                    </a:solidFill>
                  </a:tcPr>
                </a:tc>
                <a:tc>
                  <a:txBody>
                    <a:bodyPr/>
                    <a:lstStyle/>
                    <a:p>
                      <a:pPr marL="0" indent="0">
                        <a:buNone/>
                      </a:pPr>
                      <a:r>
                        <a:rPr lang="en-US" sz="1300" b="1" dirty="0">
                          <a:solidFill>
                            <a:srgbClr val="FFFFFF"/>
                          </a:solidFill>
                          <a:latin typeface="Manrope" pitchFamily="34" charset="0"/>
                          <a:ea typeface="Manrope" pitchFamily="34" charset="-122"/>
                          <a:cs typeface="Manrope" pitchFamily="34" charset="-120"/>
                        </a:rPr>
                        <a:t>Indicative timing</a:t>
                      </a:r>
                      <a:endParaRPr lang="en-US" sz="130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0C2C3A"/>
                    </a:solidFill>
                  </a:tcPr>
                </a:tc>
                <a:extLst>
                  <a:ext uri="{0D108BD9-81ED-4DB2-BD59-A6C34878D82A}">
                    <a16:rowId xmlns:a16="http://schemas.microsoft.com/office/drawing/2014/main" val="10000"/>
                  </a:ext>
                </a:extLst>
              </a:tr>
              <a:tr h="457200">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Mobilisation</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FFFFFF"/>
                    </a:solidFill>
                  </a:tcPr>
                </a:tc>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[Set-up, data, access, safety]</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FFFFFF"/>
                    </a:solidFill>
                  </a:tcPr>
                </a:tc>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[Plan and baseline]</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FFFFFF"/>
                    </a:solidFill>
                  </a:tcPr>
                </a:tc>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[Weeks 1 to X]</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Delivery</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EDEFF7"/>
                    </a:solidFill>
                  </a:tcPr>
                </a:tc>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[Detection, repair, installation]</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EDEFF7"/>
                    </a:solidFill>
                  </a:tcPr>
                </a:tc>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[Outputs and savings]</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EDEFF7"/>
                    </a:solidFill>
                  </a:tcPr>
                </a:tc>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[Weeks X to Y]</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EDEFF7"/>
                    </a:solidFill>
                  </a:tcPr>
                </a:tc>
                <a:extLst>
                  <a:ext uri="{0D108BD9-81ED-4DB2-BD59-A6C34878D82A}">
                    <a16:rowId xmlns:a16="http://schemas.microsoft.com/office/drawing/2014/main" val="10002"/>
                  </a:ext>
                </a:extLst>
              </a:tr>
              <a:tr h="457200">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Optimisation</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FFFFFF"/>
                    </a:solidFill>
                  </a:tcPr>
                </a:tc>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[Monitor, measure, refine]</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FFFFFF"/>
                    </a:solidFill>
                  </a:tcPr>
                </a:tc>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[Sustained performance]</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FFFFFF"/>
                    </a:solidFill>
                  </a:tcPr>
                </a:tc>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[Ongoing]</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pic>
        <p:nvPicPr>
          <p:cNvPr id="6" name="Image 0" descr="/home/claude/deck/img/mark.png"/>
          <p:cNvPicPr>
            <a:picLocks noChangeAspect="1"/>
          </p:cNvPicPr>
          <p:nvPr/>
        </p:nvPicPr>
        <p:blipFill>
          <a:blip r:embed="rId3"/>
          <a:stretch>
            <a:fillRect/>
          </a:stretch>
        </p:blipFill>
        <p:spPr>
          <a:xfrm>
            <a:off x="640080" y="6364224"/>
            <a:ext cx="274320" cy="274320"/>
          </a:xfrm>
          <a:prstGeom prst="rect">
            <a:avLst/>
          </a:prstGeom>
        </p:spPr>
      </p:pic>
      <p:sp>
        <p:nvSpPr>
          <p:cNvPr id="7" name="Text 3"/>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8" name="Text 4"/>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9" name="Text 5"/>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05  ·  PROGRAMME AND COMMERCIALS</a:t>
            </a:r>
            <a:endParaRPr lang="en-US" sz="1100" dirty="0"/>
          </a:p>
        </p:txBody>
      </p:sp>
      <p:sp>
        <p:nvSpPr>
          <p:cNvPr id="3" name="Text 1"/>
          <p:cNvSpPr/>
          <p:nvPr/>
        </p:nvSpPr>
        <p:spPr>
          <a:xfrm>
            <a:off x="640080" y="676656"/>
            <a:ext cx="10911535"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Programme timeline</a:t>
            </a:r>
            <a:endParaRPr lang="en-US" sz="2800" dirty="0"/>
          </a:p>
        </p:txBody>
      </p:sp>
      <p:sp>
        <p:nvSpPr>
          <p:cNvPr id="4" name="Text 2"/>
          <p:cNvSpPr/>
          <p:nvPr/>
        </p:nvSpPr>
        <p:spPr>
          <a:xfrm>
            <a:off x="640080" y="1371600"/>
            <a:ext cx="10515600" cy="365760"/>
          </a:xfrm>
          <a:prstGeom prst="rect">
            <a:avLst/>
          </a:prstGeom>
          <a:noFill/>
          <a:ln/>
        </p:spPr>
        <p:txBody>
          <a:bodyPr wrap="square" lIns="0" tIns="0" rIns="0" bIns="0" rtlCol="0" anchor="ctr"/>
          <a:lstStyle/>
          <a:p>
            <a:pPr marL="0" indent="0">
              <a:buNone/>
            </a:pPr>
            <a:r>
              <a:rPr lang="en-US" sz="1450" dirty="0">
                <a:solidFill>
                  <a:srgbClr val="6E7180"/>
                </a:solidFill>
                <a:latin typeface="Manrope" pitchFamily="34" charset="0"/>
                <a:ea typeface="Manrope" pitchFamily="34" charset="-122"/>
                <a:cs typeface="Manrope" pitchFamily="34" charset="-120"/>
              </a:rPr>
              <a:t>Indicative phasing. Adjust the bars and milestones to the submission.</a:t>
            </a:r>
            <a:endParaRPr lang="en-US" sz="1450" dirty="0"/>
          </a:p>
        </p:txBody>
      </p:sp>
      <p:sp>
        <p:nvSpPr>
          <p:cNvPr id="5" name="Text 3"/>
          <p:cNvSpPr/>
          <p:nvPr/>
        </p:nvSpPr>
        <p:spPr>
          <a:xfrm>
            <a:off x="640080" y="2148840"/>
            <a:ext cx="1737360" cy="566928"/>
          </a:xfrm>
          <a:prstGeom prst="rect">
            <a:avLst/>
          </a:prstGeom>
          <a:noFill/>
          <a:ln/>
        </p:spPr>
        <p:txBody>
          <a:bodyPr wrap="square" lIns="0" tIns="0" rIns="0" bIns="0" rtlCol="0" anchor="ctr"/>
          <a:lstStyle/>
          <a:p>
            <a:pPr marL="0" indent="0">
              <a:buNone/>
            </a:pPr>
            <a:r>
              <a:rPr lang="en-US" sz="1150" dirty="0">
                <a:solidFill>
                  <a:srgbClr val="6E7180"/>
                </a:solidFill>
                <a:latin typeface="Manrope" pitchFamily="34" charset="0"/>
                <a:ea typeface="Manrope" pitchFamily="34" charset="-122"/>
                <a:cs typeface="Manrope" pitchFamily="34" charset="-120"/>
              </a:rPr>
              <a:t>Mobilisation</a:t>
            </a:r>
            <a:endParaRPr lang="en-US" sz="1150" dirty="0"/>
          </a:p>
        </p:txBody>
      </p:sp>
      <p:sp>
        <p:nvSpPr>
          <p:cNvPr id="6" name="Shape 4"/>
          <p:cNvSpPr/>
          <p:nvPr/>
        </p:nvSpPr>
        <p:spPr>
          <a:xfrm>
            <a:off x="2468880" y="2148840"/>
            <a:ext cx="2286000" cy="566928"/>
          </a:xfrm>
          <a:prstGeom prst="roundRect">
            <a:avLst>
              <a:gd name="adj" fmla="val 50000"/>
            </a:avLst>
          </a:prstGeom>
          <a:solidFill>
            <a:srgbClr val="00B6DB"/>
          </a:solidFill>
          <a:ln/>
        </p:spPr>
        <p:txBody>
          <a:bodyPr/>
          <a:lstStyle/>
          <a:p>
            <a:endParaRPr lang="en-US"/>
          </a:p>
        </p:txBody>
      </p:sp>
      <p:sp>
        <p:nvSpPr>
          <p:cNvPr id="7" name="Text 5"/>
          <p:cNvSpPr/>
          <p:nvPr/>
        </p:nvSpPr>
        <p:spPr>
          <a:xfrm>
            <a:off x="2651760" y="2148840"/>
            <a:ext cx="2011680" cy="566928"/>
          </a:xfrm>
          <a:prstGeom prst="rect">
            <a:avLst/>
          </a:prstGeom>
          <a:noFill/>
          <a:ln/>
        </p:spPr>
        <p:txBody>
          <a:bodyPr wrap="square" lIns="0" tIns="0" rIns="0" bIns="0" rtlCol="0" anchor="ctr"/>
          <a:lstStyle/>
          <a:p>
            <a:pPr marL="0" indent="0">
              <a:buNone/>
            </a:pPr>
            <a:r>
              <a:rPr lang="en-US" sz="1250" b="1" dirty="0">
                <a:solidFill>
                  <a:srgbClr val="FFFFFF"/>
                </a:solidFill>
                <a:latin typeface="Manrope" pitchFamily="34" charset="0"/>
                <a:ea typeface="Manrope" pitchFamily="34" charset="-122"/>
                <a:cs typeface="Manrope" pitchFamily="34" charset="-120"/>
              </a:rPr>
              <a:t>Set-up, data, access</a:t>
            </a:r>
            <a:endParaRPr lang="en-US" sz="1250" dirty="0"/>
          </a:p>
        </p:txBody>
      </p:sp>
      <p:sp>
        <p:nvSpPr>
          <p:cNvPr id="8" name="Text 6"/>
          <p:cNvSpPr/>
          <p:nvPr/>
        </p:nvSpPr>
        <p:spPr>
          <a:xfrm>
            <a:off x="640080" y="2971800"/>
            <a:ext cx="1737360" cy="566928"/>
          </a:xfrm>
          <a:prstGeom prst="rect">
            <a:avLst/>
          </a:prstGeom>
          <a:noFill/>
          <a:ln/>
        </p:spPr>
        <p:txBody>
          <a:bodyPr wrap="square" lIns="0" tIns="0" rIns="0" bIns="0" rtlCol="0" anchor="ctr"/>
          <a:lstStyle/>
          <a:p>
            <a:pPr marL="0" indent="0">
              <a:buNone/>
            </a:pPr>
            <a:r>
              <a:rPr lang="en-US" sz="1150" dirty="0">
                <a:solidFill>
                  <a:srgbClr val="6E7180"/>
                </a:solidFill>
                <a:latin typeface="Manrope" pitchFamily="34" charset="0"/>
                <a:ea typeface="Manrope" pitchFamily="34" charset="-122"/>
                <a:cs typeface="Manrope" pitchFamily="34" charset="-120"/>
              </a:rPr>
              <a:t>Delivery</a:t>
            </a:r>
            <a:endParaRPr lang="en-US" sz="1150" dirty="0"/>
          </a:p>
        </p:txBody>
      </p:sp>
      <p:sp>
        <p:nvSpPr>
          <p:cNvPr id="9" name="Shape 7"/>
          <p:cNvSpPr/>
          <p:nvPr/>
        </p:nvSpPr>
        <p:spPr>
          <a:xfrm>
            <a:off x="3657600" y="2971800"/>
            <a:ext cx="5852160" cy="566928"/>
          </a:xfrm>
          <a:prstGeom prst="roundRect">
            <a:avLst>
              <a:gd name="adj" fmla="val 50000"/>
            </a:avLst>
          </a:prstGeom>
          <a:solidFill>
            <a:srgbClr val="0C2C3A"/>
          </a:solidFill>
          <a:ln/>
        </p:spPr>
        <p:txBody>
          <a:bodyPr/>
          <a:lstStyle/>
          <a:p>
            <a:endParaRPr lang="en-US"/>
          </a:p>
        </p:txBody>
      </p:sp>
      <p:sp>
        <p:nvSpPr>
          <p:cNvPr id="10" name="Text 8"/>
          <p:cNvSpPr/>
          <p:nvPr/>
        </p:nvSpPr>
        <p:spPr>
          <a:xfrm>
            <a:off x="3840480" y="2971800"/>
            <a:ext cx="5577840" cy="566928"/>
          </a:xfrm>
          <a:prstGeom prst="rect">
            <a:avLst/>
          </a:prstGeom>
          <a:noFill/>
          <a:ln/>
        </p:spPr>
        <p:txBody>
          <a:bodyPr wrap="square" lIns="0" tIns="0" rIns="0" bIns="0" rtlCol="0" anchor="ctr"/>
          <a:lstStyle/>
          <a:p>
            <a:pPr marL="0" indent="0">
              <a:buNone/>
            </a:pPr>
            <a:r>
              <a:rPr lang="en-US" sz="1250" b="1" dirty="0">
                <a:solidFill>
                  <a:srgbClr val="FFFFFF"/>
                </a:solidFill>
                <a:latin typeface="Manrope" pitchFamily="34" charset="0"/>
                <a:ea typeface="Manrope" pitchFamily="34" charset="-122"/>
                <a:cs typeface="Manrope" pitchFamily="34" charset="-120"/>
              </a:rPr>
              <a:t>Detection, repair, installation</a:t>
            </a:r>
            <a:endParaRPr lang="en-US" sz="1250" dirty="0"/>
          </a:p>
        </p:txBody>
      </p:sp>
      <p:sp>
        <p:nvSpPr>
          <p:cNvPr id="11" name="Text 9"/>
          <p:cNvSpPr/>
          <p:nvPr/>
        </p:nvSpPr>
        <p:spPr>
          <a:xfrm>
            <a:off x="640080" y="3794760"/>
            <a:ext cx="1737360" cy="566928"/>
          </a:xfrm>
          <a:prstGeom prst="rect">
            <a:avLst/>
          </a:prstGeom>
          <a:noFill/>
          <a:ln/>
        </p:spPr>
        <p:txBody>
          <a:bodyPr wrap="square" lIns="0" tIns="0" rIns="0" bIns="0" rtlCol="0" anchor="ctr"/>
          <a:lstStyle/>
          <a:p>
            <a:pPr marL="0" indent="0">
              <a:buNone/>
            </a:pPr>
            <a:r>
              <a:rPr lang="en-US" sz="1150" dirty="0">
                <a:solidFill>
                  <a:srgbClr val="6E7180"/>
                </a:solidFill>
                <a:latin typeface="Manrope" pitchFamily="34" charset="0"/>
                <a:ea typeface="Manrope" pitchFamily="34" charset="-122"/>
                <a:cs typeface="Manrope" pitchFamily="34" charset="-120"/>
              </a:rPr>
              <a:t>Optimisation</a:t>
            </a:r>
            <a:endParaRPr lang="en-US" sz="1150" dirty="0"/>
          </a:p>
        </p:txBody>
      </p:sp>
      <p:sp>
        <p:nvSpPr>
          <p:cNvPr id="12" name="Shape 10"/>
          <p:cNvSpPr/>
          <p:nvPr/>
        </p:nvSpPr>
        <p:spPr>
          <a:xfrm>
            <a:off x="7315200" y="3794760"/>
            <a:ext cx="4206240" cy="566928"/>
          </a:xfrm>
          <a:prstGeom prst="roundRect">
            <a:avLst>
              <a:gd name="adj" fmla="val 50000"/>
            </a:avLst>
          </a:prstGeom>
          <a:solidFill>
            <a:srgbClr val="6AC2D8"/>
          </a:solidFill>
          <a:ln/>
        </p:spPr>
        <p:txBody>
          <a:bodyPr/>
          <a:lstStyle/>
          <a:p>
            <a:endParaRPr lang="en-US"/>
          </a:p>
        </p:txBody>
      </p:sp>
      <p:sp>
        <p:nvSpPr>
          <p:cNvPr id="13" name="Text 11"/>
          <p:cNvSpPr/>
          <p:nvPr/>
        </p:nvSpPr>
        <p:spPr>
          <a:xfrm>
            <a:off x="7498080" y="3794760"/>
            <a:ext cx="3931920" cy="566928"/>
          </a:xfrm>
          <a:prstGeom prst="rect">
            <a:avLst/>
          </a:prstGeom>
          <a:noFill/>
          <a:ln/>
        </p:spPr>
        <p:txBody>
          <a:bodyPr wrap="square" lIns="0" tIns="0" rIns="0" bIns="0" rtlCol="0" anchor="ctr"/>
          <a:lstStyle/>
          <a:p>
            <a:pPr marL="0" indent="0">
              <a:buNone/>
            </a:pPr>
            <a:r>
              <a:rPr lang="en-US" sz="1250" b="1" dirty="0">
                <a:solidFill>
                  <a:srgbClr val="FFFFFF"/>
                </a:solidFill>
                <a:latin typeface="Manrope" pitchFamily="34" charset="0"/>
                <a:ea typeface="Manrope" pitchFamily="34" charset="-122"/>
                <a:cs typeface="Manrope" pitchFamily="34" charset="-120"/>
              </a:rPr>
              <a:t>Monitor, measure, refine</a:t>
            </a:r>
            <a:endParaRPr lang="en-US" sz="1250" dirty="0"/>
          </a:p>
        </p:txBody>
      </p:sp>
      <p:sp>
        <p:nvSpPr>
          <p:cNvPr id="14" name="Shape 12"/>
          <p:cNvSpPr/>
          <p:nvPr/>
        </p:nvSpPr>
        <p:spPr>
          <a:xfrm>
            <a:off x="2468880" y="4709160"/>
            <a:ext cx="9052560" cy="12802"/>
          </a:xfrm>
          <a:prstGeom prst="rect">
            <a:avLst/>
          </a:prstGeom>
          <a:solidFill>
            <a:srgbClr val="D3D6E0"/>
          </a:solidFill>
          <a:ln/>
        </p:spPr>
        <p:txBody>
          <a:bodyPr/>
          <a:lstStyle/>
          <a:p>
            <a:endParaRPr lang="en-US"/>
          </a:p>
        </p:txBody>
      </p:sp>
      <p:sp>
        <p:nvSpPr>
          <p:cNvPr id="15" name="Text 13"/>
          <p:cNvSpPr/>
          <p:nvPr/>
        </p:nvSpPr>
        <p:spPr>
          <a:xfrm>
            <a:off x="2468880" y="4800600"/>
            <a:ext cx="1280160" cy="274320"/>
          </a:xfrm>
          <a:prstGeom prst="rect">
            <a:avLst/>
          </a:prstGeom>
          <a:noFill/>
          <a:ln/>
        </p:spPr>
        <p:txBody>
          <a:bodyPr wrap="square" lIns="0" tIns="0" rIns="0" bIns="0" rtlCol="0" anchor="ctr"/>
          <a:lstStyle/>
          <a:p>
            <a:pPr marL="0" indent="0" algn="l">
              <a:buNone/>
            </a:pPr>
            <a:r>
              <a:rPr lang="en-US" sz="1050" dirty="0">
                <a:solidFill>
                  <a:srgbClr val="6E7180"/>
                </a:solidFill>
                <a:latin typeface="Manrope" pitchFamily="34" charset="0"/>
                <a:ea typeface="Manrope" pitchFamily="34" charset="-122"/>
                <a:cs typeface="Manrope" pitchFamily="34" charset="-120"/>
              </a:rPr>
              <a:t>[Start]</a:t>
            </a:r>
            <a:endParaRPr lang="en-US" sz="1050" dirty="0"/>
          </a:p>
        </p:txBody>
      </p:sp>
      <p:sp>
        <p:nvSpPr>
          <p:cNvPr id="16" name="Text 14"/>
          <p:cNvSpPr/>
          <p:nvPr/>
        </p:nvSpPr>
        <p:spPr>
          <a:xfrm>
            <a:off x="5486400" y="4800600"/>
            <a:ext cx="1280160" cy="274320"/>
          </a:xfrm>
          <a:prstGeom prst="rect">
            <a:avLst/>
          </a:prstGeom>
          <a:noFill/>
          <a:ln/>
        </p:spPr>
        <p:txBody>
          <a:bodyPr wrap="square" lIns="0" tIns="0" rIns="0" bIns="0" rtlCol="0" anchor="ctr"/>
          <a:lstStyle/>
          <a:p>
            <a:pPr marL="0" indent="0" algn="l">
              <a:buNone/>
            </a:pPr>
            <a:r>
              <a:rPr lang="en-US" sz="1050" dirty="0">
                <a:solidFill>
                  <a:srgbClr val="6E7180"/>
                </a:solidFill>
                <a:latin typeface="Manrope" pitchFamily="34" charset="0"/>
                <a:ea typeface="Manrope" pitchFamily="34" charset="-122"/>
                <a:cs typeface="Manrope" pitchFamily="34" charset="-120"/>
              </a:rPr>
              <a:t>[Month X]</a:t>
            </a:r>
            <a:endParaRPr lang="en-US" sz="1050" dirty="0"/>
          </a:p>
        </p:txBody>
      </p:sp>
      <p:sp>
        <p:nvSpPr>
          <p:cNvPr id="17" name="Text 15"/>
          <p:cNvSpPr/>
          <p:nvPr/>
        </p:nvSpPr>
        <p:spPr>
          <a:xfrm>
            <a:off x="8503920" y="4800600"/>
            <a:ext cx="1280160" cy="274320"/>
          </a:xfrm>
          <a:prstGeom prst="rect">
            <a:avLst/>
          </a:prstGeom>
          <a:noFill/>
          <a:ln/>
        </p:spPr>
        <p:txBody>
          <a:bodyPr wrap="square" lIns="0" tIns="0" rIns="0" bIns="0" rtlCol="0" anchor="ctr"/>
          <a:lstStyle/>
          <a:p>
            <a:pPr marL="0" indent="0" algn="l">
              <a:buNone/>
            </a:pPr>
            <a:r>
              <a:rPr lang="en-US" sz="1050" dirty="0">
                <a:solidFill>
                  <a:srgbClr val="6E7180"/>
                </a:solidFill>
                <a:latin typeface="Manrope" pitchFamily="34" charset="0"/>
                <a:ea typeface="Manrope" pitchFamily="34" charset="-122"/>
                <a:cs typeface="Manrope" pitchFamily="34" charset="-120"/>
              </a:rPr>
              <a:t>[Month Y]</a:t>
            </a:r>
            <a:endParaRPr lang="en-US" sz="1050" dirty="0"/>
          </a:p>
        </p:txBody>
      </p:sp>
      <p:sp>
        <p:nvSpPr>
          <p:cNvPr id="18" name="Text 16"/>
          <p:cNvSpPr/>
          <p:nvPr/>
        </p:nvSpPr>
        <p:spPr>
          <a:xfrm>
            <a:off x="10698480" y="4800600"/>
            <a:ext cx="1280160" cy="274320"/>
          </a:xfrm>
          <a:prstGeom prst="rect">
            <a:avLst/>
          </a:prstGeom>
          <a:noFill/>
          <a:ln/>
        </p:spPr>
        <p:txBody>
          <a:bodyPr wrap="square" lIns="0" tIns="0" rIns="0" bIns="0" rtlCol="0" anchor="ctr"/>
          <a:lstStyle/>
          <a:p>
            <a:pPr marL="0" indent="0" algn="r">
              <a:buNone/>
            </a:pPr>
            <a:r>
              <a:rPr lang="en-US" sz="1050" dirty="0">
                <a:solidFill>
                  <a:srgbClr val="6E7180"/>
                </a:solidFill>
                <a:latin typeface="Manrope" pitchFamily="34" charset="0"/>
                <a:ea typeface="Manrope" pitchFamily="34" charset="-122"/>
                <a:cs typeface="Manrope" pitchFamily="34" charset="-120"/>
              </a:rPr>
              <a:t>[Ongoing]</a:t>
            </a:r>
            <a:endParaRPr lang="en-US" sz="1050" dirty="0"/>
          </a:p>
        </p:txBody>
      </p:sp>
      <p:pic>
        <p:nvPicPr>
          <p:cNvPr id="19" name="Image 0" descr="/home/claude/deck/img/mark.png"/>
          <p:cNvPicPr>
            <a:picLocks noChangeAspect="1"/>
          </p:cNvPicPr>
          <p:nvPr/>
        </p:nvPicPr>
        <p:blipFill>
          <a:blip r:embed="rId3"/>
          <a:stretch>
            <a:fillRect/>
          </a:stretch>
        </p:blipFill>
        <p:spPr>
          <a:xfrm>
            <a:off x="640080" y="6364224"/>
            <a:ext cx="274320" cy="274320"/>
          </a:xfrm>
          <a:prstGeom prst="rect">
            <a:avLst/>
          </a:prstGeom>
        </p:spPr>
      </p:pic>
      <p:sp>
        <p:nvSpPr>
          <p:cNvPr id="20" name="Text 17"/>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21" name="Text 18"/>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22" name="Text 19"/>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05  ·  PROGRAMME AND COMMERCIALS</a:t>
            </a:r>
            <a:endParaRPr lang="en-US" sz="1100" dirty="0"/>
          </a:p>
        </p:txBody>
      </p:sp>
      <p:sp>
        <p:nvSpPr>
          <p:cNvPr id="3" name="Text 1"/>
          <p:cNvSpPr/>
          <p:nvPr/>
        </p:nvSpPr>
        <p:spPr>
          <a:xfrm>
            <a:off x="640080" y="676656"/>
            <a:ext cx="10911535"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Pricing</a:t>
            </a:r>
            <a:endParaRPr lang="en-US" sz="2800" dirty="0"/>
          </a:p>
        </p:txBody>
      </p:sp>
      <p:sp>
        <p:nvSpPr>
          <p:cNvPr id="4" name="Text 2"/>
          <p:cNvSpPr/>
          <p:nvPr/>
        </p:nvSpPr>
        <p:spPr>
          <a:xfrm>
            <a:off x="640080" y="1371600"/>
            <a:ext cx="10515600" cy="411480"/>
          </a:xfrm>
          <a:prstGeom prst="rect">
            <a:avLst/>
          </a:prstGeom>
          <a:noFill/>
          <a:ln/>
        </p:spPr>
        <p:txBody>
          <a:bodyPr wrap="square" lIns="0" tIns="0" rIns="0" bIns="0" rtlCol="0" anchor="ctr"/>
          <a:lstStyle/>
          <a:p>
            <a:pPr marL="0" indent="0">
              <a:buNone/>
            </a:pPr>
            <a:r>
              <a:rPr lang="en-US" sz="1450" dirty="0">
                <a:solidFill>
                  <a:srgbClr val="6E7180"/>
                </a:solidFill>
                <a:latin typeface="Manrope" pitchFamily="34" charset="0"/>
                <a:ea typeface="Manrope" pitchFamily="34" charset="-122"/>
                <a:cs typeface="Manrope" pitchFamily="34" charset="-120"/>
              </a:rPr>
              <a:t>Indicative and for illustration only. Replace with the priced commercial summary for this submission.</a:t>
            </a:r>
            <a:endParaRPr lang="en-US" sz="14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2011680"/>
          <a:ext cx="10908792" cy="2286000"/>
        </p:xfrm>
        <a:graphic>
          <a:graphicData uri="http://schemas.openxmlformats.org/drawingml/2006/table">
            <a:tbl>
              <a:tblPr/>
              <a:tblGrid>
                <a:gridCol w="45720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2496312">
                  <a:extLst>
                    <a:ext uri="{9D8B030D-6E8A-4147-A177-3AD203B41FA5}">
                      <a16:colId xmlns:a16="http://schemas.microsoft.com/office/drawing/2014/main" val="20002"/>
                    </a:ext>
                  </a:extLst>
                </a:gridCol>
              </a:tblGrid>
              <a:tr h="457200">
                <a:tc>
                  <a:txBody>
                    <a:bodyPr/>
                    <a:lstStyle/>
                    <a:p>
                      <a:pPr marL="0" indent="0">
                        <a:buNone/>
                      </a:pPr>
                      <a:r>
                        <a:rPr lang="en-US" sz="1300" b="1" dirty="0">
                          <a:solidFill>
                            <a:srgbClr val="FFFFFF"/>
                          </a:solidFill>
                          <a:latin typeface="Manrope" pitchFamily="34" charset="0"/>
                          <a:ea typeface="Manrope" pitchFamily="34" charset="-122"/>
                          <a:cs typeface="Manrope" pitchFamily="34" charset="-120"/>
                        </a:rPr>
                        <a:t>Workstream</a:t>
                      </a:r>
                      <a:endParaRPr lang="en-US" sz="130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0C2C3A"/>
                    </a:solidFill>
                  </a:tcPr>
                </a:tc>
                <a:tc>
                  <a:txBody>
                    <a:bodyPr/>
                    <a:lstStyle/>
                    <a:p>
                      <a:pPr marL="0" indent="0">
                        <a:buNone/>
                      </a:pPr>
                      <a:r>
                        <a:rPr lang="en-US" sz="1300" b="1" dirty="0">
                          <a:solidFill>
                            <a:srgbClr val="FFFFFF"/>
                          </a:solidFill>
                          <a:latin typeface="Manrope" pitchFamily="34" charset="0"/>
                          <a:ea typeface="Manrope" pitchFamily="34" charset="-122"/>
                          <a:cs typeface="Manrope" pitchFamily="34" charset="-120"/>
                        </a:rPr>
                        <a:t>Basis</a:t>
                      </a:r>
                      <a:endParaRPr lang="en-US" sz="130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0C2C3A"/>
                    </a:solidFill>
                  </a:tcPr>
                </a:tc>
                <a:tc>
                  <a:txBody>
                    <a:bodyPr/>
                    <a:lstStyle/>
                    <a:p>
                      <a:pPr marL="0" indent="0">
                        <a:buNone/>
                      </a:pPr>
                      <a:r>
                        <a:rPr lang="en-US" sz="1300" b="1" dirty="0">
                          <a:solidFill>
                            <a:srgbClr val="FFFFFF"/>
                          </a:solidFill>
                          <a:latin typeface="Manrope" pitchFamily="34" charset="0"/>
                          <a:ea typeface="Manrope" pitchFamily="34" charset="-122"/>
                          <a:cs typeface="Manrope" pitchFamily="34" charset="-120"/>
                        </a:rPr>
                        <a:t>Indicative cost</a:t>
                      </a:r>
                      <a:endParaRPr lang="en-US" sz="130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0C2C3A"/>
                    </a:solidFill>
                  </a:tcPr>
                </a:tc>
                <a:extLst>
                  <a:ext uri="{0D108BD9-81ED-4DB2-BD59-A6C34878D82A}">
                    <a16:rowId xmlns:a16="http://schemas.microsoft.com/office/drawing/2014/main" val="10000"/>
                  </a:ext>
                </a:extLst>
              </a:tr>
              <a:tr h="457200">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[Workstream 1]</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FFFFFF"/>
                    </a:solidFill>
                  </a:tcPr>
                </a:tc>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[Day rate / fixed / unit]</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FFFFFF"/>
                    </a:solidFill>
                  </a:tcPr>
                </a:tc>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 ]</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[Workstream 2]</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EDEFF7"/>
                    </a:solidFill>
                  </a:tcPr>
                </a:tc>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[Day rate / fixed / unit]</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EDEFF7"/>
                    </a:solidFill>
                  </a:tcPr>
                </a:tc>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 ]</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EDEFF7"/>
                    </a:solidFill>
                  </a:tcPr>
                </a:tc>
                <a:extLst>
                  <a:ext uri="{0D108BD9-81ED-4DB2-BD59-A6C34878D82A}">
                    <a16:rowId xmlns:a16="http://schemas.microsoft.com/office/drawing/2014/main" val="10002"/>
                  </a:ext>
                </a:extLst>
              </a:tr>
              <a:tr h="457200">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[Workstream 3]</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FFFFFF"/>
                    </a:solidFill>
                  </a:tcPr>
                </a:tc>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[Day rate / fixed / unit]</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FFFFFF"/>
                    </a:solidFill>
                  </a:tcPr>
                </a:tc>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 ]</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Total</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EDEFF7"/>
                    </a:solidFill>
                  </a:tcPr>
                </a:tc>
                <a:tc>
                  <a:txBody>
                    <a:bodyPr/>
                    <a:lstStyle/>
                    <a:p>
                      <a:pPr marL="0" indent="0">
                        <a:buNone/>
                      </a:pP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EDEFF7"/>
                    </a:solidFill>
                  </a:tcPr>
                </a:tc>
                <a:tc>
                  <a:txBody>
                    <a:bodyPr/>
                    <a:lstStyle/>
                    <a:p>
                      <a:pPr marL="0" indent="0">
                        <a:buNone/>
                      </a:pPr>
                      <a:r>
                        <a:rPr lang="en-US" sz="1250" dirty="0">
                          <a:solidFill>
                            <a:srgbClr val="40424D"/>
                          </a:solidFill>
                          <a:latin typeface="Manrope" pitchFamily="34" charset="0"/>
                          <a:ea typeface="Manrope" pitchFamily="34" charset="-122"/>
                          <a:cs typeface="Manrope" pitchFamily="34" charset="-120"/>
                        </a:rPr>
                        <a:t>[£ ]</a:t>
                      </a:r>
                      <a:endParaRPr lang="en-US" sz="1250" dirty="0">
                        <a:latin typeface="Manrope" charset="0"/>
                        <a:ea typeface="Manrope" charset="0"/>
                        <a:cs typeface="Manrope" charset="0"/>
                      </a:endParaRPr>
                    </a:p>
                  </a:txBody>
                  <a:tcPr marL="101600" marR="101600" marT="38100" marB="38100" anchor="ctr">
                    <a:lnL w="12700" cap="flat" cmpd="sng" algn="ctr">
                      <a:solidFill>
                        <a:srgbClr val="D3D6E0"/>
                      </a:solidFill>
                      <a:prstDash val="solid"/>
                      <a:round/>
                      <a:headEnd type="none" w="med" len="med"/>
                      <a:tailEnd type="none" w="med" len="med"/>
                    </a:lnL>
                    <a:lnR w="12700" cap="flat" cmpd="sng" algn="ctr">
                      <a:solidFill>
                        <a:srgbClr val="D3D6E0"/>
                      </a:solidFill>
                      <a:prstDash val="solid"/>
                      <a:round/>
                      <a:headEnd type="none" w="med" len="med"/>
                      <a:tailEnd type="none" w="med" len="med"/>
                    </a:lnR>
                    <a:lnT w="12700" cap="flat" cmpd="sng" algn="ctr">
                      <a:solidFill>
                        <a:srgbClr val="D3D6E0"/>
                      </a:solidFill>
                      <a:prstDash val="solid"/>
                      <a:round/>
                      <a:headEnd type="none" w="med" len="med"/>
                      <a:tailEnd type="none" w="med" len="med"/>
                    </a:lnT>
                    <a:lnB w="12700" cap="flat" cmpd="sng" algn="ctr">
                      <a:solidFill>
                        <a:srgbClr val="D3D6E0"/>
                      </a:solidFill>
                      <a:prstDash val="solid"/>
                      <a:round/>
                      <a:headEnd type="none" w="med" len="med"/>
                      <a:tailEnd type="none" w="med" len="med"/>
                    </a:lnB>
                    <a:solidFill>
                      <a:srgbClr val="EDEFF7"/>
                    </a:solidFill>
                  </a:tcPr>
                </a:tc>
                <a:extLst>
                  <a:ext uri="{0D108BD9-81ED-4DB2-BD59-A6C34878D82A}">
                    <a16:rowId xmlns:a16="http://schemas.microsoft.com/office/drawing/2014/main" val="10004"/>
                  </a:ext>
                </a:extLst>
              </a:tr>
            </a:tbl>
          </a:graphicData>
        </a:graphic>
      </p:graphicFrame>
      <p:sp>
        <p:nvSpPr>
          <p:cNvPr id="6" name="Text 3"/>
          <p:cNvSpPr/>
          <p:nvPr/>
        </p:nvSpPr>
        <p:spPr>
          <a:xfrm>
            <a:off x="640080" y="5029200"/>
            <a:ext cx="10515600" cy="365760"/>
          </a:xfrm>
          <a:prstGeom prst="rect">
            <a:avLst/>
          </a:prstGeom>
          <a:noFill/>
          <a:ln/>
        </p:spPr>
        <p:txBody>
          <a:bodyPr wrap="square" lIns="0" tIns="0" rIns="0" bIns="0" rtlCol="0" anchor="ctr"/>
          <a:lstStyle/>
          <a:p>
            <a:pPr marL="0" indent="0">
              <a:buNone/>
            </a:pPr>
            <a:r>
              <a:rPr lang="en-US" sz="1100" i="1" dirty="0">
                <a:solidFill>
                  <a:srgbClr val="BCBFCC"/>
                </a:solidFill>
                <a:latin typeface="Manrope" pitchFamily="34" charset="0"/>
                <a:ea typeface="Manrope" pitchFamily="34" charset="-122"/>
                <a:cs typeface="Manrope" pitchFamily="34" charset="-120"/>
              </a:rPr>
              <a:t>Pricing basis, assumptions, exclusions and validity period to be set out in line with the client's requirements.</a:t>
            </a:r>
            <a:endParaRPr lang="en-US" sz="1100" dirty="0"/>
          </a:p>
        </p:txBody>
      </p:sp>
      <p:pic>
        <p:nvPicPr>
          <p:cNvPr id="7" name="Image 0" descr="/home/claude/deck/img/mark.png"/>
          <p:cNvPicPr>
            <a:picLocks noChangeAspect="1"/>
          </p:cNvPicPr>
          <p:nvPr/>
        </p:nvPicPr>
        <p:blipFill>
          <a:blip r:embed="rId3"/>
          <a:stretch>
            <a:fillRect/>
          </a:stretch>
        </p:blipFill>
        <p:spPr>
          <a:xfrm>
            <a:off x="640080" y="6364224"/>
            <a:ext cx="274320" cy="274320"/>
          </a:xfrm>
          <a:prstGeom prst="rect">
            <a:avLst/>
          </a:prstGeom>
        </p:spPr>
      </p:pic>
      <p:sp>
        <p:nvSpPr>
          <p:cNvPr id="8" name="Text 4"/>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9" name="Text 5"/>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10" name="Text 6"/>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06  ·  PEOPLE AND NEXT STEPS</a:t>
            </a:r>
            <a:endParaRPr lang="en-US" sz="1100" dirty="0"/>
          </a:p>
        </p:txBody>
      </p:sp>
      <p:sp>
        <p:nvSpPr>
          <p:cNvPr id="3" name="Text 1"/>
          <p:cNvSpPr/>
          <p:nvPr/>
        </p:nvSpPr>
        <p:spPr>
          <a:xfrm>
            <a:off x="640080" y="676656"/>
            <a:ext cx="10911535"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Our people</a:t>
            </a:r>
            <a:endParaRPr lang="en-US" sz="2800" dirty="0"/>
          </a:p>
        </p:txBody>
      </p:sp>
      <p:sp>
        <p:nvSpPr>
          <p:cNvPr id="4" name="Text 2"/>
          <p:cNvSpPr/>
          <p:nvPr/>
        </p:nvSpPr>
        <p:spPr>
          <a:xfrm>
            <a:off x="640080" y="1371600"/>
            <a:ext cx="10515600" cy="365760"/>
          </a:xfrm>
          <a:prstGeom prst="rect">
            <a:avLst/>
          </a:prstGeom>
          <a:noFill/>
          <a:ln/>
        </p:spPr>
        <p:txBody>
          <a:bodyPr wrap="square" lIns="0" tIns="0" rIns="0" bIns="0" rtlCol="0" anchor="ctr"/>
          <a:lstStyle/>
          <a:p>
            <a:pPr marL="0" indent="0">
              <a:buNone/>
            </a:pPr>
            <a:r>
              <a:rPr lang="en-US" sz="1400" dirty="0">
                <a:solidFill>
                  <a:srgbClr val="6E7180"/>
                </a:solidFill>
                <a:latin typeface="Manrope" pitchFamily="34" charset="0"/>
                <a:ea typeface="Manrope" pitchFamily="34" charset="-122"/>
                <a:cs typeface="Manrope" pitchFamily="34" charset="-120"/>
              </a:rPr>
              <a:t>Around 200 trained personnel nationwide, with a visible leadership team close to the work and a culture that promotes from within.</a:t>
            </a:r>
            <a:endParaRPr lang="en-US" sz="1400" dirty="0"/>
          </a:p>
        </p:txBody>
      </p:sp>
      <p:sp>
        <p:nvSpPr>
          <p:cNvPr id="5" name="Shape 3"/>
          <p:cNvSpPr/>
          <p:nvPr/>
        </p:nvSpPr>
        <p:spPr>
          <a:xfrm>
            <a:off x="640080" y="2148840"/>
            <a:ext cx="64008" cy="841248"/>
          </a:xfrm>
          <a:prstGeom prst="rect">
            <a:avLst/>
          </a:prstGeom>
          <a:solidFill>
            <a:srgbClr val="00B6DB"/>
          </a:solidFill>
          <a:ln/>
        </p:spPr>
        <p:txBody>
          <a:bodyPr/>
          <a:lstStyle/>
          <a:p>
            <a:endParaRPr lang="en-US"/>
          </a:p>
        </p:txBody>
      </p:sp>
      <p:sp>
        <p:nvSpPr>
          <p:cNvPr id="6" name="Text 4"/>
          <p:cNvSpPr/>
          <p:nvPr/>
        </p:nvSpPr>
        <p:spPr>
          <a:xfrm>
            <a:off x="859536" y="2148840"/>
            <a:ext cx="4901184" cy="365760"/>
          </a:xfrm>
          <a:prstGeom prst="rect">
            <a:avLst/>
          </a:prstGeom>
          <a:noFill/>
          <a:ln/>
        </p:spPr>
        <p:txBody>
          <a:bodyPr wrap="square" lIns="0" tIns="0" rIns="0" bIns="0" rtlCol="0" anchor="ctr"/>
          <a:lstStyle/>
          <a:p>
            <a:pPr marL="0" indent="0">
              <a:buNone/>
            </a:pPr>
            <a:r>
              <a:rPr lang="en-US" sz="1550" b="1" dirty="0">
                <a:solidFill>
                  <a:srgbClr val="0C2C3A"/>
                </a:solidFill>
                <a:latin typeface="Manrope" pitchFamily="34" charset="0"/>
                <a:ea typeface="Manrope" pitchFamily="34" charset="-122"/>
                <a:cs typeface="Manrope" pitchFamily="34" charset="-120"/>
              </a:rPr>
              <a:t>Ben Rice</a:t>
            </a:r>
            <a:endParaRPr lang="en-US" sz="1550" dirty="0"/>
          </a:p>
        </p:txBody>
      </p:sp>
      <p:sp>
        <p:nvSpPr>
          <p:cNvPr id="7" name="Text 5"/>
          <p:cNvSpPr/>
          <p:nvPr/>
        </p:nvSpPr>
        <p:spPr>
          <a:xfrm>
            <a:off x="859536" y="2478024"/>
            <a:ext cx="4901184" cy="237744"/>
          </a:xfrm>
          <a:prstGeom prst="rect">
            <a:avLst/>
          </a:prstGeom>
          <a:noFill/>
          <a:ln/>
        </p:spPr>
        <p:txBody>
          <a:bodyPr wrap="square" lIns="0" tIns="0" rIns="0" bIns="0" rtlCol="0" anchor="ctr"/>
          <a:lstStyle/>
          <a:p>
            <a:pPr marL="0" indent="0">
              <a:buNone/>
            </a:pPr>
            <a:r>
              <a:rPr lang="en-US" sz="950" b="1" kern="0" spc="60" dirty="0">
                <a:solidFill>
                  <a:srgbClr val="00B6DB"/>
                </a:solidFill>
                <a:latin typeface="Manrope" pitchFamily="34" charset="0"/>
                <a:ea typeface="Manrope" pitchFamily="34" charset="-122"/>
                <a:cs typeface="Manrope" pitchFamily="34" charset="-120"/>
              </a:rPr>
              <a:t>CHIEF OPERATIONS OFFICER</a:t>
            </a:r>
            <a:endParaRPr lang="en-US" sz="950" dirty="0"/>
          </a:p>
        </p:txBody>
      </p:sp>
      <p:sp>
        <p:nvSpPr>
          <p:cNvPr id="8" name="Text 6"/>
          <p:cNvSpPr/>
          <p:nvPr/>
        </p:nvSpPr>
        <p:spPr>
          <a:xfrm>
            <a:off x="859536" y="2715768"/>
            <a:ext cx="4901184" cy="274320"/>
          </a:xfrm>
          <a:prstGeom prst="rect">
            <a:avLst/>
          </a:prstGeom>
          <a:noFill/>
          <a:ln/>
        </p:spPr>
        <p:txBody>
          <a:bodyPr wrap="square" lIns="0" tIns="0" rIns="0" bIns="0" rtlCol="0" anchor="ctr"/>
          <a:lstStyle/>
          <a:p>
            <a:pPr marL="0" indent="0">
              <a:buNone/>
            </a:pPr>
            <a:r>
              <a:rPr lang="en-US" sz="1100" dirty="0">
                <a:solidFill>
                  <a:srgbClr val="6E7180"/>
                </a:solidFill>
                <a:latin typeface="Manrope" pitchFamily="34" charset="0"/>
                <a:ea typeface="Manrope" pitchFamily="34" charset="-122"/>
                <a:cs typeface="Manrope" pitchFamily="34" charset="-120"/>
              </a:rPr>
              <a:t>Operations, delivery and safety across the business.</a:t>
            </a:r>
            <a:endParaRPr lang="en-US" sz="1100" dirty="0"/>
          </a:p>
        </p:txBody>
      </p:sp>
      <p:sp>
        <p:nvSpPr>
          <p:cNvPr id="9" name="Shape 7"/>
          <p:cNvSpPr/>
          <p:nvPr/>
        </p:nvSpPr>
        <p:spPr>
          <a:xfrm>
            <a:off x="6126480" y="2148840"/>
            <a:ext cx="64008" cy="841248"/>
          </a:xfrm>
          <a:prstGeom prst="rect">
            <a:avLst/>
          </a:prstGeom>
          <a:solidFill>
            <a:srgbClr val="00B6DB"/>
          </a:solidFill>
          <a:ln/>
        </p:spPr>
        <p:txBody>
          <a:bodyPr/>
          <a:lstStyle/>
          <a:p>
            <a:endParaRPr lang="en-US"/>
          </a:p>
        </p:txBody>
      </p:sp>
      <p:sp>
        <p:nvSpPr>
          <p:cNvPr id="10" name="Text 8"/>
          <p:cNvSpPr/>
          <p:nvPr/>
        </p:nvSpPr>
        <p:spPr>
          <a:xfrm>
            <a:off x="6345936" y="2148840"/>
            <a:ext cx="4901184" cy="365760"/>
          </a:xfrm>
          <a:prstGeom prst="rect">
            <a:avLst/>
          </a:prstGeom>
          <a:noFill/>
          <a:ln/>
        </p:spPr>
        <p:txBody>
          <a:bodyPr wrap="square" lIns="0" tIns="0" rIns="0" bIns="0" rtlCol="0" anchor="ctr"/>
          <a:lstStyle/>
          <a:p>
            <a:pPr marL="0" indent="0">
              <a:buNone/>
            </a:pPr>
            <a:r>
              <a:rPr lang="en-US" sz="1550" b="1" dirty="0">
                <a:solidFill>
                  <a:srgbClr val="0C2C3A"/>
                </a:solidFill>
                <a:latin typeface="Manrope" pitchFamily="34" charset="0"/>
                <a:ea typeface="Manrope" pitchFamily="34" charset="-122"/>
                <a:cs typeface="Manrope" pitchFamily="34" charset="-120"/>
              </a:rPr>
              <a:t>Ashley Williams</a:t>
            </a:r>
            <a:endParaRPr lang="en-US" sz="1550" dirty="0"/>
          </a:p>
        </p:txBody>
      </p:sp>
      <p:sp>
        <p:nvSpPr>
          <p:cNvPr id="11" name="Text 9"/>
          <p:cNvSpPr/>
          <p:nvPr/>
        </p:nvSpPr>
        <p:spPr>
          <a:xfrm>
            <a:off x="6345936" y="2478024"/>
            <a:ext cx="4901184" cy="237744"/>
          </a:xfrm>
          <a:prstGeom prst="rect">
            <a:avLst/>
          </a:prstGeom>
          <a:noFill/>
          <a:ln/>
        </p:spPr>
        <p:txBody>
          <a:bodyPr wrap="square" lIns="0" tIns="0" rIns="0" bIns="0" rtlCol="0" anchor="ctr"/>
          <a:lstStyle/>
          <a:p>
            <a:pPr marL="0" indent="0">
              <a:buNone/>
            </a:pPr>
            <a:r>
              <a:rPr lang="en-US" sz="950" b="1" kern="0" spc="60" dirty="0">
                <a:solidFill>
                  <a:srgbClr val="00B6DB"/>
                </a:solidFill>
                <a:latin typeface="Manrope" pitchFamily="34" charset="0"/>
                <a:ea typeface="Manrope" pitchFamily="34" charset="-122"/>
                <a:cs typeface="Manrope" pitchFamily="34" charset="-120"/>
              </a:rPr>
              <a:t>CHIEF GROWTH OFFICER</a:t>
            </a:r>
            <a:endParaRPr lang="en-US" sz="950" dirty="0"/>
          </a:p>
        </p:txBody>
      </p:sp>
      <p:sp>
        <p:nvSpPr>
          <p:cNvPr id="12" name="Text 10"/>
          <p:cNvSpPr/>
          <p:nvPr/>
        </p:nvSpPr>
        <p:spPr>
          <a:xfrm>
            <a:off x="6345936" y="2715768"/>
            <a:ext cx="4901184" cy="274320"/>
          </a:xfrm>
          <a:prstGeom prst="rect">
            <a:avLst/>
          </a:prstGeom>
          <a:noFill/>
          <a:ln/>
        </p:spPr>
        <p:txBody>
          <a:bodyPr wrap="square" lIns="0" tIns="0" rIns="0" bIns="0" rtlCol="0" anchor="ctr"/>
          <a:lstStyle/>
          <a:p>
            <a:pPr marL="0" indent="0">
              <a:buNone/>
            </a:pPr>
            <a:r>
              <a:rPr lang="en-US" sz="1100" dirty="0">
                <a:solidFill>
                  <a:srgbClr val="6E7180"/>
                </a:solidFill>
                <a:latin typeface="Manrope" pitchFamily="34" charset="0"/>
                <a:ea typeface="Manrope" pitchFamily="34" charset="-122"/>
                <a:cs typeface="Manrope" pitchFamily="34" charset="-120"/>
              </a:rPr>
              <a:t>Growth, client relationships and new business.</a:t>
            </a:r>
            <a:endParaRPr lang="en-US" sz="1100" dirty="0"/>
          </a:p>
        </p:txBody>
      </p:sp>
      <p:sp>
        <p:nvSpPr>
          <p:cNvPr id="13" name="Shape 11"/>
          <p:cNvSpPr/>
          <p:nvPr/>
        </p:nvSpPr>
        <p:spPr>
          <a:xfrm>
            <a:off x="640080" y="3703320"/>
            <a:ext cx="64008" cy="841248"/>
          </a:xfrm>
          <a:prstGeom prst="rect">
            <a:avLst/>
          </a:prstGeom>
          <a:solidFill>
            <a:srgbClr val="00B6DB"/>
          </a:solidFill>
          <a:ln/>
        </p:spPr>
        <p:txBody>
          <a:bodyPr/>
          <a:lstStyle/>
          <a:p>
            <a:endParaRPr lang="en-US"/>
          </a:p>
        </p:txBody>
      </p:sp>
      <p:sp>
        <p:nvSpPr>
          <p:cNvPr id="14" name="Text 12"/>
          <p:cNvSpPr/>
          <p:nvPr/>
        </p:nvSpPr>
        <p:spPr>
          <a:xfrm>
            <a:off x="859536" y="3703320"/>
            <a:ext cx="4901184" cy="365760"/>
          </a:xfrm>
          <a:prstGeom prst="rect">
            <a:avLst/>
          </a:prstGeom>
          <a:noFill/>
          <a:ln/>
        </p:spPr>
        <p:txBody>
          <a:bodyPr wrap="square" lIns="0" tIns="0" rIns="0" bIns="0" rtlCol="0" anchor="ctr"/>
          <a:lstStyle/>
          <a:p>
            <a:pPr marL="0" indent="0">
              <a:buNone/>
            </a:pPr>
            <a:r>
              <a:rPr lang="en-US" sz="1550" b="1" dirty="0">
                <a:solidFill>
                  <a:srgbClr val="0C2C3A"/>
                </a:solidFill>
                <a:latin typeface="Manrope" pitchFamily="34" charset="0"/>
                <a:ea typeface="Manrope" pitchFamily="34" charset="-122"/>
                <a:cs typeface="Manrope" pitchFamily="34" charset="-120"/>
              </a:rPr>
              <a:t>Jonathan Adler</a:t>
            </a:r>
            <a:endParaRPr lang="en-US" sz="1550" dirty="0"/>
          </a:p>
        </p:txBody>
      </p:sp>
      <p:sp>
        <p:nvSpPr>
          <p:cNvPr id="15" name="Text 13"/>
          <p:cNvSpPr/>
          <p:nvPr/>
        </p:nvSpPr>
        <p:spPr>
          <a:xfrm>
            <a:off x="859536" y="4032504"/>
            <a:ext cx="4901184" cy="237744"/>
          </a:xfrm>
          <a:prstGeom prst="rect">
            <a:avLst/>
          </a:prstGeom>
          <a:noFill/>
          <a:ln/>
        </p:spPr>
        <p:txBody>
          <a:bodyPr wrap="square" lIns="0" tIns="0" rIns="0" bIns="0" rtlCol="0" anchor="ctr"/>
          <a:lstStyle/>
          <a:p>
            <a:pPr marL="0" indent="0">
              <a:buNone/>
            </a:pPr>
            <a:r>
              <a:rPr lang="en-US" sz="950" b="1" kern="0" spc="60" dirty="0">
                <a:solidFill>
                  <a:srgbClr val="00B6DB"/>
                </a:solidFill>
                <a:latin typeface="Manrope" pitchFamily="34" charset="0"/>
                <a:ea typeface="Manrope" pitchFamily="34" charset="-122"/>
                <a:cs typeface="Manrope" pitchFamily="34" charset="-120"/>
              </a:rPr>
              <a:t>CLIENT SERVICES DIRECTOR</a:t>
            </a:r>
            <a:endParaRPr lang="en-US" sz="950" dirty="0"/>
          </a:p>
        </p:txBody>
      </p:sp>
      <p:sp>
        <p:nvSpPr>
          <p:cNvPr id="16" name="Text 14"/>
          <p:cNvSpPr/>
          <p:nvPr/>
        </p:nvSpPr>
        <p:spPr>
          <a:xfrm>
            <a:off x="859536" y="4270248"/>
            <a:ext cx="4901184" cy="274320"/>
          </a:xfrm>
          <a:prstGeom prst="rect">
            <a:avLst/>
          </a:prstGeom>
          <a:noFill/>
          <a:ln/>
        </p:spPr>
        <p:txBody>
          <a:bodyPr wrap="square" lIns="0" tIns="0" rIns="0" bIns="0" rtlCol="0" anchor="ctr"/>
          <a:lstStyle/>
          <a:p>
            <a:pPr marL="0" indent="0">
              <a:buNone/>
            </a:pPr>
            <a:r>
              <a:rPr lang="en-US" sz="1100" dirty="0">
                <a:solidFill>
                  <a:srgbClr val="6E7180"/>
                </a:solidFill>
                <a:latin typeface="Manrope" pitchFamily="34" charset="0"/>
                <a:ea typeface="Manrope" pitchFamily="34" charset="-122"/>
                <a:cs typeface="Manrope" pitchFamily="34" charset="-120"/>
              </a:rPr>
              <a:t>Client services and account delivery.</a:t>
            </a:r>
            <a:endParaRPr lang="en-US" sz="1100" dirty="0"/>
          </a:p>
        </p:txBody>
      </p:sp>
      <p:sp>
        <p:nvSpPr>
          <p:cNvPr id="17" name="Shape 15"/>
          <p:cNvSpPr/>
          <p:nvPr/>
        </p:nvSpPr>
        <p:spPr>
          <a:xfrm>
            <a:off x="6126480" y="3703320"/>
            <a:ext cx="64008" cy="841248"/>
          </a:xfrm>
          <a:prstGeom prst="rect">
            <a:avLst/>
          </a:prstGeom>
          <a:solidFill>
            <a:srgbClr val="00B6DB"/>
          </a:solidFill>
          <a:ln/>
        </p:spPr>
        <p:txBody>
          <a:bodyPr/>
          <a:lstStyle/>
          <a:p>
            <a:endParaRPr lang="en-US"/>
          </a:p>
        </p:txBody>
      </p:sp>
      <p:sp>
        <p:nvSpPr>
          <p:cNvPr id="18" name="Text 16"/>
          <p:cNvSpPr/>
          <p:nvPr/>
        </p:nvSpPr>
        <p:spPr>
          <a:xfrm>
            <a:off x="6345936" y="3703320"/>
            <a:ext cx="4901184" cy="365760"/>
          </a:xfrm>
          <a:prstGeom prst="rect">
            <a:avLst/>
          </a:prstGeom>
          <a:noFill/>
          <a:ln/>
        </p:spPr>
        <p:txBody>
          <a:bodyPr wrap="square" lIns="0" tIns="0" rIns="0" bIns="0" rtlCol="0" anchor="ctr"/>
          <a:lstStyle/>
          <a:p>
            <a:pPr marL="0" indent="0">
              <a:buNone/>
            </a:pPr>
            <a:r>
              <a:rPr lang="en-US" sz="1550" b="1" dirty="0">
                <a:solidFill>
                  <a:srgbClr val="0C2C3A"/>
                </a:solidFill>
                <a:latin typeface="Manrope" pitchFamily="34" charset="0"/>
                <a:ea typeface="Manrope" pitchFamily="34" charset="-122"/>
                <a:cs typeface="Manrope" pitchFamily="34" charset="-120"/>
              </a:rPr>
              <a:t>Wayne Arscott</a:t>
            </a:r>
            <a:endParaRPr lang="en-US" sz="1550" dirty="0"/>
          </a:p>
        </p:txBody>
      </p:sp>
      <p:sp>
        <p:nvSpPr>
          <p:cNvPr id="19" name="Text 17"/>
          <p:cNvSpPr/>
          <p:nvPr/>
        </p:nvSpPr>
        <p:spPr>
          <a:xfrm>
            <a:off x="6345936" y="4032504"/>
            <a:ext cx="4901184" cy="237744"/>
          </a:xfrm>
          <a:prstGeom prst="rect">
            <a:avLst/>
          </a:prstGeom>
          <a:noFill/>
          <a:ln/>
        </p:spPr>
        <p:txBody>
          <a:bodyPr wrap="square" lIns="0" tIns="0" rIns="0" bIns="0" rtlCol="0" anchor="ctr"/>
          <a:lstStyle/>
          <a:p>
            <a:pPr marL="0" indent="0">
              <a:buNone/>
            </a:pPr>
            <a:r>
              <a:rPr lang="en-US" sz="950" b="1" kern="0" spc="60" dirty="0">
                <a:solidFill>
                  <a:srgbClr val="00B6DB"/>
                </a:solidFill>
                <a:latin typeface="Manrope" pitchFamily="34" charset="0"/>
                <a:ea typeface="Manrope" pitchFamily="34" charset="-122"/>
                <a:cs typeface="Manrope" pitchFamily="34" charset="-120"/>
              </a:rPr>
              <a:t>WATER SERVICES DIRECTOR</a:t>
            </a:r>
            <a:endParaRPr lang="en-US" sz="950" dirty="0"/>
          </a:p>
        </p:txBody>
      </p:sp>
      <p:sp>
        <p:nvSpPr>
          <p:cNvPr id="20" name="Text 18"/>
          <p:cNvSpPr/>
          <p:nvPr/>
        </p:nvSpPr>
        <p:spPr>
          <a:xfrm>
            <a:off x="6345936" y="4270248"/>
            <a:ext cx="4901184" cy="274320"/>
          </a:xfrm>
          <a:prstGeom prst="rect">
            <a:avLst/>
          </a:prstGeom>
          <a:noFill/>
          <a:ln/>
        </p:spPr>
        <p:txBody>
          <a:bodyPr wrap="square" lIns="0" tIns="0" rIns="0" bIns="0" rtlCol="0" anchor="ctr"/>
          <a:lstStyle/>
          <a:p>
            <a:pPr marL="0" indent="0">
              <a:buNone/>
            </a:pPr>
            <a:r>
              <a:rPr lang="en-US" sz="1100" dirty="0">
                <a:solidFill>
                  <a:srgbClr val="6E7180"/>
                </a:solidFill>
                <a:latin typeface="Manrope" pitchFamily="34" charset="0"/>
                <a:ea typeface="Manrope" pitchFamily="34" charset="-122"/>
                <a:cs typeface="Manrope" pitchFamily="34" charset="-120"/>
              </a:rPr>
              <a:t>Water services and technical delivery.</a:t>
            </a:r>
            <a:endParaRPr lang="en-US" sz="1100" dirty="0"/>
          </a:p>
        </p:txBody>
      </p:sp>
      <p:pic>
        <p:nvPicPr>
          <p:cNvPr id="21" name="Image 0" descr="/home/claude/deck/img/mark.png"/>
          <p:cNvPicPr>
            <a:picLocks noChangeAspect="1"/>
          </p:cNvPicPr>
          <p:nvPr/>
        </p:nvPicPr>
        <p:blipFill>
          <a:blip r:embed="rId3"/>
          <a:stretch>
            <a:fillRect/>
          </a:stretch>
        </p:blipFill>
        <p:spPr>
          <a:xfrm>
            <a:off x="640080" y="6364224"/>
            <a:ext cx="274320" cy="274320"/>
          </a:xfrm>
          <a:prstGeom prst="rect">
            <a:avLst/>
          </a:prstGeom>
        </p:spPr>
      </p:pic>
      <p:sp>
        <p:nvSpPr>
          <p:cNvPr id="22" name="Text 19"/>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23" name="Text 20"/>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24" name="Text 21"/>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06  ·  PEOPLE AND NEXT STEPS</a:t>
            </a:r>
            <a:endParaRPr lang="en-US" sz="1100" dirty="0"/>
          </a:p>
        </p:txBody>
      </p:sp>
      <p:sp>
        <p:nvSpPr>
          <p:cNvPr id="3" name="Text 1"/>
          <p:cNvSpPr/>
          <p:nvPr/>
        </p:nvSpPr>
        <p:spPr>
          <a:xfrm>
            <a:off x="640080" y="676656"/>
            <a:ext cx="10911535"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The team we deploy</a:t>
            </a:r>
            <a:endParaRPr lang="en-US" sz="2800" dirty="0"/>
          </a:p>
        </p:txBody>
      </p:sp>
      <p:sp>
        <p:nvSpPr>
          <p:cNvPr id="4" name="Shape 2"/>
          <p:cNvSpPr/>
          <p:nvPr/>
        </p:nvSpPr>
        <p:spPr>
          <a:xfrm>
            <a:off x="640080" y="2011680"/>
            <a:ext cx="3454298" cy="3291840"/>
          </a:xfrm>
          <a:prstGeom prst="roundRect">
            <a:avLst>
              <a:gd name="adj" fmla="val 2500"/>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txBody>
          <a:bodyPr/>
          <a:lstStyle/>
          <a:p>
            <a:endParaRPr lang="en-US"/>
          </a:p>
        </p:txBody>
      </p:sp>
      <p:sp>
        <p:nvSpPr>
          <p:cNvPr id="5" name="Shape 3"/>
          <p:cNvSpPr/>
          <p:nvPr/>
        </p:nvSpPr>
        <p:spPr>
          <a:xfrm>
            <a:off x="1005840" y="2377440"/>
            <a:ext cx="822960" cy="822960"/>
          </a:xfrm>
          <a:prstGeom prst="ellipse">
            <a:avLst/>
          </a:prstGeom>
          <a:solidFill>
            <a:srgbClr val="00B6D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207008" y="2578608"/>
            <a:ext cx="420624" cy="420624"/>
          </a:xfrm>
          <a:prstGeom prst="rect">
            <a:avLst/>
          </a:prstGeom>
        </p:spPr>
      </p:pic>
      <p:sp>
        <p:nvSpPr>
          <p:cNvPr id="7" name="Text 4"/>
          <p:cNvSpPr/>
          <p:nvPr/>
        </p:nvSpPr>
        <p:spPr>
          <a:xfrm>
            <a:off x="1005840" y="3337560"/>
            <a:ext cx="2722778" cy="457200"/>
          </a:xfrm>
          <a:prstGeom prst="rect">
            <a:avLst/>
          </a:prstGeom>
          <a:noFill/>
          <a:ln/>
        </p:spPr>
        <p:txBody>
          <a:bodyPr wrap="square" lIns="0" tIns="0" rIns="0" bIns="0" rtlCol="0" anchor="ctr"/>
          <a:lstStyle/>
          <a:p>
            <a:pPr marL="0" indent="0">
              <a:lnSpc>
                <a:spcPct val="103000"/>
              </a:lnSpc>
              <a:buNone/>
            </a:pPr>
            <a:r>
              <a:rPr lang="en-US" sz="1700" b="1" dirty="0">
                <a:solidFill>
                  <a:srgbClr val="0C2C3A"/>
                </a:solidFill>
                <a:latin typeface="Manrope" pitchFamily="34" charset="0"/>
                <a:ea typeface="Manrope" pitchFamily="34" charset="-122"/>
                <a:cs typeface="Manrope" pitchFamily="34" charset="-120"/>
              </a:rPr>
              <a:t>Field delivery</a:t>
            </a:r>
            <a:endParaRPr lang="en-US" sz="1700" dirty="0"/>
          </a:p>
        </p:txBody>
      </p:sp>
      <p:sp>
        <p:nvSpPr>
          <p:cNvPr id="8" name="Text 5"/>
          <p:cNvSpPr/>
          <p:nvPr/>
        </p:nvSpPr>
        <p:spPr>
          <a:xfrm>
            <a:off x="1005840" y="3849624"/>
            <a:ext cx="2722778" cy="1325880"/>
          </a:xfrm>
          <a:prstGeom prst="rect">
            <a:avLst/>
          </a:prstGeom>
          <a:noFill/>
          <a:ln/>
        </p:spPr>
        <p:txBody>
          <a:bodyPr wrap="square" lIns="0" tIns="0" rIns="0" bIns="0" rtlCol="0" anchor="ctr"/>
          <a:lstStyle/>
          <a:p>
            <a:pPr marL="0" indent="0">
              <a:lnSpc>
                <a:spcPct val="116000"/>
              </a:lnSpc>
              <a:buNone/>
            </a:pPr>
            <a:r>
              <a:rPr lang="en-US" sz="1250" dirty="0">
                <a:solidFill>
                  <a:srgbClr val="6E7180"/>
                </a:solidFill>
                <a:latin typeface="Manrope" pitchFamily="34" charset="0"/>
                <a:ea typeface="Manrope" pitchFamily="34" charset="-122"/>
                <a:cs typeface="Manrope" pitchFamily="34" charset="-120"/>
              </a:rPr>
              <a:t>Engineers, technicians, plumbers and auditors delivering detection, repair and installation on the ground.</a:t>
            </a:r>
            <a:endParaRPr lang="en-US" sz="1250" dirty="0"/>
          </a:p>
        </p:txBody>
      </p:sp>
      <p:sp>
        <p:nvSpPr>
          <p:cNvPr id="9" name="Shape 6"/>
          <p:cNvSpPr/>
          <p:nvPr/>
        </p:nvSpPr>
        <p:spPr>
          <a:xfrm>
            <a:off x="4368698" y="2011680"/>
            <a:ext cx="3454298" cy="3291840"/>
          </a:xfrm>
          <a:prstGeom prst="roundRect">
            <a:avLst>
              <a:gd name="adj" fmla="val 2500"/>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txBody>
          <a:bodyPr/>
          <a:lstStyle/>
          <a:p>
            <a:endParaRPr lang="en-US"/>
          </a:p>
        </p:txBody>
      </p:sp>
      <p:sp>
        <p:nvSpPr>
          <p:cNvPr id="10" name="Shape 7"/>
          <p:cNvSpPr/>
          <p:nvPr/>
        </p:nvSpPr>
        <p:spPr>
          <a:xfrm>
            <a:off x="4734458" y="2377440"/>
            <a:ext cx="822960" cy="822960"/>
          </a:xfrm>
          <a:prstGeom prst="ellipse">
            <a:avLst/>
          </a:prstGeom>
          <a:solidFill>
            <a:srgbClr val="00B6DB"/>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935626" y="2578608"/>
            <a:ext cx="420624" cy="420624"/>
          </a:xfrm>
          <a:prstGeom prst="rect">
            <a:avLst/>
          </a:prstGeom>
        </p:spPr>
      </p:pic>
      <p:sp>
        <p:nvSpPr>
          <p:cNvPr id="12" name="Text 8"/>
          <p:cNvSpPr/>
          <p:nvPr/>
        </p:nvSpPr>
        <p:spPr>
          <a:xfrm>
            <a:off x="4734458" y="3337560"/>
            <a:ext cx="2722778" cy="457200"/>
          </a:xfrm>
          <a:prstGeom prst="rect">
            <a:avLst/>
          </a:prstGeom>
          <a:noFill/>
          <a:ln/>
        </p:spPr>
        <p:txBody>
          <a:bodyPr wrap="square" lIns="0" tIns="0" rIns="0" bIns="0" rtlCol="0" anchor="ctr"/>
          <a:lstStyle/>
          <a:p>
            <a:pPr marL="0" indent="0">
              <a:lnSpc>
                <a:spcPct val="103000"/>
              </a:lnSpc>
              <a:buNone/>
            </a:pPr>
            <a:r>
              <a:rPr lang="en-US" sz="1700" b="1" dirty="0">
                <a:solidFill>
                  <a:srgbClr val="0C2C3A"/>
                </a:solidFill>
                <a:latin typeface="Manrope" pitchFamily="34" charset="0"/>
                <a:ea typeface="Manrope" pitchFamily="34" charset="-122"/>
                <a:cs typeface="Manrope" pitchFamily="34" charset="-120"/>
              </a:rPr>
              <a:t>Technical and data</a:t>
            </a:r>
            <a:endParaRPr lang="en-US" sz="1700" dirty="0"/>
          </a:p>
        </p:txBody>
      </p:sp>
      <p:sp>
        <p:nvSpPr>
          <p:cNvPr id="13" name="Text 9"/>
          <p:cNvSpPr/>
          <p:nvPr/>
        </p:nvSpPr>
        <p:spPr>
          <a:xfrm>
            <a:off x="4734458" y="3849624"/>
            <a:ext cx="2722778" cy="1325880"/>
          </a:xfrm>
          <a:prstGeom prst="rect">
            <a:avLst/>
          </a:prstGeom>
          <a:noFill/>
          <a:ln/>
        </p:spPr>
        <p:txBody>
          <a:bodyPr wrap="square" lIns="0" tIns="0" rIns="0" bIns="0" rtlCol="0" anchor="ctr"/>
          <a:lstStyle/>
          <a:p>
            <a:pPr marL="0" indent="0">
              <a:lnSpc>
                <a:spcPct val="116000"/>
              </a:lnSpc>
              <a:buNone/>
            </a:pPr>
            <a:r>
              <a:rPr lang="en-US" sz="1250" dirty="0">
                <a:solidFill>
                  <a:srgbClr val="6E7180"/>
                </a:solidFill>
                <a:latin typeface="Manrope" pitchFamily="34" charset="0"/>
                <a:ea typeface="Manrope" pitchFamily="34" charset="-122"/>
                <a:cs typeface="Manrope" pitchFamily="34" charset="-120"/>
              </a:rPr>
              <a:t>Analysts and technical specialists turning survey and network data into targeted action.</a:t>
            </a:r>
            <a:endParaRPr lang="en-US" sz="1250" dirty="0"/>
          </a:p>
        </p:txBody>
      </p:sp>
      <p:sp>
        <p:nvSpPr>
          <p:cNvPr id="14" name="Shape 10"/>
          <p:cNvSpPr/>
          <p:nvPr/>
        </p:nvSpPr>
        <p:spPr>
          <a:xfrm>
            <a:off x="8097317" y="2011680"/>
            <a:ext cx="3454298" cy="3291840"/>
          </a:xfrm>
          <a:prstGeom prst="roundRect">
            <a:avLst>
              <a:gd name="adj" fmla="val 2500"/>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txBody>
          <a:bodyPr/>
          <a:lstStyle/>
          <a:p>
            <a:endParaRPr lang="en-US"/>
          </a:p>
        </p:txBody>
      </p:sp>
      <p:sp>
        <p:nvSpPr>
          <p:cNvPr id="15" name="Shape 11"/>
          <p:cNvSpPr/>
          <p:nvPr/>
        </p:nvSpPr>
        <p:spPr>
          <a:xfrm>
            <a:off x="8463077" y="2377440"/>
            <a:ext cx="822960" cy="822960"/>
          </a:xfrm>
          <a:prstGeom prst="ellipse">
            <a:avLst/>
          </a:prstGeom>
          <a:solidFill>
            <a:srgbClr val="00B6DB"/>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8664245" y="2578608"/>
            <a:ext cx="420624" cy="420624"/>
          </a:xfrm>
          <a:prstGeom prst="rect">
            <a:avLst/>
          </a:prstGeom>
        </p:spPr>
      </p:pic>
      <p:sp>
        <p:nvSpPr>
          <p:cNvPr id="17" name="Text 12"/>
          <p:cNvSpPr/>
          <p:nvPr/>
        </p:nvSpPr>
        <p:spPr>
          <a:xfrm>
            <a:off x="8463077" y="3337560"/>
            <a:ext cx="2722778" cy="457200"/>
          </a:xfrm>
          <a:prstGeom prst="rect">
            <a:avLst/>
          </a:prstGeom>
          <a:noFill/>
          <a:ln/>
        </p:spPr>
        <p:txBody>
          <a:bodyPr wrap="square" lIns="0" tIns="0" rIns="0" bIns="0" rtlCol="0" anchor="ctr"/>
          <a:lstStyle/>
          <a:p>
            <a:pPr marL="0" indent="0">
              <a:lnSpc>
                <a:spcPct val="103000"/>
              </a:lnSpc>
              <a:buNone/>
            </a:pPr>
            <a:r>
              <a:rPr lang="en-US" sz="1700" b="1" dirty="0">
                <a:solidFill>
                  <a:srgbClr val="0C2C3A"/>
                </a:solidFill>
                <a:latin typeface="Manrope" pitchFamily="34" charset="0"/>
                <a:ea typeface="Manrope" pitchFamily="34" charset="-122"/>
                <a:cs typeface="Manrope" pitchFamily="34" charset="-120"/>
              </a:rPr>
              <a:t>Management</a:t>
            </a:r>
            <a:endParaRPr lang="en-US" sz="1700" dirty="0"/>
          </a:p>
        </p:txBody>
      </p:sp>
      <p:sp>
        <p:nvSpPr>
          <p:cNvPr id="18" name="Text 13"/>
          <p:cNvSpPr/>
          <p:nvPr/>
        </p:nvSpPr>
        <p:spPr>
          <a:xfrm>
            <a:off x="8463077" y="3849624"/>
            <a:ext cx="2722778" cy="1325880"/>
          </a:xfrm>
          <a:prstGeom prst="rect">
            <a:avLst/>
          </a:prstGeom>
          <a:noFill/>
          <a:ln/>
        </p:spPr>
        <p:txBody>
          <a:bodyPr wrap="square" lIns="0" tIns="0" rIns="0" bIns="0" rtlCol="0" anchor="ctr"/>
          <a:lstStyle/>
          <a:p>
            <a:pPr marL="0" indent="0">
              <a:lnSpc>
                <a:spcPct val="116000"/>
              </a:lnSpc>
              <a:buNone/>
            </a:pPr>
            <a:r>
              <a:rPr lang="en-US" sz="1250" dirty="0">
                <a:solidFill>
                  <a:srgbClr val="6E7180"/>
                </a:solidFill>
                <a:latin typeface="Manrope" pitchFamily="34" charset="0"/>
                <a:ea typeface="Manrope" pitchFamily="34" charset="-122"/>
                <a:cs typeface="Manrope" pitchFamily="34" charset="-120"/>
              </a:rPr>
              <a:t>Locally based project and contract management keeping delivery on track.</a:t>
            </a:r>
            <a:endParaRPr lang="en-US" sz="1250" dirty="0"/>
          </a:p>
        </p:txBody>
      </p:sp>
      <p:pic>
        <p:nvPicPr>
          <p:cNvPr id="19" name="Image 3" descr="/home/claude/deck/img/mark.png"/>
          <p:cNvPicPr>
            <a:picLocks noChangeAspect="1"/>
          </p:cNvPicPr>
          <p:nvPr/>
        </p:nvPicPr>
        <p:blipFill>
          <a:blip r:embed="rId6"/>
          <a:stretch>
            <a:fillRect/>
          </a:stretch>
        </p:blipFill>
        <p:spPr>
          <a:xfrm>
            <a:off x="640080" y="6364224"/>
            <a:ext cx="274320" cy="274320"/>
          </a:xfrm>
          <a:prstGeom prst="rect">
            <a:avLst/>
          </a:prstGeom>
        </p:spPr>
      </p:pic>
      <p:sp>
        <p:nvSpPr>
          <p:cNvPr id="20" name="Text 14"/>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21" name="Text 15"/>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22" name="Text 16"/>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26</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06  ·  PEOPLE AND NEXT STEPS</a:t>
            </a:r>
            <a:endParaRPr lang="en-US" sz="1100" dirty="0"/>
          </a:p>
        </p:txBody>
      </p:sp>
      <p:sp>
        <p:nvSpPr>
          <p:cNvPr id="3" name="Text 1"/>
          <p:cNvSpPr/>
          <p:nvPr/>
        </p:nvSpPr>
        <p:spPr>
          <a:xfrm>
            <a:off x="640080" y="676656"/>
            <a:ext cx="10911535"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Our commitment to people</a:t>
            </a:r>
            <a:endParaRPr lang="en-US" sz="2800" dirty="0"/>
          </a:p>
        </p:txBody>
      </p:sp>
      <p:sp>
        <p:nvSpPr>
          <p:cNvPr id="4" name="Shape 2"/>
          <p:cNvSpPr/>
          <p:nvPr/>
        </p:nvSpPr>
        <p:spPr>
          <a:xfrm>
            <a:off x="640080" y="1965960"/>
            <a:ext cx="2522144" cy="3566160"/>
          </a:xfrm>
          <a:prstGeom prst="roundRect">
            <a:avLst>
              <a:gd name="adj" fmla="val 3263"/>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txBody>
          <a:bodyPr/>
          <a:lstStyle/>
          <a:p>
            <a:endParaRPr lang="en-US"/>
          </a:p>
        </p:txBody>
      </p:sp>
      <p:sp>
        <p:nvSpPr>
          <p:cNvPr id="5" name="Shape 3"/>
          <p:cNvSpPr/>
          <p:nvPr/>
        </p:nvSpPr>
        <p:spPr>
          <a:xfrm>
            <a:off x="1005840" y="2331720"/>
            <a:ext cx="822960" cy="822960"/>
          </a:xfrm>
          <a:prstGeom prst="ellipse">
            <a:avLst/>
          </a:prstGeom>
          <a:solidFill>
            <a:srgbClr val="00B6D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207008" y="2532888"/>
            <a:ext cx="420624" cy="420624"/>
          </a:xfrm>
          <a:prstGeom prst="rect">
            <a:avLst/>
          </a:prstGeom>
        </p:spPr>
      </p:pic>
      <p:sp>
        <p:nvSpPr>
          <p:cNvPr id="7" name="Text 4"/>
          <p:cNvSpPr/>
          <p:nvPr/>
        </p:nvSpPr>
        <p:spPr>
          <a:xfrm>
            <a:off x="1005840" y="3291840"/>
            <a:ext cx="1790624" cy="457200"/>
          </a:xfrm>
          <a:prstGeom prst="rect">
            <a:avLst/>
          </a:prstGeom>
          <a:noFill/>
          <a:ln/>
        </p:spPr>
        <p:txBody>
          <a:bodyPr wrap="square" lIns="0" tIns="0" rIns="0" bIns="0" rtlCol="0" anchor="ctr"/>
          <a:lstStyle/>
          <a:p>
            <a:pPr marL="0" indent="0">
              <a:lnSpc>
                <a:spcPct val="103000"/>
              </a:lnSpc>
              <a:buNone/>
            </a:pPr>
            <a:r>
              <a:rPr lang="en-US" sz="1600" b="1" dirty="0">
                <a:solidFill>
                  <a:srgbClr val="0C2C3A"/>
                </a:solidFill>
                <a:latin typeface="Manrope" pitchFamily="34" charset="0"/>
                <a:ea typeface="Manrope" pitchFamily="34" charset="-122"/>
                <a:cs typeface="Manrope" pitchFamily="34" charset="-120"/>
              </a:rPr>
              <a:t>A clear pathway</a:t>
            </a:r>
            <a:endParaRPr lang="en-US" sz="1600" dirty="0"/>
          </a:p>
        </p:txBody>
      </p:sp>
      <p:sp>
        <p:nvSpPr>
          <p:cNvPr id="8" name="Text 5"/>
          <p:cNvSpPr/>
          <p:nvPr/>
        </p:nvSpPr>
        <p:spPr>
          <a:xfrm>
            <a:off x="1005840" y="3803904"/>
            <a:ext cx="1790624" cy="1600200"/>
          </a:xfrm>
          <a:prstGeom prst="rect">
            <a:avLst/>
          </a:prstGeom>
          <a:noFill/>
          <a:ln/>
        </p:spPr>
        <p:txBody>
          <a:bodyPr wrap="square" lIns="0" tIns="0" rIns="0" bIns="0" rtlCol="0" anchor="ctr"/>
          <a:lstStyle/>
          <a:p>
            <a:pPr marL="0" indent="0">
              <a:lnSpc>
                <a:spcPct val="116000"/>
              </a:lnSpc>
              <a:buNone/>
            </a:pPr>
            <a:r>
              <a:rPr lang="en-US" sz="1200" dirty="0">
                <a:solidFill>
                  <a:srgbClr val="6E7180"/>
                </a:solidFill>
                <a:latin typeface="Manrope" pitchFamily="34" charset="0"/>
                <a:ea typeface="Manrope" pitchFamily="34" charset="-122"/>
                <a:cs typeface="Manrope" pitchFamily="34" charset="-120"/>
              </a:rPr>
              <a:t>A pathway for future talent to excel in the industry.</a:t>
            </a:r>
            <a:endParaRPr lang="en-US" sz="1200" dirty="0"/>
          </a:p>
        </p:txBody>
      </p:sp>
      <p:sp>
        <p:nvSpPr>
          <p:cNvPr id="9" name="Shape 6"/>
          <p:cNvSpPr/>
          <p:nvPr/>
        </p:nvSpPr>
        <p:spPr>
          <a:xfrm>
            <a:off x="3436544" y="1965960"/>
            <a:ext cx="2522144" cy="3566160"/>
          </a:xfrm>
          <a:prstGeom prst="roundRect">
            <a:avLst>
              <a:gd name="adj" fmla="val 3263"/>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txBody>
          <a:bodyPr/>
          <a:lstStyle/>
          <a:p>
            <a:endParaRPr lang="en-US"/>
          </a:p>
        </p:txBody>
      </p:sp>
      <p:sp>
        <p:nvSpPr>
          <p:cNvPr id="10" name="Shape 7"/>
          <p:cNvSpPr/>
          <p:nvPr/>
        </p:nvSpPr>
        <p:spPr>
          <a:xfrm>
            <a:off x="3802304" y="2331720"/>
            <a:ext cx="822960" cy="822960"/>
          </a:xfrm>
          <a:prstGeom prst="ellipse">
            <a:avLst/>
          </a:prstGeom>
          <a:solidFill>
            <a:srgbClr val="00B6DB"/>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003472" y="2532888"/>
            <a:ext cx="420624" cy="420624"/>
          </a:xfrm>
          <a:prstGeom prst="rect">
            <a:avLst/>
          </a:prstGeom>
        </p:spPr>
      </p:pic>
      <p:sp>
        <p:nvSpPr>
          <p:cNvPr id="12" name="Text 8"/>
          <p:cNvSpPr/>
          <p:nvPr/>
        </p:nvSpPr>
        <p:spPr>
          <a:xfrm>
            <a:off x="3802304" y="3291840"/>
            <a:ext cx="1790624" cy="457200"/>
          </a:xfrm>
          <a:prstGeom prst="rect">
            <a:avLst/>
          </a:prstGeom>
          <a:noFill/>
          <a:ln/>
        </p:spPr>
        <p:txBody>
          <a:bodyPr wrap="square" lIns="0" tIns="0" rIns="0" bIns="0" rtlCol="0" anchor="ctr"/>
          <a:lstStyle/>
          <a:p>
            <a:pPr marL="0" indent="0">
              <a:lnSpc>
                <a:spcPct val="103000"/>
              </a:lnSpc>
              <a:buNone/>
            </a:pPr>
            <a:r>
              <a:rPr lang="en-US" sz="1600" b="1" dirty="0">
                <a:solidFill>
                  <a:srgbClr val="0C2C3A"/>
                </a:solidFill>
                <a:latin typeface="Manrope" pitchFamily="34" charset="0"/>
                <a:ea typeface="Manrope" pitchFamily="34" charset="-122"/>
                <a:cs typeface="Manrope" pitchFamily="34" charset="-120"/>
              </a:rPr>
              <a:t>Fair reward</a:t>
            </a:r>
            <a:endParaRPr lang="en-US" sz="1600" dirty="0"/>
          </a:p>
        </p:txBody>
      </p:sp>
      <p:sp>
        <p:nvSpPr>
          <p:cNvPr id="13" name="Text 9"/>
          <p:cNvSpPr/>
          <p:nvPr/>
        </p:nvSpPr>
        <p:spPr>
          <a:xfrm>
            <a:off x="3802304" y="3803904"/>
            <a:ext cx="1790624" cy="1600200"/>
          </a:xfrm>
          <a:prstGeom prst="rect">
            <a:avLst/>
          </a:prstGeom>
          <a:noFill/>
          <a:ln/>
        </p:spPr>
        <p:txBody>
          <a:bodyPr wrap="square" lIns="0" tIns="0" rIns="0" bIns="0" rtlCol="0" anchor="ctr"/>
          <a:lstStyle/>
          <a:p>
            <a:pPr marL="0" indent="0">
              <a:lnSpc>
                <a:spcPct val="116000"/>
              </a:lnSpc>
              <a:buNone/>
            </a:pPr>
            <a:r>
              <a:rPr lang="en-US" sz="1200" dirty="0">
                <a:solidFill>
                  <a:srgbClr val="6E7180"/>
                </a:solidFill>
                <a:latin typeface="Manrope" pitchFamily="34" charset="0"/>
                <a:ea typeface="Manrope" pitchFamily="34" charset="-122"/>
                <a:cs typeface="Manrope" pitchFamily="34" charset="-120"/>
              </a:rPr>
              <a:t>Fair reward based on skills, knowledge and performance.</a:t>
            </a:r>
            <a:endParaRPr lang="en-US" sz="1200" dirty="0"/>
          </a:p>
        </p:txBody>
      </p:sp>
      <p:sp>
        <p:nvSpPr>
          <p:cNvPr id="14" name="Shape 10"/>
          <p:cNvSpPr/>
          <p:nvPr/>
        </p:nvSpPr>
        <p:spPr>
          <a:xfrm>
            <a:off x="6233008" y="1965960"/>
            <a:ext cx="2522144" cy="3566160"/>
          </a:xfrm>
          <a:prstGeom prst="roundRect">
            <a:avLst>
              <a:gd name="adj" fmla="val 3263"/>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txBody>
          <a:bodyPr/>
          <a:lstStyle/>
          <a:p>
            <a:endParaRPr lang="en-US"/>
          </a:p>
        </p:txBody>
      </p:sp>
      <p:sp>
        <p:nvSpPr>
          <p:cNvPr id="15" name="Shape 11"/>
          <p:cNvSpPr/>
          <p:nvPr/>
        </p:nvSpPr>
        <p:spPr>
          <a:xfrm>
            <a:off x="6598768" y="2331720"/>
            <a:ext cx="822960" cy="822960"/>
          </a:xfrm>
          <a:prstGeom prst="ellipse">
            <a:avLst/>
          </a:prstGeom>
          <a:solidFill>
            <a:srgbClr val="00B6DB"/>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6799936" y="2532888"/>
            <a:ext cx="420624" cy="420624"/>
          </a:xfrm>
          <a:prstGeom prst="rect">
            <a:avLst/>
          </a:prstGeom>
        </p:spPr>
      </p:pic>
      <p:sp>
        <p:nvSpPr>
          <p:cNvPr id="17" name="Text 12"/>
          <p:cNvSpPr/>
          <p:nvPr/>
        </p:nvSpPr>
        <p:spPr>
          <a:xfrm>
            <a:off x="6598768" y="3291840"/>
            <a:ext cx="1790624" cy="457200"/>
          </a:xfrm>
          <a:prstGeom prst="rect">
            <a:avLst/>
          </a:prstGeom>
          <a:noFill/>
          <a:ln/>
        </p:spPr>
        <p:txBody>
          <a:bodyPr wrap="square" lIns="0" tIns="0" rIns="0" bIns="0" rtlCol="0" anchor="ctr"/>
          <a:lstStyle/>
          <a:p>
            <a:pPr marL="0" indent="0">
              <a:lnSpc>
                <a:spcPct val="103000"/>
              </a:lnSpc>
              <a:buNone/>
            </a:pPr>
            <a:r>
              <a:rPr lang="en-US" sz="1600" b="1" dirty="0">
                <a:solidFill>
                  <a:srgbClr val="0C2C3A"/>
                </a:solidFill>
                <a:latin typeface="Manrope" pitchFamily="34" charset="0"/>
                <a:ea typeface="Manrope" pitchFamily="34" charset="-122"/>
                <a:cs typeface="Manrope" pitchFamily="34" charset="-120"/>
              </a:rPr>
              <a:t>Tools and support</a:t>
            </a:r>
            <a:endParaRPr lang="en-US" sz="1600" dirty="0"/>
          </a:p>
        </p:txBody>
      </p:sp>
      <p:sp>
        <p:nvSpPr>
          <p:cNvPr id="18" name="Text 13"/>
          <p:cNvSpPr/>
          <p:nvPr/>
        </p:nvSpPr>
        <p:spPr>
          <a:xfrm>
            <a:off x="6598768" y="3803904"/>
            <a:ext cx="1790624" cy="1600200"/>
          </a:xfrm>
          <a:prstGeom prst="rect">
            <a:avLst/>
          </a:prstGeom>
          <a:noFill/>
          <a:ln/>
        </p:spPr>
        <p:txBody>
          <a:bodyPr wrap="square" lIns="0" tIns="0" rIns="0" bIns="0" rtlCol="0" anchor="ctr"/>
          <a:lstStyle/>
          <a:p>
            <a:pPr marL="0" indent="0">
              <a:lnSpc>
                <a:spcPct val="116000"/>
              </a:lnSpc>
              <a:buNone/>
            </a:pPr>
            <a:r>
              <a:rPr lang="en-US" sz="1200" dirty="0">
                <a:solidFill>
                  <a:srgbClr val="6E7180"/>
                </a:solidFill>
                <a:latin typeface="Manrope" pitchFamily="34" charset="0"/>
                <a:ea typeface="Manrope" pitchFamily="34" charset="-122"/>
                <a:cs typeface="Manrope" pitchFamily="34" charset="-120"/>
              </a:rPr>
              <a:t>The tools, equipment, systems and support to do the job well.</a:t>
            </a:r>
            <a:endParaRPr lang="en-US" sz="1200" dirty="0"/>
          </a:p>
        </p:txBody>
      </p:sp>
      <p:sp>
        <p:nvSpPr>
          <p:cNvPr id="19" name="Shape 14"/>
          <p:cNvSpPr/>
          <p:nvPr/>
        </p:nvSpPr>
        <p:spPr>
          <a:xfrm>
            <a:off x="9029471" y="1965960"/>
            <a:ext cx="2522144" cy="3566160"/>
          </a:xfrm>
          <a:prstGeom prst="roundRect">
            <a:avLst>
              <a:gd name="adj" fmla="val 3263"/>
            </a:avLst>
          </a:prstGeom>
          <a:solidFill>
            <a:srgbClr val="FFFFFF"/>
          </a:solidFill>
          <a:ln w="12700">
            <a:solidFill>
              <a:srgbClr val="EDEFF7"/>
            </a:solidFill>
            <a:prstDash val="solid"/>
          </a:ln>
          <a:effectLst>
            <a:outerShdw blurRad="114300" dist="38100" dir="5400000" algn="bl" rotWithShape="0">
              <a:srgbClr val="0C2C3A">
                <a:alpha val="16000"/>
              </a:srgbClr>
            </a:outerShdw>
          </a:effectLst>
        </p:spPr>
        <p:txBody>
          <a:bodyPr/>
          <a:lstStyle/>
          <a:p>
            <a:endParaRPr lang="en-US"/>
          </a:p>
        </p:txBody>
      </p:sp>
      <p:sp>
        <p:nvSpPr>
          <p:cNvPr id="20" name="Shape 15"/>
          <p:cNvSpPr/>
          <p:nvPr/>
        </p:nvSpPr>
        <p:spPr>
          <a:xfrm>
            <a:off x="9395231" y="2331720"/>
            <a:ext cx="822960" cy="822960"/>
          </a:xfrm>
          <a:prstGeom prst="ellipse">
            <a:avLst/>
          </a:prstGeom>
          <a:solidFill>
            <a:srgbClr val="00B6DB"/>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9596399" y="2532888"/>
            <a:ext cx="420624" cy="420624"/>
          </a:xfrm>
          <a:prstGeom prst="rect">
            <a:avLst/>
          </a:prstGeom>
        </p:spPr>
      </p:pic>
      <p:sp>
        <p:nvSpPr>
          <p:cNvPr id="22" name="Text 16"/>
          <p:cNvSpPr/>
          <p:nvPr/>
        </p:nvSpPr>
        <p:spPr>
          <a:xfrm>
            <a:off x="9395231" y="3291840"/>
            <a:ext cx="1790624" cy="457200"/>
          </a:xfrm>
          <a:prstGeom prst="rect">
            <a:avLst/>
          </a:prstGeom>
          <a:noFill/>
          <a:ln/>
        </p:spPr>
        <p:txBody>
          <a:bodyPr wrap="square" lIns="0" tIns="0" rIns="0" bIns="0" rtlCol="0" anchor="ctr"/>
          <a:lstStyle/>
          <a:p>
            <a:pPr marL="0" indent="0">
              <a:lnSpc>
                <a:spcPct val="103000"/>
              </a:lnSpc>
              <a:buNone/>
            </a:pPr>
            <a:r>
              <a:rPr lang="en-US" sz="1600" b="1" dirty="0">
                <a:solidFill>
                  <a:srgbClr val="0C2C3A"/>
                </a:solidFill>
                <a:latin typeface="Manrope" pitchFamily="34" charset="0"/>
                <a:ea typeface="Manrope" pitchFamily="34" charset="-122"/>
                <a:cs typeface="Manrope" pitchFamily="34" charset="-120"/>
              </a:rPr>
              <a:t>Progression</a:t>
            </a:r>
            <a:endParaRPr lang="en-US" sz="1600" dirty="0"/>
          </a:p>
        </p:txBody>
      </p:sp>
      <p:sp>
        <p:nvSpPr>
          <p:cNvPr id="23" name="Text 17"/>
          <p:cNvSpPr/>
          <p:nvPr/>
        </p:nvSpPr>
        <p:spPr>
          <a:xfrm>
            <a:off x="9395231" y="3803904"/>
            <a:ext cx="1790624" cy="1600200"/>
          </a:xfrm>
          <a:prstGeom prst="rect">
            <a:avLst/>
          </a:prstGeom>
          <a:noFill/>
          <a:ln/>
        </p:spPr>
        <p:txBody>
          <a:bodyPr wrap="square" lIns="0" tIns="0" rIns="0" bIns="0" rtlCol="0" anchor="ctr"/>
          <a:lstStyle/>
          <a:p>
            <a:pPr marL="0" indent="0">
              <a:lnSpc>
                <a:spcPct val="116000"/>
              </a:lnSpc>
              <a:buNone/>
            </a:pPr>
            <a:r>
              <a:rPr lang="en-US" sz="1200" dirty="0">
                <a:solidFill>
                  <a:srgbClr val="6E7180"/>
                </a:solidFill>
                <a:latin typeface="Manrope" pitchFamily="34" charset="0"/>
                <a:ea typeface="Manrope" pitchFamily="34" charset="-122"/>
                <a:cs typeface="Manrope" pitchFamily="34" charset="-120"/>
              </a:rPr>
              <a:t>Opportunity to progress and gain externally accredited qualifications.</a:t>
            </a:r>
            <a:endParaRPr lang="en-US" sz="1200" dirty="0"/>
          </a:p>
        </p:txBody>
      </p:sp>
      <p:pic>
        <p:nvPicPr>
          <p:cNvPr id="24" name="Image 4" descr="/home/claude/deck/img/mark.png"/>
          <p:cNvPicPr>
            <a:picLocks noChangeAspect="1"/>
          </p:cNvPicPr>
          <p:nvPr/>
        </p:nvPicPr>
        <p:blipFill>
          <a:blip r:embed="rId7"/>
          <a:stretch>
            <a:fillRect/>
          </a:stretch>
        </p:blipFill>
        <p:spPr>
          <a:xfrm>
            <a:off x="640080" y="6364224"/>
            <a:ext cx="274320" cy="274320"/>
          </a:xfrm>
          <a:prstGeom prst="rect">
            <a:avLst/>
          </a:prstGeom>
        </p:spPr>
      </p:pic>
      <p:sp>
        <p:nvSpPr>
          <p:cNvPr id="25" name="Text 18"/>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26" name="Text 19"/>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27" name="Text 20"/>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27</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ASSURANCE</a:t>
            </a:r>
            <a:endParaRPr lang="en-US" sz="1100" dirty="0"/>
          </a:p>
        </p:txBody>
      </p:sp>
      <p:sp>
        <p:nvSpPr>
          <p:cNvPr id="3" name="Text 1"/>
          <p:cNvSpPr/>
          <p:nvPr/>
        </p:nvSpPr>
        <p:spPr>
          <a:xfrm>
            <a:off x="640080" y="676656"/>
            <a:ext cx="10911535"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Health, safety, environment and quality</a:t>
            </a:r>
            <a:endParaRPr lang="en-US" sz="2800" dirty="0"/>
          </a:p>
        </p:txBody>
      </p:sp>
      <p:sp>
        <p:nvSpPr>
          <p:cNvPr id="4" name="Text 2"/>
          <p:cNvSpPr/>
          <p:nvPr/>
        </p:nvSpPr>
        <p:spPr>
          <a:xfrm>
            <a:off x="640080" y="1691640"/>
            <a:ext cx="5760720" cy="1554480"/>
          </a:xfrm>
          <a:prstGeom prst="rect">
            <a:avLst/>
          </a:prstGeom>
          <a:noFill/>
          <a:ln/>
        </p:spPr>
        <p:txBody>
          <a:bodyPr wrap="square" lIns="0" tIns="0" rIns="0" bIns="0" rtlCol="0" anchor="ctr"/>
          <a:lstStyle/>
          <a:p>
            <a:pPr marL="0" indent="0">
              <a:lnSpc>
                <a:spcPct val="126000"/>
              </a:lnSpc>
              <a:buNone/>
            </a:pPr>
            <a:r>
              <a:rPr lang="en-US" sz="1400" dirty="0">
                <a:solidFill>
                  <a:srgbClr val="40424D"/>
                </a:solidFill>
                <a:latin typeface="Manrope" pitchFamily="34" charset="0"/>
                <a:ea typeface="Manrope" pitchFamily="34" charset="-122"/>
                <a:cs typeface="Manrope" pitchFamily="34" charset="-120"/>
              </a:rPr>
              <a:t>Health, safety and wellbeing are central to how we work. For more than 16 years we have built a Safe and Sound culture, where everyone, employee or partner, gets home safe each day.</a:t>
            </a:r>
            <a:endParaRPr lang="en-US" sz="1400" dirty="0"/>
          </a:p>
        </p:txBody>
      </p:sp>
      <p:sp>
        <p:nvSpPr>
          <p:cNvPr id="5" name="Text 3"/>
          <p:cNvSpPr/>
          <p:nvPr/>
        </p:nvSpPr>
        <p:spPr>
          <a:xfrm>
            <a:off x="640080" y="3337560"/>
            <a:ext cx="5760720" cy="1371600"/>
          </a:xfrm>
          <a:prstGeom prst="rect">
            <a:avLst/>
          </a:prstGeom>
          <a:noFill/>
          <a:ln/>
        </p:spPr>
        <p:txBody>
          <a:bodyPr wrap="square" lIns="0" tIns="0" rIns="0" bIns="0" rtlCol="0" anchor="ctr"/>
          <a:lstStyle/>
          <a:p>
            <a:pPr marL="0" indent="0">
              <a:lnSpc>
                <a:spcPct val="126000"/>
              </a:lnSpc>
              <a:buNone/>
            </a:pPr>
            <a:r>
              <a:rPr lang="en-US" sz="1400" dirty="0">
                <a:solidFill>
                  <a:srgbClr val="40424D"/>
                </a:solidFill>
                <a:latin typeface="Manrope" pitchFamily="34" charset="0"/>
                <a:ea typeface="Manrope" pitchFamily="34" charset="-122"/>
                <a:cs typeface="Manrope" pitchFamily="34" charset="-120"/>
              </a:rPr>
              <a:t>Our Integrated Management System and recognised accreditations hold us to clear standards across quality, the environment, health and safety, and information security.</a:t>
            </a:r>
            <a:endParaRPr lang="en-US" sz="1400" dirty="0"/>
          </a:p>
        </p:txBody>
      </p:sp>
      <p:sp>
        <p:nvSpPr>
          <p:cNvPr id="6" name="Shape 4"/>
          <p:cNvSpPr/>
          <p:nvPr/>
        </p:nvSpPr>
        <p:spPr>
          <a:xfrm>
            <a:off x="6812280" y="1783080"/>
            <a:ext cx="2240280" cy="1371600"/>
          </a:xfrm>
          <a:prstGeom prst="roundRect">
            <a:avLst>
              <a:gd name="adj" fmla="val 6000"/>
            </a:avLst>
          </a:prstGeom>
          <a:solidFill>
            <a:srgbClr val="EDEFF7"/>
          </a:solidFill>
          <a:ln/>
        </p:spPr>
        <p:txBody>
          <a:bodyPr/>
          <a:lstStyle/>
          <a:p>
            <a:endParaRPr lang="en-US"/>
          </a:p>
        </p:txBody>
      </p:sp>
      <p:sp>
        <p:nvSpPr>
          <p:cNvPr id="7" name="Text 5"/>
          <p:cNvSpPr/>
          <p:nvPr/>
        </p:nvSpPr>
        <p:spPr>
          <a:xfrm>
            <a:off x="6995160" y="2075688"/>
            <a:ext cx="1874520" cy="411480"/>
          </a:xfrm>
          <a:prstGeom prst="rect">
            <a:avLst/>
          </a:prstGeom>
          <a:noFill/>
          <a:ln/>
        </p:spPr>
        <p:txBody>
          <a:bodyPr wrap="square" lIns="0" tIns="0" rIns="0" bIns="0" rtlCol="0" anchor="ctr"/>
          <a:lstStyle/>
          <a:p>
            <a:pPr marL="0" indent="0" algn="ctr">
              <a:buNone/>
            </a:pPr>
            <a:r>
              <a:rPr lang="en-US" sz="1700" b="1" dirty="0">
                <a:solidFill>
                  <a:srgbClr val="00B6DB"/>
                </a:solidFill>
                <a:latin typeface="Manrope" pitchFamily="34" charset="0"/>
                <a:ea typeface="Manrope" pitchFamily="34" charset="-122"/>
                <a:cs typeface="Manrope" pitchFamily="34" charset="-120"/>
              </a:rPr>
              <a:t>ISO 9001</a:t>
            </a:r>
            <a:endParaRPr lang="en-US" sz="1700" dirty="0"/>
          </a:p>
        </p:txBody>
      </p:sp>
      <p:sp>
        <p:nvSpPr>
          <p:cNvPr id="8" name="Text 6"/>
          <p:cNvSpPr/>
          <p:nvPr/>
        </p:nvSpPr>
        <p:spPr>
          <a:xfrm>
            <a:off x="6995160" y="2514600"/>
            <a:ext cx="1874520" cy="411480"/>
          </a:xfrm>
          <a:prstGeom prst="rect">
            <a:avLst/>
          </a:prstGeom>
          <a:noFill/>
          <a:ln/>
        </p:spPr>
        <p:txBody>
          <a:bodyPr wrap="square" lIns="0" tIns="0" rIns="0" bIns="0" rtlCol="0" anchor="ctr"/>
          <a:lstStyle/>
          <a:p>
            <a:pPr marL="0" indent="0" algn="ctr">
              <a:buNone/>
            </a:pPr>
            <a:r>
              <a:rPr lang="en-US" sz="1200" dirty="0">
                <a:solidFill>
                  <a:srgbClr val="6E7180"/>
                </a:solidFill>
                <a:latin typeface="Manrope" pitchFamily="34" charset="0"/>
                <a:ea typeface="Manrope" pitchFamily="34" charset="-122"/>
                <a:cs typeface="Manrope" pitchFamily="34" charset="-120"/>
              </a:rPr>
              <a:t>Quality</a:t>
            </a:r>
            <a:endParaRPr lang="en-US" sz="1200" dirty="0"/>
          </a:p>
        </p:txBody>
      </p:sp>
      <p:sp>
        <p:nvSpPr>
          <p:cNvPr id="9" name="Shape 7"/>
          <p:cNvSpPr/>
          <p:nvPr/>
        </p:nvSpPr>
        <p:spPr>
          <a:xfrm>
            <a:off x="9235440" y="1783080"/>
            <a:ext cx="2240280" cy="1371600"/>
          </a:xfrm>
          <a:prstGeom prst="roundRect">
            <a:avLst>
              <a:gd name="adj" fmla="val 6000"/>
            </a:avLst>
          </a:prstGeom>
          <a:solidFill>
            <a:srgbClr val="EDEFF7"/>
          </a:solidFill>
          <a:ln/>
        </p:spPr>
        <p:txBody>
          <a:bodyPr/>
          <a:lstStyle/>
          <a:p>
            <a:endParaRPr lang="en-US"/>
          </a:p>
        </p:txBody>
      </p:sp>
      <p:sp>
        <p:nvSpPr>
          <p:cNvPr id="10" name="Text 8"/>
          <p:cNvSpPr/>
          <p:nvPr/>
        </p:nvSpPr>
        <p:spPr>
          <a:xfrm>
            <a:off x="9418320" y="2075688"/>
            <a:ext cx="1874520" cy="411480"/>
          </a:xfrm>
          <a:prstGeom prst="rect">
            <a:avLst/>
          </a:prstGeom>
          <a:noFill/>
          <a:ln/>
        </p:spPr>
        <p:txBody>
          <a:bodyPr wrap="square" lIns="0" tIns="0" rIns="0" bIns="0" rtlCol="0" anchor="ctr"/>
          <a:lstStyle/>
          <a:p>
            <a:pPr marL="0" indent="0" algn="ctr">
              <a:buNone/>
            </a:pPr>
            <a:r>
              <a:rPr lang="en-US" sz="1700" b="1" dirty="0">
                <a:solidFill>
                  <a:srgbClr val="00B6DB"/>
                </a:solidFill>
                <a:latin typeface="Manrope" pitchFamily="34" charset="0"/>
                <a:ea typeface="Manrope" pitchFamily="34" charset="-122"/>
                <a:cs typeface="Manrope" pitchFamily="34" charset="-120"/>
              </a:rPr>
              <a:t>ISO 14001</a:t>
            </a:r>
            <a:endParaRPr lang="en-US" sz="1700" dirty="0"/>
          </a:p>
        </p:txBody>
      </p:sp>
      <p:sp>
        <p:nvSpPr>
          <p:cNvPr id="11" name="Text 9"/>
          <p:cNvSpPr/>
          <p:nvPr/>
        </p:nvSpPr>
        <p:spPr>
          <a:xfrm>
            <a:off x="9418320" y="2514600"/>
            <a:ext cx="1874520" cy="411480"/>
          </a:xfrm>
          <a:prstGeom prst="rect">
            <a:avLst/>
          </a:prstGeom>
          <a:noFill/>
          <a:ln/>
        </p:spPr>
        <p:txBody>
          <a:bodyPr wrap="square" lIns="0" tIns="0" rIns="0" bIns="0" rtlCol="0" anchor="ctr"/>
          <a:lstStyle/>
          <a:p>
            <a:pPr marL="0" indent="0" algn="ctr">
              <a:buNone/>
            </a:pPr>
            <a:r>
              <a:rPr lang="en-US" sz="1200" dirty="0">
                <a:solidFill>
                  <a:srgbClr val="6E7180"/>
                </a:solidFill>
                <a:latin typeface="Manrope" pitchFamily="34" charset="0"/>
                <a:ea typeface="Manrope" pitchFamily="34" charset="-122"/>
                <a:cs typeface="Manrope" pitchFamily="34" charset="-120"/>
              </a:rPr>
              <a:t>Environment</a:t>
            </a:r>
            <a:endParaRPr lang="en-US" sz="1200" dirty="0"/>
          </a:p>
        </p:txBody>
      </p:sp>
      <p:sp>
        <p:nvSpPr>
          <p:cNvPr id="12" name="Shape 10"/>
          <p:cNvSpPr/>
          <p:nvPr/>
        </p:nvSpPr>
        <p:spPr>
          <a:xfrm>
            <a:off x="6812280" y="3383280"/>
            <a:ext cx="2240280" cy="1371600"/>
          </a:xfrm>
          <a:prstGeom prst="roundRect">
            <a:avLst>
              <a:gd name="adj" fmla="val 6000"/>
            </a:avLst>
          </a:prstGeom>
          <a:solidFill>
            <a:srgbClr val="EDEFF7"/>
          </a:solidFill>
          <a:ln/>
        </p:spPr>
        <p:txBody>
          <a:bodyPr/>
          <a:lstStyle/>
          <a:p>
            <a:endParaRPr lang="en-US"/>
          </a:p>
        </p:txBody>
      </p:sp>
      <p:sp>
        <p:nvSpPr>
          <p:cNvPr id="13" name="Text 11"/>
          <p:cNvSpPr/>
          <p:nvPr/>
        </p:nvSpPr>
        <p:spPr>
          <a:xfrm>
            <a:off x="6995160" y="3675888"/>
            <a:ext cx="1874520" cy="411480"/>
          </a:xfrm>
          <a:prstGeom prst="rect">
            <a:avLst/>
          </a:prstGeom>
          <a:noFill/>
          <a:ln/>
        </p:spPr>
        <p:txBody>
          <a:bodyPr wrap="square" lIns="0" tIns="0" rIns="0" bIns="0" rtlCol="0" anchor="ctr"/>
          <a:lstStyle/>
          <a:p>
            <a:pPr marL="0" indent="0" algn="ctr">
              <a:buNone/>
            </a:pPr>
            <a:r>
              <a:rPr lang="en-US" sz="1700" b="1" dirty="0">
                <a:solidFill>
                  <a:srgbClr val="00B6DB"/>
                </a:solidFill>
                <a:latin typeface="Manrope" pitchFamily="34" charset="0"/>
                <a:ea typeface="Manrope" pitchFamily="34" charset="-122"/>
                <a:cs typeface="Manrope" pitchFamily="34" charset="-120"/>
              </a:rPr>
              <a:t>ISO 45001</a:t>
            </a:r>
            <a:endParaRPr lang="en-US" sz="1700" dirty="0"/>
          </a:p>
        </p:txBody>
      </p:sp>
      <p:sp>
        <p:nvSpPr>
          <p:cNvPr id="14" name="Text 12"/>
          <p:cNvSpPr/>
          <p:nvPr/>
        </p:nvSpPr>
        <p:spPr>
          <a:xfrm>
            <a:off x="6995160" y="4114800"/>
            <a:ext cx="1874520" cy="411480"/>
          </a:xfrm>
          <a:prstGeom prst="rect">
            <a:avLst/>
          </a:prstGeom>
          <a:noFill/>
          <a:ln/>
        </p:spPr>
        <p:txBody>
          <a:bodyPr wrap="square" lIns="0" tIns="0" rIns="0" bIns="0" rtlCol="0" anchor="ctr"/>
          <a:lstStyle/>
          <a:p>
            <a:pPr marL="0" indent="0" algn="ctr">
              <a:buNone/>
            </a:pPr>
            <a:r>
              <a:rPr lang="en-US" sz="1200" dirty="0">
                <a:solidFill>
                  <a:srgbClr val="6E7180"/>
                </a:solidFill>
                <a:latin typeface="Manrope" pitchFamily="34" charset="0"/>
                <a:ea typeface="Manrope" pitchFamily="34" charset="-122"/>
                <a:cs typeface="Manrope" pitchFamily="34" charset="-120"/>
              </a:rPr>
              <a:t>Health &amp; safety</a:t>
            </a:r>
            <a:endParaRPr lang="en-US" sz="1200" dirty="0"/>
          </a:p>
        </p:txBody>
      </p:sp>
      <p:sp>
        <p:nvSpPr>
          <p:cNvPr id="15" name="Shape 13"/>
          <p:cNvSpPr/>
          <p:nvPr/>
        </p:nvSpPr>
        <p:spPr>
          <a:xfrm>
            <a:off x="9235440" y="3383280"/>
            <a:ext cx="2240280" cy="1371600"/>
          </a:xfrm>
          <a:prstGeom prst="roundRect">
            <a:avLst>
              <a:gd name="adj" fmla="val 6000"/>
            </a:avLst>
          </a:prstGeom>
          <a:solidFill>
            <a:srgbClr val="EDEFF7"/>
          </a:solidFill>
          <a:ln/>
        </p:spPr>
        <p:txBody>
          <a:bodyPr/>
          <a:lstStyle/>
          <a:p>
            <a:endParaRPr lang="en-US"/>
          </a:p>
        </p:txBody>
      </p:sp>
      <p:sp>
        <p:nvSpPr>
          <p:cNvPr id="16" name="Text 14"/>
          <p:cNvSpPr/>
          <p:nvPr/>
        </p:nvSpPr>
        <p:spPr>
          <a:xfrm>
            <a:off x="9418320" y="3675888"/>
            <a:ext cx="1874520" cy="411480"/>
          </a:xfrm>
          <a:prstGeom prst="rect">
            <a:avLst/>
          </a:prstGeom>
          <a:noFill/>
          <a:ln/>
        </p:spPr>
        <p:txBody>
          <a:bodyPr wrap="square" lIns="0" tIns="0" rIns="0" bIns="0" rtlCol="0" anchor="ctr"/>
          <a:lstStyle/>
          <a:p>
            <a:pPr marL="0" indent="0" algn="ctr">
              <a:buNone/>
            </a:pPr>
            <a:r>
              <a:rPr lang="en-US" sz="1700" b="1" dirty="0">
                <a:solidFill>
                  <a:srgbClr val="00B6DB"/>
                </a:solidFill>
                <a:latin typeface="Manrope" pitchFamily="34" charset="0"/>
                <a:ea typeface="Manrope" pitchFamily="34" charset="-122"/>
                <a:cs typeface="Manrope" pitchFamily="34" charset="-120"/>
              </a:rPr>
              <a:t>ISO 27001</a:t>
            </a:r>
            <a:endParaRPr lang="en-US" sz="1700" dirty="0"/>
          </a:p>
        </p:txBody>
      </p:sp>
      <p:sp>
        <p:nvSpPr>
          <p:cNvPr id="17" name="Text 15"/>
          <p:cNvSpPr/>
          <p:nvPr/>
        </p:nvSpPr>
        <p:spPr>
          <a:xfrm>
            <a:off x="9418320" y="4114800"/>
            <a:ext cx="1874520" cy="411480"/>
          </a:xfrm>
          <a:prstGeom prst="rect">
            <a:avLst/>
          </a:prstGeom>
          <a:noFill/>
          <a:ln/>
        </p:spPr>
        <p:txBody>
          <a:bodyPr wrap="square" lIns="0" tIns="0" rIns="0" bIns="0" rtlCol="0" anchor="ctr"/>
          <a:lstStyle/>
          <a:p>
            <a:pPr marL="0" indent="0" algn="ctr">
              <a:buNone/>
            </a:pPr>
            <a:r>
              <a:rPr lang="en-US" sz="1200" dirty="0">
                <a:solidFill>
                  <a:srgbClr val="6E7180"/>
                </a:solidFill>
                <a:latin typeface="Manrope" pitchFamily="34" charset="0"/>
                <a:ea typeface="Manrope" pitchFamily="34" charset="-122"/>
                <a:cs typeface="Manrope" pitchFamily="34" charset="-120"/>
              </a:rPr>
              <a:t>Information security</a:t>
            </a:r>
            <a:endParaRPr lang="en-US" sz="1200" dirty="0"/>
          </a:p>
        </p:txBody>
      </p:sp>
      <p:pic>
        <p:nvPicPr>
          <p:cNvPr id="18" name="Image 0" descr="/home/claude/deck/img/mark.png"/>
          <p:cNvPicPr>
            <a:picLocks noChangeAspect="1"/>
          </p:cNvPicPr>
          <p:nvPr/>
        </p:nvPicPr>
        <p:blipFill>
          <a:blip r:embed="rId3"/>
          <a:stretch>
            <a:fillRect/>
          </a:stretch>
        </p:blipFill>
        <p:spPr>
          <a:xfrm>
            <a:off x="640080" y="6364224"/>
            <a:ext cx="274320" cy="274320"/>
          </a:xfrm>
          <a:prstGeom prst="rect">
            <a:avLst/>
          </a:prstGeom>
        </p:spPr>
      </p:pic>
      <p:sp>
        <p:nvSpPr>
          <p:cNvPr id="19" name="Text 16"/>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20" name="Text 17"/>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21" name="Text 18"/>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28</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B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058400" cy="274320"/>
          </a:xfrm>
          <a:prstGeom prst="rect">
            <a:avLst/>
          </a:prstGeom>
          <a:noFill/>
          <a:ln/>
        </p:spPr>
        <p:txBody>
          <a:bodyPr wrap="square" lIns="0" tIns="0" rIns="0" bIns="0" rtlCol="0" anchor="ctr"/>
          <a:lstStyle/>
          <a:p>
            <a:pPr marL="0" indent="0">
              <a:buNone/>
            </a:pPr>
            <a:r>
              <a:rPr lang="en-US" sz="1100" b="1" kern="0" spc="200" dirty="0">
                <a:solidFill>
                  <a:srgbClr val="00B6DB"/>
                </a:solidFill>
                <a:latin typeface="Manrope" pitchFamily="34" charset="0"/>
                <a:ea typeface="Manrope" pitchFamily="34" charset="-122"/>
                <a:cs typeface="Manrope" pitchFamily="34" charset="-120"/>
              </a:rPr>
              <a:t>06  ·  NEXT STEPS</a:t>
            </a:r>
            <a:endParaRPr lang="en-US" sz="1100" dirty="0"/>
          </a:p>
        </p:txBody>
      </p:sp>
      <p:sp>
        <p:nvSpPr>
          <p:cNvPr id="3" name="Text 1"/>
          <p:cNvSpPr/>
          <p:nvPr/>
        </p:nvSpPr>
        <p:spPr>
          <a:xfrm>
            <a:off x="640080" y="676656"/>
            <a:ext cx="10911535" cy="777240"/>
          </a:xfrm>
          <a:prstGeom prst="rect">
            <a:avLst/>
          </a:prstGeom>
          <a:noFill/>
          <a:ln/>
        </p:spPr>
        <p:txBody>
          <a:bodyPr wrap="square" lIns="0" tIns="0" rIns="0" bIns="0" rtlCol="0" anchor="ctr"/>
          <a:lstStyle/>
          <a:p>
            <a:pPr marL="0" indent="0">
              <a:buNone/>
            </a:pPr>
            <a:r>
              <a:rPr lang="en-US" sz="2800" b="1" dirty="0">
                <a:solidFill>
                  <a:srgbClr val="0C2C3A"/>
                </a:solidFill>
                <a:latin typeface="Manrope" pitchFamily="34" charset="0"/>
                <a:ea typeface="Manrope" pitchFamily="34" charset="-122"/>
                <a:cs typeface="Manrope" pitchFamily="34" charset="-120"/>
              </a:rPr>
              <a:t>Next steps</a:t>
            </a:r>
            <a:endParaRPr lang="en-US" sz="2800" dirty="0"/>
          </a:p>
        </p:txBody>
      </p:sp>
      <p:sp>
        <p:nvSpPr>
          <p:cNvPr id="4" name="Shape 2"/>
          <p:cNvSpPr/>
          <p:nvPr/>
        </p:nvSpPr>
        <p:spPr>
          <a:xfrm>
            <a:off x="640080" y="2286000"/>
            <a:ext cx="868680" cy="868680"/>
          </a:xfrm>
          <a:prstGeom prst="ellipse">
            <a:avLst/>
          </a:prstGeom>
          <a:solidFill>
            <a:srgbClr val="00B6DB"/>
          </a:solidFill>
          <a:ln/>
        </p:spPr>
        <p:txBody>
          <a:bodyPr/>
          <a:lstStyle/>
          <a:p>
            <a:endParaRPr lang="en-US"/>
          </a:p>
        </p:txBody>
      </p:sp>
      <p:sp>
        <p:nvSpPr>
          <p:cNvPr id="5" name="Text 3"/>
          <p:cNvSpPr/>
          <p:nvPr/>
        </p:nvSpPr>
        <p:spPr>
          <a:xfrm>
            <a:off x="640080" y="2286000"/>
            <a:ext cx="868680" cy="868680"/>
          </a:xfrm>
          <a:prstGeom prst="rect">
            <a:avLst/>
          </a:prstGeom>
          <a:noFill/>
          <a:ln/>
        </p:spPr>
        <p:txBody>
          <a:bodyPr wrap="square" lIns="0" tIns="0" rIns="0" bIns="0" rtlCol="0" anchor="ctr"/>
          <a:lstStyle/>
          <a:p>
            <a:pPr marL="0" indent="0" algn="ctr">
              <a:buNone/>
            </a:pPr>
            <a:r>
              <a:rPr lang="en-US" sz="2000" b="1" dirty="0">
                <a:solidFill>
                  <a:srgbClr val="FFFFFF"/>
                </a:solidFill>
                <a:latin typeface="Manrope" pitchFamily="34" charset="0"/>
                <a:ea typeface="Manrope" pitchFamily="34" charset="-122"/>
                <a:cs typeface="Manrope" pitchFamily="34" charset="-120"/>
              </a:rPr>
              <a:t>01</a:t>
            </a:r>
            <a:endParaRPr lang="en-US" sz="2000" dirty="0"/>
          </a:p>
        </p:txBody>
      </p:sp>
      <p:sp>
        <p:nvSpPr>
          <p:cNvPr id="6" name="Text 4"/>
          <p:cNvSpPr/>
          <p:nvPr/>
        </p:nvSpPr>
        <p:spPr>
          <a:xfrm>
            <a:off x="594360" y="3383280"/>
            <a:ext cx="2468880" cy="457200"/>
          </a:xfrm>
          <a:prstGeom prst="rect">
            <a:avLst/>
          </a:prstGeom>
          <a:noFill/>
          <a:ln/>
        </p:spPr>
        <p:txBody>
          <a:bodyPr wrap="square" lIns="0" tIns="0" rIns="0" bIns="0" rtlCol="0" anchor="ctr"/>
          <a:lstStyle/>
          <a:p>
            <a:pPr marL="0" indent="0">
              <a:buNone/>
            </a:pPr>
            <a:r>
              <a:rPr lang="en-US" sz="1800" b="1" dirty="0">
                <a:solidFill>
                  <a:srgbClr val="0C2C3A"/>
                </a:solidFill>
                <a:latin typeface="Manrope" pitchFamily="34" charset="0"/>
                <a:ea typeface="Manrope" pitchFamily="34" charset="-122"/>
                <a:cs typeface="Manrope" pitchFamily="34" charset="-120"/>
              </a:rPr>
              <a:t>Review</a:t>
            </a:r>
            <a:endParaRPr lang="en-US" sz="1800" dirty="0"/>
          </a:p>
        </p:txBody>
      </p:sp>
      <p:sp>
        <p:nvSpPr>
          <p:cNvPr id="7" name="Text 5"/>
          <p:cNvSpPr/>
          <p:nvPr/>
        </p:nvSpPr>
        <p:spPr>
          <a:xfrm>
            <a:off x="594360" y="3886200"/>
            <a:ext cx="2560320" cy="1554480"/>
          </a:xfrm>
          <a:prstGeom prst="rect">
            <a:avLst/>
          </a:prstGeom>
          <a:noFill/>
          <a:ln/>
        </p:spPr>
        <p:txBody>
          <a:bodyPr wrap="square" lIns="0" tIns="0" rIns="0" bIns="0" rtlCol="0" anchor="ctr"/>
          <a:lstStyle/>
          <a:p>
            <a:pPr marL="0" indent="0">
              <a:lnSpc>
                <a:spcPct val="118000"/>
              </a:lnSpc>
              <a:buNone/>
            </a:pPr>
            <a:r>
              <a:rPr lang="en-US" sz="1300" dirty="0">
                <a:solidFill>
                  <a:srgbClr val="6E7180"/>
                </a:solidFill>
                <a:latin typeface="Manrope" pitchFamily="34" charset="0"/>
                <a:ea typeface="Manrope" pitchFamily="34" charset="-122"/>
                <a:cs typeface="Manrope" pitchFamily="34" charset="-120"/>
              </a:rPr>
              <a:t>You review this submission and confirm any questions or clarifications.</a:t>
            </a:r>
            <a:endParaRPr lang="en-US" sz="1300" dirty="0"/>
          </a:p>
        </p:txBody>
      </p:sp>
      <p:sp>
        <p:nvSpPr>
          <p:cNvPr id="8" name="Shape 6"/>
          <p:cNvSpPr/>
          <p:nvPr/>
        </p:nvSpPr>
        <p:spPr>
          <a:xfrm>
            <a:off x="3447288" y="2286000"/>
            <a:ext cx="868680" cy="868680"/>
          </a:xfrm>
          <a:prstGeom prst="ellipse">
            <a:avLst/>
          </a:prstGeom>
          <a:solidFill>
            <a:srgbClr val="00B6DB"/>
          </a:solidFill>
          <a:ln/>
        </p:spPr>
        <p:txBody>
          <a:bodyPr/>
          <a:lstStyle/>
          <a:p>
            <a:endParaRPr lang="en-US"/>
          </a:p>
        </p:txBody>
      </p:sp>
      <p:sp>
        <p:nvSpPr>
          <p:cNvPr id="9" name="Text 7"/>
          <p:cNvSpPr/>
          <p:nvPr/>
        </p:nvSpPr>
        <p:spPr>
          <a:xfrm>
            <a:off x="3447288" y="2286000"/>
            <a:ext cx="868680" cy="868680"/>
          </a:xfrm>
          <a:prstGeom prst="rect">
            <a:avLst/>
          </a:prstGeom>
          <a:noFill/>
          <a:ln/>
        </p:spPr>
        <p:txBody>
          <a:bodyPr wrap="square" lIns="0" tIns="0" rIns="0" bIns="0" rtlCol="0" anchor="ctr"/>
          <a:lstStyle/>
          <a:p>
            <a:pPr marL="0" indent="0" algn="ctr">
              <a:buNone/>
            </a:pPr>
            <a:r>
              <a:rPr lang="en-US" sz="2000" b="1" dirty="0">
                <a:solidFill>
                  <a:srgbClr val="FFFFFF"/>
                </a:solidFill>
                <a:latin typeface="Manrope" pitchFamily="34" charset="0"/>
                <a:ea typeface="Manrope" pitchFamily="34" charset="-122"/>
                <a:cs typeface="Manrope" pitchFamily="34" charset="-120"/>
              </a:rPr>
              <a:t>02</a:t>
            </a:r>
            <a:endParaRPr lang="en-US" sz="2000" dirty="0"/>
          </a:p>
        </p:txBody>
      </p:sp>
      <p:sp>
        <p:nvSpPr>
          <p:cNvPr id="10" name="Text 8"/>
          <p:cNvSpPr/>
          <p:nvPr/>
        </p:nvSpPr>
        <p:spPr>
          <a:xfrm>
            <a:off x="3401568" y="3383280"/>
            <a:ext cx="2468880" cy="457200"/>
          </a:xfrm>
          <a:prstGeom prst="rect">
            <a:avLst/>
          </a:prstGeom>
          <a:noFill/>
          <a:ln/>
        </p:spPr>
        <p:txBody>
          <a:bodyPr wrap="square" lIns="0" tIns="0" rIns="0" bIns="0" rtlCol="0" anchor="ctr"/>
          <a:lstStyle/>
          <a:p>
            <a:pPr marL="0" indent="0">
              <a:buNone/>
            </a:pPr>
            <a:r>
              <a:rPr lang="en-US" sz="1800" b="1" dirty="0">
                <a:solidFill>
                  <a:srgbClr val="0C2C3A"/>
                </a:solidFill>
                <a:latin typeface="Manrope" pitchFamily="34" charset="0"/>
                <a:ea typeface="Manrope" pitchFamily="34" charset="-122"/>
                <a:cs typeface="Manrope" pitchFamily="34" charset="-120"/>
              </a:rPr>
              <a:t>Discuss</a:t>
            </a:r>
            <a:endParaRPr lang="en-US" sz="1800" dirty="0"/>
          </a:p>
        </p:txBody>
      </p:sp>
      <p:sp>
        <p:nvSpPr>
          <p:cNvPr id="11" name="Text 9"/>
          <p:cNvSpPr/>
          <p:nvPr/>
        </p:nvSpPr>
        <p:spPr>
          <a:xfrm>
            <a:off x="3401568" y="3886200"/>
            <a:ext cx="2560320" cy="1554480"/>
          </a:xfrm>
          <a:prstGeom prst="rect">
            <a:avLst/>
          </a:prstGeom>
          <a:noFill/>
          <a:ln/>
        </p:spPr>
        <p:txBody>
          <a:bodyPr wrap="square" lIns="0" tIns="0" rIns="0" bIns="0" rtlCol="0" anchor="ctr"/>
          <a:lstStyle/>
          <a:p>
            <a:pPr marL="0" indent="0">
              <a:lnSpc>
                <a:spcPct val="118000"/>
              </a:lnSpc>
              <a:buNone/>
            </a:pPr>
            <a:r>
              <a:rPr lang="en-US" sz="1300" dirty="0">
                <a:solidFill>
                  <a:srgbClr val="6E7180"/>
                </a:solidFill>
                <a:latin typeface="Manrope" pitchFamily="34" charset="0"/>
                <a:ea typeface="Manrope" pitchFamily="34" charset="-122"/>
                <a:cs typeface="Manrope" pitchFamily="34" charset="-120"/>
              </a:rPr>
              <a:t>We meet to walk through the approach, programme and commercials.</a:t>
            </a:r>
            <a:endParaRPr lang="en-US" sz="1300" dirty="0"/>
          </a:p>
        </p:txBody>
      </p:sp>
      <p:sp>
        <p:nvSpPr>
          <p:cNvPr id="12" name="Shape 10"/>
          <p:cNvSpPr/>
          <p:nvPr/>
        </p:nvSpPr>
        <p:spPr>
          <a:xfrm>
            <a:off x="6254496" y="2286000"/>
            <a:ext cx="868680" cy="868680"/>
          </a:xfrm>
          <a:prstGeom prst="ellipse">
            <a:avLst/>
          </a:prstGeom>
          <a:solidFill>
            <a:srgbClr val="00B6DB"/>
          </a:solidFill>
          <a:ln/>
        </p:spPr>
        <p:txBody>
          <a:bodyPr/>
          <a:lstStyle/>
          <a:p>
            <a:endParaRPr lang="en-US"/>
          </a:p>
        </p:txBody>
      </p:sp>
      <p:sp>
        <p:nvSpPr>
          <p:cNvPr id="13" name="Text 11"/>
          <p:cNvSpPr/>
          <p:nvPr/>
        </p:nvSpPr>
        <p:spPr>
          <a:xfrm>
            <a:off x="6254496" y="2286000"/>
            <a:ext cx="868680" cy="868680"/>
          </a:xfrm>
          <a:prstGeom prst="rect">
            <a:avLst/>
          </a:prstGeom>
          <a:noFill/>
          <a:ln/>
        </p:spPr>
        <p:txBody>
          <a:bodyPr wrap="square" lIns="0" tIns="0" rIns="0" bIns="0" rtlCol="0" anchor="ctr"/>
          <a:lstStyle/>
          <a:p>
            <a:pPr marL="0" indent="0" algn="ctr">
              <a:buNone/>
            </a:pPr>
            <a:r>
              <a:rPr lang="en-US" sz="2000" b="1" dirty="0">
                <a:solidFill>
                  <a:srgbClr val="FFFFFF"/>
                </a:solidFill>
                <a:latin typeface="Manrope" pitchFamily="34" charset="0"/>
                <a:ea typeface="Manrope" pitchFamily="34" charset="-122"/>
                <a:cs typeface="Manrope" pitchFamily="34" charset="-120"/>
              </a:rPr>
              <a:t>03</a:t>
            </a:r>
            <a:endParaRPr lang="en-US" sz="2000" dirty="0"/>
          </a:p>
        </p:txBody>
      </p:sp>
      <p:sp>
        <p:nvSpPr>
          <p:cNvPr id="14" name="Text 12"/>
          <p:cNvSpPr/>
          <p:nvPr/>
        </p:nvSpPr>
        <p:spPr>
          <a:xfrm>
            <a:off x="6208776" y="3383280"/>
            <a:ext cx="2468880" cy="457200"/>
          </a:xfrm>
          <a:prstGeom prst="rect">
            <a:avLst/>
          </a:prstGeom>
          <a:noFill/>
          <a:ln/>
        </p:spPr>
        <p:txBody>
          <a:bodyPr wrap="square" lIns="0" tIns="0" rIns="0" bIns="0" rtlCol="0" anchor="ctr"/>
          <a:lstStyle/>
          <a:p>
            <a:pPr marL="0" indent="0">
              <a:buNone/>
            </a:pPr>
            <a:r>
              <a:rPr lang="en-US" sz="1800" b="1" dirty="0">
                <a:solidFill>
                  <a:srgbClr val="0C2C3A"/>
                </a:solidFill>
                <a:latin typeface="Manrope" pitchFamily="34" charset="0"/>
                <a:ea typeface="Manrope" pitchFamily="34" charset="-122"/>
                <a:cs typeface="Manrope" pitchFamily="34" charset="-120"/>
              </a:rPr>
              <a:t>Refine</a:t>
            </a:r>
            <a:endParaRPr lang="en-US" sz="1800" dirty="0"/>
          </a:p>
        </p:txBody>
      </p:sp>
      <p:sp>
        <p:nvSpPr>
          <p:cNvPr id="15" name="Text 13"/>
          <p:cNvSpPr/>
          <p:nvPr/>
        </p:nvSpPr>
        <p:spPr>
          <a:xfrm>
            <a:off x="6208776" y="3886200"/>
            <a:ext cx="2560320" cy="1554480"/>
          </a:xfrm>
          <a:prstGeom prst="rect">
            <a:avLst/>
          </a:prstGeom>
          <a:noFill/>
          <a:ln/>
        </p:spPr>
        <p:txBody>
          <a:bodyPr wrap="square" lIns="0" tIns="0" rIns="0" bIns="0" rtlCol="0" anchor="ctr"/>
          <a:lstStyle/>
          <a:p>
            <a:pPr marL="0" indent="0">
              <a:lnSpc>
                <a:spcPct val="118000"/>
              </a:lnSpc>
              <a:buNone/>
            </a:pPr>
            <a:r>
              <a:rPr lang="en-US" sz="1300" dirty="0">
                <a:solidFill>
                  <a:srgbClr val="6E7180"/>
                </a:solidFill>
                <a:latin typeface="Manrope" pitchFamily="34" charset="0"/>
                <a:ea typeface="Manrope" pitchFamily="34" charset="-122"/>
                <a:cs typeface="Manrope" pitchFamily="34" charset="-120"/>
              </a:rPr>
              <a:t>We refine the scope and pricing to match your requirements.</a:t>
            </a:r>
            <a:endParaRPr lang="en-US" sz="1300" dirty="0"/>
          </a:p>
        </p:txBody>
      </p:sp>
      <p:sp>
        <p:nvSpPr>
          <p:cNvPr id="16" name="Shape 14"/>
          <p:cNvSpPr/>
          <p:nvPr/>
        </p:nvSpPr>
        <p:spPr>
          <a:xfrm>
            <a:off x="9061704" y="2286000"/>
            <a:ext cx="868680" cy="868680"/>
          </a:xfrm>
          <a:prstGeom prst="ellipse">
            <a:avLst/>
          </a:prstGeom>
          <a:solidFill>
            <a:srgbClr val="00B6DB"/>
          </a:solidFill>
          <a:ln/>
        </p:spPr>
        <p:txBody>
          <a:bodyPr/>
          <a:lstStyle/>
          <a:p>
            <a:endParaRPr lang="en-US"/>
          </a:p>
        </p:txBody>
      </p:sp>
      <p:sp>
        <p:nvSpPr>
          <p:cNvPr id="17" name="Text 15"/>
          <p:cNvSpPr/>
          <p:nvPr/>
        </p:nvSpPr>
        <p:spPr>
          <a:xfrm>
            <a:off x="9061704" y="2286000"/>
            <a:ext cx="868680" cy="868680"/>
          </a:xfrm>
          <a:prstGeom prst="rect">
            <a:avLst/>
          </a:prstGeom>
          <a:noFill/>
          <a:ln/>
        </p:spPr>
        <p:txBody>
          <a:bodyPr wrap="square" lIns="0" tIns="0" rIns="0" bIns="0" rtlCol="0" anchor="ctr"/>
          <a:lstStyle/>
          <a:p>
            <a:pPr marL="0" indent="0" algn="ctr">
              <a:buNone/>
            </a:pPr>
            <a:r>
              <a:rPr lang="en-US" sz="2000" b="1" dirty="0">
                <a:solidFill>
                  <a:srgbClr val="FFFFFF"/>
                </a:solidFill>
                <a:latin typeface="Manrope" pitchFamily="34" charset="0"/>
                <a:ea typeface="Manrope" pitchFamily="34" charset="-122"/>
                <a:cs typeface="Manrope" pitchFamily="34" charset="-120"/>
              </a:rPr>
              <a:t>04</a:t>
            </a:r>
            <a:endParaRPr lang="en-US" sz="2000" dirty="0"/>
          </a:p>
        </p:txBody>
      </p:sp>
      <p:sp>
        <p:nvSpPr>
          <p:cNvPr id="18" name="Text 16"/>
          <p:cNvSpPr/>
          <p:nvPr/>
        </p:nvSpPr>
        <p:spPr>
          <a:xfrm>
            <a:off x="9015984" y="3383280"/>
            <a:ext cx="2468880" cy="457200"/>
          </a:xfrm>
          <a:prstGeom prst="rect">
            <a:avLst/>
          </a:prstGeom>
          <a:noFill/>
          <a:ln/>
        </p:spPr>
        <p:txBody>
          <a:bodyPr wrap="square" lIns="0" tIns="0" rIns="0" bIns="0" rtlCol="0" anchor="ctr"/>
          <a:lstStyle/>
          <a:p>
            <a:pPr marL="0" indent="0">
              <a:buNone/>
            </a:pPr>
            <a:r>
              <a:rPr lang="en-US" sz="1800" b="1" dirty="0">
                <a:solidFill>
                  <a:srgbClr val="0C2C3A"/>
                </a:solidFill>
                <a:latin typeface="Manrope" pitchFamily="34" charset="0"/>
                <a:ea typeface="Manrope" pitchFamily="34" charset="-122"/>
                <a:cs typeface="Manrope" pitchFamily="34" charset="-120"/>
              </a:rPr>
              <a:t>Mobilise</a:t>
            </a:r>
            <a:endParaRPr lang="en-US" sz="1800" dirty="0"/>
          </a:p>
        </p:txBody>
      </p:sp>
      <p:sp>
        <p:nvSpPr>
          <p:cNvPr id="19" name="Text 17"/>
          <p:cNvSpPr/>
          <p:nvPr/>
        </p:nvSpPr>
        <p:spPr>
          <a:xfrm>
            <a:off x="9015984" y="3886200"/>
            <a:ext cx="2560320" cy="1554480"/>
          </a:xfrm>
          <a:prstGeom prst="rect">
            <a:avLst/>
          </a:prstGeom>
          <a:noFill/>
          <a:ln/>
        </p:spPr>
        <p:txBody>
          <a:bodyPr wrap="square" lIns="0" tIns="0" rIns="0" bIns="0" rtlCol="0" anchor="ctr"/>
          <a:lstStyle/>
          <a:p>
            <a:pPr marL="0" indent="0">
              <a:lnSpc>
                <a:spcPct val="118000"/>
              </a:lnSpc>
              <a:buNone/>
            </a:pPr>
            <a:r>
              <a:rPr lang="en-US" sz="1300" dirty="0">
                <a:solidFill>
                  <a:srgbClr val="6E7180"/>
                </a:solidFill>
                <a:latin typeface="Manrope" pitchFamily="34" charset="0"/>
                <a:ea typeface="Manrope" pitchFamily="34" charset="-122"/>
                <a:cs typeface="Manrope" pitchFamily="34" charset="-120"/>
              </a:rPr>
              <a:t>On award, we mobilise quickly with a clear plan and the right team.</a:t>
            </a:r>
            <a:endParaRPr lang="en-US" sz="1300" dirty="0"/>
          </a:p>
        </p:txBody>
      </p:sp>
      <p:pic>
        <p:nvPicPr>
          <p:cNvPr id="20" name="Image 0" descr="/home/claude/deck/img/mark.png"/>
          <p:cNvPicPr>
            <a:picLocks noChangeAspect="1"/>
          </p:cNvPicPr>
          <p:nvPr/>
        </p:nvPicPr>
        <p:blipFill>
          <a:blip r:embed="rId3"/>
          <a:stretch>
            <a:fillRect/>
          </a:stretch>
        </p:blipFill>
        <p:spPr>
          <a:xfrm>
            <a:off x="640080" y="6364224"/>
            <a:ext cx="274320" cy="274320"/>
          </a:xfrm>
          <a:prstGeom prst="rect">
            <a:avLst/>
          </a:prstGeom>
        </p:spPr>
      </p:pic>
      <p:sp>
        <p:nvSpPr>
          <p:cNvPr id="21" name="Text 18"/>
          <p:cNvSpPr/>
          <p:nvPr/>
        </p:nvSpPr>
        <p:spPr>
          <a:xfrm>
            <a:off x="1005840" y="6400800"/>
            <a:ext cx="4023360" cy="274320"/>
          </a:xfrm>
          <a:prstGeom prst="rect">
            <a:avLst/>
          </a:prstGeom>
          <a:noFill/>
          <a:ln/>
        </p:spPr>
        <p:txBody>
          <a:bodyPr wrap="square" lIns="0" tIns="0" rIns="0" bIns="0" rtlCol="0" anchor="ctr"/>
          <a:lstStyle/>
          <a:p>
            <a:pPr marL="0" indent="0">
              <a:buNone/>
            </a:pPr>
            <a:r>
              <a:rPr lang="en-US" sz="900" dirty="0">
                <a:solidFill>
                  <a:srgbClr val="6E7180"/>
                </a:solidFill>
                <a:latin typeface="Manrope" pitchFamily="34" charset="0"/>
                <a:ea typeface="Manrope" pitchFamily="34" charset="-122"/>
                <a:cs typeface="Manrope" pitchFamily="34" charset="-120"/>
              </a:rPr>
              <a:t>Aqualogic, a Sustec company</a:t>
            </a:r>
            <a:endParaRPr lang="en-US" sz="900" dirty="0"/>
          </a:p>
        </p:txBody>
      </p:sp>
      <p:sp>
        <p:nvSpPr>
          <p:cNvPr id="22" name="Text 19"/>
          <p:cNvSpPr/>
          <p:nvPr/>
        </p:nvSpPr>
        <p:spPr>
          <a:xfrm>
            <a:off x="4572000" y="6400800"/>
            <a:ext cx="3044952" cy="274320"/>
          </a:xfrm>
          <a:prstGeom prst="rect">
            <a:avLst/>
          </a:prstGeom>
          <a:noFill/>
          <a:ln/>
        </p:spPr>
        <p:txBody>
          <a:bodyPr wrap="square" lIns="0" tIns="0" rIns="0" bIns="0" rtlCol="0" anchor="ctr"/>
          <a:lstStyle/>
          <a:p>
            <a:pPr marL="0" indent="0" algn="ctr">
              <a:buNone/>
            </a:pPr>
            <a:r>
              <a:rPr lang="en-US" sz="900" dirty="0">
                <a:solidFill>
                  <a:srgbClr val="BCBFCC"/>
                </a:solidFill>
                <a:latin typeface="Manrope" pitchFamily="34" charset="0"/>
                <a:ea typeface="Manrope" pitchFamily="34" charset="-122"/>
                <a:cs typeface="Manrope" pitchFamily="34" charset="-120"/>
              </a:rPr>
              <a:t>Commercial in confidence</a:t>
            </a:r>
            <a:endParaRPr lang="en-US" sz="900" dirty="0"/>
          </a:p>
        </p:txBody>
      </p:sp>
      <p:sp>
        <p:nvSpPr>
          <p:cNvPr id="23" name="Text 20"/>
          <p:cNvSpPr/>
          <p:nvPr/>
        </p:nvSpPr>
        <p:spPr>
          <a:xfrm>
            <a:off x="11155680" y="6400800"/>
            <a:ext cx="411480" cy="274320"/>
          </a:xfrm>
          <a:prstGeom prst="rect">
            <a:avLst/>
          </a:prstGeom>
          <a:noFill/>
          <a:ln/>
        </p:spPr>
        <p:txBody>
          <a:bodyPr wrap="square" lIns="0" tIns="0" rIns="0" bIns="0" rtlCol="0" anchor="ctr"/>
          <a:lstStyle/>
          <a:p>
            <a:pPr marL="0" indent="0" algn="r">
              <a:buNone/>
            </a:pPr>
            <a:r>
              <a:rPr lang="en-US" sz="950" dirty="0">
                <a:solidFill>
                  <a:srgbClr val="6E7180"/>
                </a:solidFill>
                <a:latin typeface="Manrope" pitchFamily="34" charset="0"/>
                <a:ea typeface="Manrope" pitchFamily="34" charset="-122"/>
                <a:cs typeface="Manrope" pitchFamily="34" charset="-120"/>
              </a:rPr>
              <a:t>29</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2C3A"/>
        </a:solidFill>
        <a:effectLst/>
      </p:bgPr>
    </p:bg>
    <p:spTree>
      <p:nvGrpSpPr>
        <p:cNvPr id="1" name=""/>
        <p:cNvGrpSpPr/>
        <p:nvPr/>
      </p:nvGrpSpPr>
      <p:grpSpPr>
        <a:xfrm>
          <a:off x="0" y="0"/>
          <a:ext cx="0" cy="0"/>
          <a:chOff x="0" y="0"/>
          <a:chExt cx="0" cy="0"/>
        </a:xfrm>
      </p:grpSpPr>
      <p:pic>
        <p:nvPicPr>
          <p:cNvPr id="2" name="Image 0" descr="/home/claude/deck/img/mark.png"/>
          <p:cNvPicPr>
            <a:picLocks noChangeAspect="1"/>
          </p:cNvPicPr>
          <p:nvPr/>
        </p:nvPicPr>
        <p:blipFill>
          <a:blip r:embed="rId3">
            <a:alphaModFix amt="12000"/>
          </a:blip>
          <a:stretch>
            <a:fillRect/>
          </a:stretch>
        </p:blipFill>
        <p:spPr>
          <a:xfrm>
            <a:off x="8869680" y="3108960"/>
            <a:ext cx="5120640" cy="5120640"/>
          </a:xfrm>
          <a:prstGeom prst="rect">
            <a:avLst/>
          </a:prstGeom>
        </p:spPr>
      </p:pic>
      <p:pic>
        <p:nvPicPr>
          <p:cNvPr id="3" name="Image 1" descr="/home/claude/deck/img/logo_rev.png"/>
          <p:cNvPicPr>
            <a:picLocks noChangeAspect="1"/>
          </p:cNvPicPr>
          <p:nvPr/>
        </p:nvPicPr>
        <p:blipFill>
          <a:blip r:embed="rId4"/>
          <a:stretch>
            <a:fillRect/>
          </a:stretch>
        </p:blipFill>
        <p:spPr>
          <a:xfrm>
            <a:off x="640080" y="1417320"/>
            <a:ext cx="2286000" cy="751974"/>
          </a:xfrm>
          <a:prstGeom prst="rect">
            <a:avLst/>
          </a:prstGeom>
        </p:spPr>
      </p:pic>
      <p:sp>
        <p:nvSpPr>
          <p:cNvPr id="4" name="Text 0"/>
          <p:cNvSpPr/>
          <p:nvPr/>
        </p:nvSpPr>
        <p:spPr>
          <a:xfrm>
            <a:off x="640080" y="2286000"/>
            <a:ext cx="868680" cy="370239"/>
          </a:xfrm>
          <a:prstGeom prst="rect">
            <a:avLst/>
          </a:prstGeom>
          <a:noFill/>
          <a:ln/>
        </p:spPr>
        <p:txBody>
          <a:bodyPr wrap="square" lIns="0" tIns="0" rIns="0" bIns="0" rtlCol="0" anchor="ctr"/>
          <a:lstStyle/>
          <a:p>
            <a:pPr marL="0" indent="0">
              <a:buNone/>
            </a:pPr>
            <a:r>
              <a:rPr lang="en-US" sz="900" b="1" kern="0" spc="250" dirty="0">
                <a:solidFill>
                  <a:srgbClr val="6AC2D8"/>
                </a:solidFill>
                <a:latin typeface="Manrope" pitchFamily="34" charset="0"/>
                <a:ea typeface="Manrope" pitchFamily="34" charset="-122"/>
                <a:cs typeface="Manrope" pitchFamily="34" charset="-120"/>
              </a:rPr>
              <a:t>PART OF</a:t>
            </a:r>
            <a:endParaRPr lang="en-US" sz="900" dirty="0"/>
          </a:p>
        </p:txBody>
      </p:sp>
      <p:pic>
        <p:nvPicPr>
          <p:cNvPr id="5" name="Image 2" descr="/home/claude/deck/img/sustec_rev.png"/>
          <p:cNvPicPr>
            <a:picLocks noChangeAspect="1"/>
          </p:cNvPicPr>
          <p:nvPr/>
        </p:nvPicPr>
        <p:blipFill>
          <a:blip r:embed="rId5"/>
          <a:stretch>
            <a:fillRect/>
          </a:stretch>
        </p:blipFill>
        <p:spPr>
          <a:xfrm>
            <a:off x="1481328" y="2286000"/>
            <a:ext cx="1874520" cy="370239"/>
          </a:xfrm>
          <a:prstGeom prst="rect">
            <a:avLst/>
          </a:prstGeom>
        </p:spPr>
      </p:pic>
      <p:sp>
        <p:nvSpPr>
          <p:cNvPr id="6" name="Text 1"/>
          <p:cNvSpPr/>
          <p:nvPr/>
        </p:nvSpPr>
        <p:spPr>
          <a:xfrm>
            <a:off x="640080" y="2880360"/>
            <a:ext cx="8229600" cy="914400"/>
          </a:xfrm>
          <a:prstGeom prst="rect">
            <a:avLst/>
          </a:prstGeom>
          <a:noFill/>
          <a:ln/>
        </p:spPr>
        <p:txBody>
          <a:bodyPr wrap="square" lIns="0" tIns="0" rIns="0" bIns="0" rtlCol="0" anchor="ctr"/>
          <a:lstStyle/>
          <a:p>
            <a:pPr marL="0" indent="0">
              <a:buNone/>
            </a:pPr>
            <a:r>
              <a:rPr lang="en-US" sz="4400" b="1" dirty="0">
                <a:solidFill>
                  <a:srgbClr val="FFFFFF"/>
                </a:solidFill>
                <a:latin typeface="Manrope" pitchFamily="34" charset="0"/>
                <a:ea typeface="Manrope" pitchFamily="34" charset="-122"/>
                <a:cs typeface="Manrope" pitchFamily="34" charset="-120"/>
              </a:rPr>
              <a:t>Thank you</a:t>
            </a:r>
            <a:endParaRPr lang="en-US" sz="4400" dirty="0"/>
          </a:p>
        </p:txBody>
      </p:sp>
      <p:sp>
        <p:nvSpPr>
          <p:cNvPr id="7" name="Text 2"/>
          <p:cNvSpPr/>
          <p:nvPr/>
        </p:nvSpPr>
        <p:spPr>
          <a:xfrm>
            <a:off x="640080" y="3931920"/>
            <a:ext cx="8229600" cy="548640"/>
          </a:xfrm>
          <a:prstGeom prst="rect">
            <a:avLst/>
          </a:prstGeom>
          <a:noFill/>
          <a:ln/>
        </p:spPr>
        <p:txBody>
          <a:bodyPr wrap="square" lIns="0" tIns="0" rIns="0" bIns="0" rtlCol="0" anchor="ctr"/>
          <a:lstStyle/>
          <a:p>
            <a:pPr marL="0" indent="0">
              <a:buNone/>
            </a:pPr>
            <a:r>
              <a:rPr lang="en-US" sz="1800" dirty="0">
                <a:solidFill>
                  <a:srgbClr val="00B6DB"/>
                </a:solidFill>
                <a:latin typeface="Manrope" pitchFamily="34" charset="0"/>
                <a:ea typeface="Manrope" pitchFamily="34" charset="-122"/>
                <a:cs typeface="Manrope" pitchFamily="34" charset="-120"/>
              </a:rPr>
              <a:t>Intelligent water conservation.</a:t>
            </a:r>
            <a:endParaRPr lang="en-US" sz="1800" dirty="0"/>
          </a:p>
        </p:txBody>
      </p:sp>
      <p:sp>
        <p:nvSpPr>
          <p:cNvPr id="8" name="Text 3"/>
          <p:cNvSpPr/>
          <p:nvPr/>
        </p:nvSpPr>
        <p:spPr>
          <a:xfrm>
            <a:off x="640080" y="5074920"/>
            <a:ext cx="10789920" cy="457200"/>
          </a:xfrm>
          <a:prstGeom prst="rect">
            <a:avLst/>
          </a:prstGeom>
          <a:noFill/>
          <a:ln/>
        </p:spPr>
        <p:txBody>
          <a:bodyPr wrap="square" lIns="0" tIns="0" rIns="0" bIns="0" rtlCol="0" anchor="ctr"/>
          <a:lstStyle/>
          <a:p>
            <a:pPr marL="0" indent="0">
              <a:buNone/>
            </a:pPr>
            <a:r>
              <a:rPr lang="en-US" sz="1300" dirty="0">
                <a:solidFill>
                  <a:srgbClr val="EDEFF7"/>
                </a:solidFill>
                <a:latin typeface="Manrope" pitchFamily="34" charset="0"/>
                <a:ea typeface="Manrope" pitchFamily="34" charset="-122"/>
                <a:cs typeface="Manrope" pitchFamily="34" charset="-120"/>
              </a:rPr>
              <a:t>Ashley Williams, Chief Growth Officer     AshleyW@aqualogic-wc.com     0844 324 0844</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2327</Words>
  <Application>Microsoft Macintosh PowerPoint</Application>
  <PresentationFormat>Widescreen</PresentationFormat>
  <Paragraphs>440</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Arial</vt:lpstr>
      <vt:lpstr>Manrope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Aqualogic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Aqualogic proposal pitch deck</dc:title>
  <dc:subject>PptxGenJS Presentation</dc:subject>
  <dc:creator>Alchemy</dc:creator>
  <cp:lastModifiedBy>Jess Morgan</cp:lastModifiedBy>
  <cp:revision>2</cp:revision>
  <dcterms:created xsi:type="dcterms:W3CDTF">2026-06-12T07:58:35Z</dcterms:created>
  <dcterms:modified xsi:type="dcterms:W3CDTF">2026-06-12T10:32:16Z</dcterms:modified>
</cp:coreProperties>
</file>