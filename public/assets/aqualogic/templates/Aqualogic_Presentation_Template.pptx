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 titles are indicative, drawn from the positioning (network, customer, field) and recent programme material. Confirm the live service list with Aqualogic before external use.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drawn from recent programme material (including the South West Water leakage programme). They are point-in-time. Confirm current numbers before any external use.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Leadership bios supplied by Aqualogic. Placeholder avatars shown; drop in each leader's headshot in place of the grey circle.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C3A"/>
        </a:solidFill>
        <a:effectLst/>
      </p:bgPr>
    </p:bg>
    <p:spTree>
      <p:nvGrpSpPr>
        <p:cNvPr id="1" name=""/>
        <p:cNvGrpSpPr/>
        <p:nvPr/>
      </p:nvGrpSpPr>
      <p:grpSpPr>
        <a:xfrm>
          <a:off x="0" y="0"/>
          <a:ext cx="0" cy="0"/>
          <a:chOff x="0" y="0"/>
          <a:chExt cx="0" cy="0"/>
        </a:xfrm>
      </p:grpSpPr>
      <p:pic>
        <p:nvPicPr>
          <p:cNvPr id="2" name="Image 0" descr="/home/claude/deck/img/cover_hero.jpg"/>
          <p:cNvPicPr>
            <a:picLocks noChangeAspect="1"/>
          </p:cNvPicPr>
          <p:nvPr/>
        </p:nvPicPr>
        <p:blipFill>
          <a:blip r:embed="rId3"/>
          <a:srcRect/>
          <a:stretch/>
        </p:blipFill>
        <p:spPr>
          <a:xfrm>
            <a:off x="6812280" y="0"/>
            <a:ext cx="5379415" cy="6858000"/>
          </a:xfrm>
          <a:prstGeom prst="rect">
            <a:avLst/>
          </a:prstGeom>
        </p:spPr>
      </p:pic>
      <p:pic>
        <p:nvPicPr>
          <p:cNvPr id="3" name="Image 1" descr="/home/claude/deck/img/logo_rev.png"/>
          <p:cNvPicPr>
            <a:picLocks noChangeAspect="1"/>
          </p:cNvPicPr>
          <p:nvPr/>
        </p:nvPicPr>
        <p:blipFill>
          <a:blip r:embed="rId4"/>
          <a:stretch>
            <a:fillRect/>
          </a:stretch>
        </p:blipFill>
        <p:spPr>
          <a:xfrm>
            <a:off x="640080" y="731520"/>
            <a:ext cx="2057400" cy="676776"/>
          </a:xfrm>
          <a:prstGeom prst="rect">
            <a:avLst/>
          </a:prstGeom>
        </p:spPr>
      </p:pic>
      <p:sp>
        <p:nvSpPr>
          <p:cNvPr id="4" name="Text 0"/>
          <p:cNvSpPr/>
          <p:nvPr/>
        </p:nvSpPr>
        <p:spPr>
          <a:xfrm>
            <a:off x="640080" y="1517904"/>
            <a:ext cx="868680" cy="365760"/>
          </a:xfrm>
          <a:prstGeom prst="rect">
            <a:avLst/>
          </a:prstGeom>
          <a:noFill/>
          <a:ln/>
        </p:spPr>
        <p:txBody>
          <a:bodyPr wrap="square" lIns="0" tIns="0" rIns="0" bIns="0" rtlCol="0" anchor="ctr"/>
          <a:lstStyle/>
          <a:p>
            <a:pPr marL="0" indent="0">
              <a:buNone/>
            </a:pPr>
            <a:r>
              <a:rPr lang="en-US" sz="900" b="1" kern="0" spc="250" dirty="0">
                <a:solidFill>
                  <a:srgbClr val="6AC2D8"/>
                </a:solidFill>
                <a:latin typeface="Manrope" pitchFamily="34" charset="0"/>
                <a:ea typeface="Manrope" pitchFamily="34" charset="-122"/>
                <a:cs typeface="Manrope" pitchFamily="34" charset="-120"/>
              </a:rPr>
              <a:t>PART OF</a:t>
            </a:r>
            <a:endParaRPr lang="en-US" sz="900" dirty="0"/>
          </a:p>
        </p:txBody>
      </p:sp>
      <p:pic>
        <p:nvPicPr>
          <p:cNvPr id="5" name="Image 2" descr="/home/claude/deck/img/sustec_rev.png"/>
          <p:cNvPicPr>
            <a:picLocks noChangeAspect="1"/>
          </p:cNvPicPr>
          <p:nvPr/>
        </p:nvPicPr>
        <p:blipFill>
          <a:blip r:embed="rId5"/>
          <a:stretch>
            <a:fillRect/>
          </a:stretch>
        </p:blipFill>
        <p:spPr>
          <a:xfrm>
            <a:off x="1481328" y="1517904"/>
            <a:ext cx="1755648" cy="346760"/>
          </a:xfrm>
          <a:prstGeom prst="rect">
            <a:avLst/>
          </a:prstGeom>
        </p:spPr>
      </p:pic>
      <p:sp>
        <p:nvSpPr>
          <p:cNvPr id="6" name="Text 1"/>
          <p:cNvSpPr/>
          <p:nvPr/>
        </p:nvSpPr>
        <p:spPr>
          <a:xfrm>
            <a:off x="640080" y="2514600"/>
            <a:ext cx="5943600" cy="1737360"/>
          </a:xfrm>
          <a:prstGeom prst="rect">
            <a:avLst/>
          </a:prstGeom>
          <a:noFill/>
          <a:ln/>
        </p:spPr>
        <p:txBody>
          <a:bodyPr wrap="square" lIns="0" tIns="0" rIns="0" bIns="0" rtlCol="0" anchor="ctr"/>
          <a:lstStyle/>
          <a:p>
            <a:pPr marL="0" indent="0">
              <a:lnSpc>
                <a:spcPct val="102000"/>
              </a:lnSpc>
              <a:buNone/>
            </a:pPr>
            <a:r>
              <a:rPr lang="en-US" sz="4300" b="1" dirty="0">
                <a:solidFill>
                  <a:srgbClr val="FFFFFF"/>
                </a:solidFill>
                <a:latin typeface="Manrope" pitchFamily="34" charset="0"/>
                <a:ea typeface="Manrope" pitchFamily="34" charset="-122"/>
                <a:cs typeface="Manrope" pitchFamily="34" charset="-120"/>
              </a:rPr>
              <a:t>Intelligent water</a:t>
            </a:r>
            <a:endParaRPr lang="en-US" sz="4300" dirty="0"/>
          </a:p>
          <a:p>
            <a:pPr marL="0" indent="0">
              <a:lnSpc>
                <a:spcPct val="102000"/>
              </a:lnSpc>
              <a:buNone/>
            </a:pPr>
            <a:r>
              <a:rPr lang="en-US" sz="4300" b="1" dirty="0">
                <a:solidFill>
                  <a:srgbClr val="00B6DB"/>
                </a:solidFill>
                <a:latin typeface="Manrope" pitchFamily="34" charset="0"/>
                <a:ea typeface="Manrope" pitchFamily="34" charset="-122"/>
                <a:cs typeface="Manrope" pitchFamily="34" charset="-120"/>
              </a:rPr>
              <a:t>conservation.</a:t>
            </a:r>
            <a:endParaRPr lang="en-US" sz="4300" dirty="0"/>
          </a:p>
        </p:txBody>
      </p:sp>
      <p:sp>
        <p:nvSpPr>
          <p:cNvPr id="7" name="Text 2"/>
          <p:cNvSpPr/>
          <p:nvPr/>
        </p:nvSpPr>
        <p:spPr>
          <a:xfrm>
            <a:off x="640080" y="4343400"/>
            <a:ext cx="5669280" cy="1097280"/>
          </a:xfrm>
          <a:prstGeom prst="rect">
            <a:avLst/>
          </a:prstGeom>
          <a:noFill/>
          <a:ln/>
        </p:spPr>
        <p:txBody>
          <a:bodyPr wrap="square" lIns="0" tIns="0" rIns="0" bIns="0" rtlCol="0" anchor="ctr"/>
          <a:lstStyle/>
          <a:p>
            <a:pPr marL="0" indent="0">
              <a:lnSpc>
                <a:spcPct val="122000"/>
              </a:lnSpc>
              <a:buNone/>
            </a:pPr>
            <a:r>
              <a:rPr lang="en-US" sz="1450" dirty="0">
                <a:solidFill>
                  <a:srgbClr val="6AC2D8"/>
                </a:solidFill>
                <a:latin typeface="Manrope" pitchFamily="34" charset="0"/>
                <a:ea typeface="Manrope" pitchFamily="34" charset="-122"/>
                <a:cs typeface="Manrope" pitchFamily="34" charset="-120"/>
              </a:rPr>
              <a:t>An integrated water conservation and demand management business, helping water companies reduce waste, improve performance and strengthen long-term resilience.</a:t>
            </a:r>
            <a:endParaRPr lang="en-US" sz="1450" dirty="0"/>
          </a:p>
        </p:txBody>
      </p:sp>
      <p:sp>
        <p:nvSpPr>
          <p:cNvPr id="8" name="Text 3"/>
          <p:cNvSpPr/>
          <p:nvPr/>
        </p:nvSpPr>
        <p:spPr>
          <a:xfrm>
            <a:off x="640080" y="6035040"/>
            <a:ext cx="4572000" cy="365760"/>
          </a:xfrm>
          <a:prstGeom prst="rect">
            <a:avLst/>
          </a:prstGeom>
          <a:noFill/>
          <a:ln/>
        </p:spPr>
        <p:txBody>
          <a:bodyPr wrap="square" lIns="0" tIns="0" rIns="0" bIns="0" rtlCol="0" anchor="ctr"/>
          <a:lstStyle/>
          <a:p>
            <a:pPr marL="0" indent="0">
              <a:buNone/>
            </a:pPr>
            <a:r>
              <a:rPr lang="en-US" sz="1050" kern="0" spc="300" dirty="0">
                <a:solidFill>
                  <a:srgbClr val="BCBFCC"/>
                </a:solidFill>
                <a:latin typeface="Manrope" pitchFamily="34" charset="0"/>
                <a:ea typeface="Manrope" pitchFamily="34" charset="-122"/>
                <a:cs typeface="Manrope" pitchFamily="34" charset="-120"/>
              </a:rPr>
              <a:t>EXTERNAL PRESENTATION TEMPLATE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PRESENTATION</a:t>
            </a:r>
            <a:endParaRPr lang="en-US" sz="11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marL="0" indent="0" algn="l">
              <a:buNone/>
            </a:pPr>
            <a:r>
              <a:rPr lang="en-US" sz="2900" b="1" dirty="0">
                <a:solidFill>
                  <a:srgbClr val="0C2C3A"/>
                </a:solidFill>
                <a:latin typeface="Manrope" pitchFamily="34" charset="0"/>
                <a:ea typeface="Manrope" pitchFamily="34" charset="-122"/>
                <a:cs typeface="Manrope" pitchFamily="34" charset="-120"/>
              </a:rPr>
              <a:t>Contents</a:t>
            </a:r>
            <a:endParaRPr lang="en-US" sz="2900" dirty="0"/>
          </a:p>
        </p:txBody>
      </p:sp>
      <p:sp>
        <p:nvSpPr>
          <p:cNvPr id="4" name="Text 2"/>
          <p:cNvSpPr/>
          <p:nvPr/>
        </p:nvSpPr>
        <p:spPr>
          <a:xfrm>
            <a:off x="640080" y="1783080"/>
            <a:ext cx="731520" cy="502920"/>
          </a:xfrm>
          <a:prstGeom prst="rect">
            <a:avLst/>
          </a:prstGeom>
          <a:noFill/>
          <a:ln/>
        </p:spPr>
        <p:txBody>
          <a:bodyPr wrap="square" lIns="0" tIns="0" rIns="0" bIns="0" rtlCol="0" anchor="ctr"/>
          <a:lstStyle/>
          <a:p>
            <a:pPr marL="0" indent="0">
              <a:buNone/>
            </a:pPr>
            <a:r>
              <a:rPr lang="en-US" sz="2000" b="1" dirty="0">
                <a:solidFill>
                  <a:srgbClr val="00B6DB"/>
                </a:solidFill>
                <a:latin typeface="Manrope" pitchFamily="34" charset="0"/>
                <a:ea typeface="Manrope" pitchFamily="34" charset="-122"/>
                <a:cs typeface="Manrope" pitchFamily="34" charset="-120"/>
              </a:rPr>
              <a:t>01</a:t>
            </a:r>
            <a:endParaRPr lang="en-US" sz="2000" dirty="0"/>
          </a:p>
        </p:txBody>
      </p:sp>
      <p:sp>
        <p:nvSpPr>
          <p:cNvPr id="5" name="Text 3"/>
          <p:cNvSpPr/>
          <p:nvPr/>
        </p:nvSpPr>
        <p:spPr>
          <a:xfrm>
            <a:off x="1481328" y="1783080"/>
            <a:ext cx="4937760" cy="502920"/>
          </a:xfrm>
          <a:prstGeom prst="rect">
            <a:avLst/>
          </a:prstGeom>
          <a:noFill/>
          <a:ln/>
        </p:spPr>
        <p:txBody>
          <a:bodyPr wrap="square" lIns="0" tIns="0" rIns="0" bIns="0" rtlCol="0" anchor="ctr"/>
          <a:lstStyle/>
          <a:p>
            <a:pPr marL="0" indent="0">
              <a:buNone/>
            </a:pPr>
            <a:r>
              <a:rPr lang="en-US" sz="1800" dirty="0">
                <a:solidFill>
                  <a:srgbClr val="0C2C3A"/>
                </a:solidFill>
                <a:latin typeface="Manrope" pitchFamily="34" charset="0"/>
                <a:ea typeface="Manrope" pitchFamily="34" charset="-122"/>
                <a:cs typeface="Manrope" pitchFamily="34" charset="-120"/>
              </a:rPr>
              <a:t>Who we are</a:t>
            </a:r>
            <a:endParaRPr lang="en-US" sz="1800" dirty="0"/>
          </a:p>
        </p:txBody>
      </p:sp>
      <p:sp>
        <p:nvSpPr>
          <p:cNvPr id="6" name="Text 4"/>
          <p:cNvSpPr/>
          <p:nvPr/>
        </p:nvSpPr>
        <p:spPr>
          <a:xfrm>
            <a:off x="640080" y="2441448"/>
            <a:ext cx="731520" cy="502920"/>
          </a:xfrm>
          <a:prstGeom prst="rect">
            <a:avLst/>
          </a:prstGeom>
          <a:noFill/>
          <a:ln/>
        </p:spPr>
        <p:txBody>
          <a:bodyPr wrap="square" lIns="0" tIns="0" rIns="0" bIns="0" rtlCol="0" anchor="ctr"/>
          <a:lstStyle/>
          <a:p>
            <a:pPr marL="0" indent="0">
              <a:buNone/>
            </a:pPr>
            <a:r>
              <a:rPr lang="en-US" sz="2000" b="1" dirty="0">
                <a:solidFill>
                  <a:srgbClr val="00B6DB"/>
                </a:solidFill>
                <a:latin typeface="Manrope" pitchFamily="34" charset="0"/>
                <a:ea typeface="Manrope" pitchFamily="34" charset="-122"/>
                <a:cs typeface="Manrope" pitchFamily="34" charset="-120"/>
              </a:rPr>
              <a:t>02</a:t>
            </a:r>
            <a:endParaRPr lang="en-US" sz="2000" dirty="0"/>
          </a:p>
        </p:txBody>
      </p:sp>
      <p:sp>
        <p:nvSpPr>
          <p:cNvPr id="7" name="Text 5"/>
          <p:cNvSpPr/>
          <p:nvPr/>
        </p:nvSpPr>
        <p:spPr>
          <a:xfrm>
            <a:off x="1481328" y="2441448"/>
            <a:ext cx="4937760" cy="502920"/>
          </a:xfrm>
          <a:prstGeom prst="rect">
            <a:avLst/>
          </a:prstGeom>
          <a:noFill/>
          <a:ln/>
        </p:spPr>
        <p:txBody>
          <a:bodyPr wrap="square" lIns="0" tIns="0" rIns="0" bIns="0" rtlCol="0" anchor="ctr"/>
          <a:lstStyle/>
          <a:p>
            <a:pPr marL="0" indent="0">
              <a:buNone/>
            </a:pPr>
            <a:r>
              <a:rPr lang="en-US" sz="1800" dirty="0">
                <a:solidFill>
                  <a:srgbClr val="0C2C3A"/>
                </a:solidFill>
                <a:latin typeface="Manrope" pitchFamily="34" charset="0"/>
                <a:ea typeface="Manrope" pitchFamily="34" charset="-122"/>
                <a:cs typeface="Manrope" pitchFamily="34" charset="-120"/>
              </a:rPr>
              <a:t>What we do</a:t>
            </a:r>
            <a:endParaRPr lang="en-US" sz="1800" dirty="0"/>
          </a:p>
        </p:txBody>
      </p:sp>
      <p:sp>
        <p:nvSpPr>
          <p:cNvPr id="8" name="Text 6"/>
          <p:cNvSpPr/>
          <p:nvPr/>
        </p:nvSpPr>
        <p:spPr>
          <a:xfrm>
            <a:off x="640080" y="3099816"/>
            <a:ext cx="731520" cy="502920"/>
          </a:xfrm>
          <a:prstGeom prst="rect">
            <a:avLst/>
          </a:prstGeom>
          <a:noFill/>
          <a:ln/>
        </p:spPr>
        <p:txBody>
          <a:bodyPr wrap="square" lIns="0" tIns="0" rIns="0" bIns="0" rtlCol="0" anchor="ctr"/>
          <a:lstStyle/>
          <a:p>
            <a:pPr marL="0" indent="0">
              <a:buNone/>
            </a:pPr>
            <a:r>
              <a:rPr lang="en-US" sz="2000" b="1" dirty="0">
                <a:solidFill>
                  <a:srgbClr val="00B6DB"/>
                </a:solidFill>
                <a:latin typeface="Manrope" pitchFamily="34" charset="0"/>
                <a:ea typeface="Manrope" pitchFamily="34" charset="-122"/>
                <a:cs typeface="Manrope" pitchFamily="34" charset="-120"/>
              </a:rPr>
              <a:t>03</a:t>
            </a:r>
            <a:endParaRPr lang="en-US" sz="2000" dirty="0"/>
          </a:p>
        </p:txBody>
      </p:sp>
      <p:sp>
        <p:nvSpPr>
          <p:cNvPr id="9" name="Text 7"/>
          <p:cNvSpPr/>
          <p:nvPr/>
        </p:nvSpPr>
        <p:spPr>
          <a:xfrm>
            <a:off x="1481328" y="3099816"/>
            <a:ext cx="4937760" cy="502920"/>
          </a:xfrm>
          <a:prstGeom prst="rect">
            <a:avLst/>
          </a:prstGeom>
          <a:noFill/>
          <a:ln/>
        </p:spPr>
        <p:txBody>
          <a:bodyPr wrap="square" lIns="0" tIns="0" rIns="0" bIns="0" rtlCol="0" anchor="ctr"/>
          <a:lstStyle/>
          <a:p>
            <a:pPr marL="0" indent="0">
              <a:buNone/>
            </a:pPr>
            <a:r>
              <a:rPr lang="en-US" sz="1800" dirty="0">
                <a:solidFill>
                  <a:srgbClr val="0C2C3A"/>
                </a:solidFill>
                <a:latin typeface="Manrope" pitchFamily="34" charset="0"/>
                <a:ea typeface="Manrope" pitchFamily="34" charset="-122"/>
                <a:cs typeface="Manrope" pitchFamily="34" charset="-120"/>
              </a:rPr>
              <a:t>Our services</a:t>
            </a:r>
            <a:endParaRPr lang="en-US" sz="1800" dirty="0"/>
          </a:p>
        </p:txBody>
      </p:sp>
      <p:sp>
        <p:nvSpPr>
          <p:cNvPr id="10" name="Text 8"/>
          <p:cNvSpPr/>
          <p:nvPr/>
        </p:nvSpPr>
        <p:spPr>
          <a:xfrm>
            <a:off x="640080" y="3758184"/>
            <a:ext cx="731520" cy="502920"/>
          </a:xfrm>
          <a:prstGeom prst="rect">
            <a:avLst/>
          </a:prstGeom>
          <a:noFill/>
          <a:ln/>
        </p:spPr>
        <p:txBody>
          <a:bodyPr wrap="square" lIns="0" tIns="0" rIns="0" bIns="0" rtlCol="0" anchor="ctr"/>
          <a:lstStyle/>
          <a:p>
            <a:pPr marL="0" indent="0">
              <a:buNone/>
            </a:pPr>
            <a:r>
              <a:rPr lang="en-US" sz="2000" b="1" dirty="0">
                <a:solidFill>
                  <a:srgbClr val="00B6DB"/>
                </a:solidFill>
                <a:latin typeface="Manrope" pitchFamily="34" charset="0"/>
                <a:ea typeface="Manrope" pitchFamily="34" charset="-122"/>
                <a:cs typeface="Manrope" pitchFamily="34" charset="-120"/>
              </a:rPr>
              <a:t>04</a:t>
            </a:r>
            <a:endParaRPr lang="en-US" sz="2000" dirty="0"/>
          </a:p>
        </p:txBody>
      </p:sp>
      <p:sp>
        <p:nvSpPr>
          <p:cNvPr id="11" name="Text 9"/>
          <p:cNvSpPr/>
          <p:nvPr/>
        </p:nvSpPr>
        <p:spPr>
          <a:xfrm>
            <a:off x="1481328" y="3758184"/>
            <a:ext cx="4937760" cy="502920"/>
          </a:xfrm>
          <a:prstGeom prst="rect">
            <a:avLst/>
          </a:prstGeom>
          <a:noFill/>
          <a:ln/>
        </p:spPr>
        <p:txBody>
          <a:bodyPr wrap="square" lIns="0" tIns="0" rIns="0" bIns="0" rtlCol="0" anchor="ctr"/>
          <a:lstStyle/>
          <a:p>
            <a:pPr marL="0" indent="0">
              <a:buNone/>
            </a:pPr>
            <a:r>
              <a:rPr lang="en-US" sz="1800" dirty="0">
                <a:solidFill>
                  <a:srgbClr val="0C2C3A"/>
                </a:solidFill>
                <a:latin typeface="Manrope" pitchFamily="34" charset="0"/>
                <a:ea typeface="Manrope" pitchFamily="34" charset="-122"/>
                <a:cs typeface="Manrope" pitchFamily="34" charset="-120"/>
              </a:rPr>
              <a:t>How we work</a:t>
            </a:r>
            <a:endParaRPr lang="en-US" sz="1800" dirty="0"/>
          </a:p>
        </p:txBody>
      </p:sp>
      <p:sp>
        <p:nvSpPr>
          <p:cNvPr id="12" name="Text 10"/>
          <p:cNvSpPr/>
          <p:nvPr/>
        </p:nvSpPr>
        <p:spPr>
          <a:xfrm>
            <a:off x="640080" y="4416552"/>
            <a:ext cx="731520" cy="502920"/>
          </a:xfrm>
          <a:prstGeom prst="rect">
            <a:avLst/>
          </a:prstGeom>
          <a:noFill/>
          <a:ln/>
        </p:spPr>
        <p:txBody>
          <a:bodyPr wrap="square" lIns="0" tIns="0" rIns="0" bIns="0" rtlCol="0" anchor="ctr"/>
          <a:lstStyle/>
          <a:p>
            <a:pPr marL="0" indent="0">
              <a:buNone/>
            </a:pPr>
            <a:r>
              <a:rPr lang="en-US" sz="2000" b="1" dirty="0">
                <a:solidFill>
                  <a:srgbClr val="00B6DB"/>
                </a:solidFill>
                <a:latin typeface="Manrope" pitchFamily="34" charset="0"/>
                <a:ea typeface="Manrope" pitchFamily="34" charset="-122"/>
                <a:cs typeface="Manrope" pitchFamily="34" charset="-120"/>
              </a:rPr>
              <a:t>05</a:t>
            </a:r>
            <a:endParaRPr lang="en-US" sz="2000" dirty="0"/>
          </a:p>
        </p:txBody>
      </p:sp>
      <p:sp>
        <p:nvSpPr>
          <p:cNvPr id="13" name="Text 11"/>
          <p:cNvSpPr/>
          <p:nvPr/>
        </p:nvSpPr>
        <p:spPr>
          <a:xfrm>
            <a:off x="1481328" y="4416552"/>
            <a:ext cx="4937760" cy="502920"/>
          </a:xfrm>
          <a:prstGeom prst="rect">
            <a:avLst/>
          </a:prstGeom>
          <a:noFill/>
          <a:ln/>
        </p:spPr>
        <p:txBody>
          <a:bodyPr wrap="square" lIns="0" tIns="0" rIns="0" bIns="0" rtlCol="0" anchor="ctr"/>
          <a:lstStyle/>
          <a:p>
            <a:pPr marL="0" indent="0">
              <a:buNone/>
            </a:pPr>
            <a:r>
              <a:rPr lang="en-US" sz="1800" dirty="0">
                <a:solidFill>
                  <a:srgbClr val="0C2C3A"/>
                </a:solidFill>
                <a:latin typeface="Manrope" pitchFamily="34" charset="0"/>
                <a:ea typeface="Manrope" pitchFamily="34" charset="-122"/>
                <a:cs typeface="Manrope" pitchFamily="34" charset="-120"/>
              </a:rPr>
              <a:t>Proof and case studies</a:t>
            </a:r>
            <a:endParaRPr lang="en-US" sz="1800" dirty="0"/>
          </a:p>
        </p:txBody>
      </p:sp>
      <p:sp>
        <p:nvSpPr>
          <p:cNvPr id="14" name="Text 12"/>
          <p:cNvSpPr/>
          <p:nvPr/>
        </p:nvSpPr>
        <p:spPr>
          <a:xfrm>
            <a:off x="640080" y="5074920"/>
            <a:ext cx="731520" cy="502920"/>
          </a:xfrm>
          <a:prstGeom prst="rect">
            <a:avLst/>
          </a:prstGeom>
          <a:noFill/>
          <a:ln/>
        </p:spPr>
        <p:txBody>
          <a:bodyPr wrap="square" lIns="0" tIns="0" rIns="0" bIns="0" rtlCol="0" anchor="ctr"/>
          <a:lstStyle/>
          <a:p>
            <a:pPr marL="0" indent="0">
              <a:buNone/>
            </a:pPr>
            <a:r>
              <a:rPr lang="en-US" sz="2000" b="1" dirty="0">
                <a:solidFill>
                  <a:srgbClr val="00B6DB"/>
                </a:solidFill>
                <a:latin typeface="Manrope" pitchFamily="34" charset="0"/>
                <a:ea typeface="Manrope" pitchFamily="34" charset="-122"/>
                <a:cs typeface="Manrope" pitchFamily="34" charset="-120"/>
              </a:rPr>
              <a:t>06</a:t>
            </a:r>
            <a:endParaRPr lang="en-US" sz="2000" dirty="0"/>
          </a:p>
        </p:txBody>
      </p:sp>
      <p:sp>
        <p:nvSpPr>
          <p:cNvPr id="15" name="Text 13"/>
          <p:cNvSpPr/>
          <p:nvPr/>
        </p:nvSpPr>
        <p:spPr>
          <a:xfrm>
            <a:off x="1481328" y="5074920"/>
            <a:ext cx="4937760" cy="502920"/>
          </a:xfrm>
          <a:prstGeom prst="rect">
            <a:avLst/>
          </a:prstGeom>
          <a:noFill/>
          <a:ln/>
        </p:spPr>
        <p:txBody>
          <a:bodyPr wrap="square" lIns="0" tIns="0" rIns="0" bIns="0" rtlCol="0" anchor="ctr"/>
          <a:lstStyle/>
          <a:p>
            <a:pPr marL="0" indent="0">
              <a:buNone/>
            </a:pPr>
            <a:r>
              <a:rPr lang="en-US" sz="1800" dirty="0">
                <a:solidFill>
                  <a:srgbClr val="0C2C3A"/>
                </a:solidFill>
                <a:latin typeface="Manrope" pitchFamily="34" charset="0"/>
                <a:ea typeface="Manrope" pitchFamily="34" charset="-122"/>
                <a:cs typeface="Manrope" pitchFamily="34" charset="-120"/>
              </a:rPr>
              <a:t>Working with us</a:t>
            </a:r>
            <a:endParaRPr lang="en-US" sz="1800" dirty="0"/>
          </a:p>
        </p:txBody>
      </p:sp>
      <p:pic>
        <p:nvPicPr>
          <p:cNvPr id="16" name="Image 0" descr="/home/claude/deck/img/office_entrance.jpg"/>
          <p:cNvPicPr>
            <a:picLocks noChangeAspect="1"/>
          </p:cNvPicPr>
          <p:nvPr/>
        </p:nvPicPr>
        <p:blipFill>
          <a:blip r:embed="rId3"/>
          <a:srcRect/>
          <a:stretch/>
        </p:blipFill>
        <p:spPr>
          <a:xfrm>
            <a:off x="7040880" y="1463040"/>
            <a:ext cx="4507992" cy="3820332"/>
          </a:xfrm>
          <a:prstGeom prst="rect">
            <a:avLst/>
          </a:prstGeom>
          <a:effectLst>
            <a:outerShdw blurRad="114300" dist="38100" dir="5400000" algn="bl" rotWithShape="0">
              <a:srgbClr val="0C2C3A">
                <a:alpha val="16000"/>
              </a:srgbClr>
            </a:outerShdw>
          </a:effectLst>
        </p:spPr>
      </p:pic>
      <p:pic>
        <p:nvPicPr>
          <p:cNvPr id="17" name="Image 1" descr="/home/claude/deck/img/mark.png"/>
          <p:cNvPicPr>
            <a:picLocks noChangeAspect="1"/>
          </p:cNvPicPr>
          <p:nvPr/>
        </p:nvPicPr>
        <p:blipFill>
          <a:blip r:embed="rId4"/>
          <a:stretch>
            <a:fillRect/>
          </a:stretch>
        </p:blipFill>
        <p:spPr>
          <a:xfrm>
            <a:off x="640080" y="6345936"/>
            <a:ext cx="292608" cy="292608"/>
          </a:xfrm>
          <a:prstGeom prst="rect">
            <a:avLst/>
          </a:prstGeom>
        </p:spPr>
      </p:pic>
      <p:sp>
        <p:nvSpPr>
          <p:cNvPr id="18" name="Text 14"/>
          <p:cNvSpPr/>
          <p:nvPr/>
        </p:nvSpPr>
        <p:spPr>
          <a:xfrm>
            <a:off x="11048695" y="6382512"/>
            <a:ext cx="548640" cy="274320"/>
          </a:xfrm>
          <a:prstGeom prst="rect">
            <a:avLst/>
          </a:prstGeom>
          <a:noFill/>
          <a:ln/>
        </p:spPr>
        <p:txBody>
          <a:bodyPr wrap="square" lIns="0" tIns="0" rIns="0" bIns="0" rtlCol="0" anchor="ctr"/>
          <a:lstStyle/>
          <a:p>
            <a:pPr marL="0" indent="0" algn="r">
              <a:buNone/>
            </a:pPr>
            <a:r>
              <a:rPr lang="en-US" sz="1000" dirty="0">
                <a:solidFill>
                  <a:srgbClr val="6E7180"/>
                </a:solidFill>
                <a:latin typeface="Manrope" pitchFamily="34" charset="0"/>
                <a:ea typeface="Manrope" pitchFamily="34" charset="-122"/>
                <a:cs typeface="Manrope"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01  ·  WHO WE ARE</a:t>
            </a:r>
            <a:endParaRPr lang="en-US" sz="11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marL="0" indent="0" algn="l">
              <a:buNone/>
            </a:pPr>
            <a:r>
              <a:rPr lang="en-US" sz="2900" b="1" dirty="0">
                <a:solidFill>
                  <a:srgbClr val="0C2C3A"/>
                </a:solidFill>
                <a:latin typeface="Manrope" pitchFamily="34" charset="0"/>
                <a:ea typeface="Manrope" pitchFamily="34" charset="-122"/>
                <a:cs typeface="Manrope" pitchFamily="34" charset="-120"/>
              </a:rPr>
              <a:t>One clear, credible business</a:t>
            </a:r>
            <a:endParaRPr lang="en-US" sz="2900" dirty="0"/>
          </a:p>
        </p:txBody>
      </p:sp>
      <p:sp>
        <p:nvSpPr>
          <p:cNvPr id="4" name="Text 2"/>
          <p:cNvSpPr/>
          <p:nvPr/>
        </p:nvSpPr>
        <p:spPr>
          <a:xfrm>
            <a:off x="640080" y="1554480"/>
            <a:ext cx="6035040" cy="1005840"/>
          </a:xfrm>
          <a:prstGeom prst="rect">
            <a:avLst/>
          </a:prstGeom>
          <a:noFill/>
          <a:ln/>
        </p:spPr>
        <p:txBody>
          <a:bodyPr wrap="square" lIns="0" tIns="0" rIns="0" bIns="0" rtlCol="0" anchor="ctr"/>
          <a:lstStyle/>
          <a:p>
            <a:pPr marL="0" indent="0">
              <a:lnSpc>
                <a:spcPct val="106000"/>
              </a:lnSpc>
              <a:buNone/>
            </a:pPr>
            <a:r>
              <a:rPr lang="en-US" sz="2100" b="1" dirty="0">
                <a:solidFill>
                  <a:srgbClr val="0C2C3A"/>
                </a:solidFill>
                <a:latin typeface="Manrope" pitchFamily="34" charset="0"/>
                <a:ea typeface="Manrope" pitchFamily="34" charset="-122"/>
                <a:cs typeface="Manrope" pitchFamily="34" charset="-120"/>
              </a:rPr>
              <a:t>Aqualogic is an integrated water conservation and demand management business.</a:t>
            </a:r>
            <a:endParaRPr lang="en-US" sz="2100" dirty="0"/>
          </a:p>
        </p:txBody>
      </p:sp>
      <p:sp>
        <p:nvSpPr>
          <p:cNvPr id="5" name="Text 3"/>
          <p:cNvSpPr/>
          <p:nvPr/>
        </p:nvSpPr>
        <p:spPr>
          <a:xfrm>
            <a:off x="640080" y="2743200"/>
            <a:ext cx="5943600" cy="1371600"/>
          </a:xfrm>
          <a:prstGeom prst="rect">
            <a:avLst/>
          </a:prstGeom>
          <a:noFill/>
          <a:ln/>
        </p:spPr>
        <p:txBody>
          <a:bodyPr wrap="square" lIns="0" tIns="0" rIns="0" bIns="0" rtlCol="0" anchor="ctr"/>
          <a:lstStyle/>
          <a:p>
            <a:pPr marL="0" indent="0">
              <a:lnSpc>
                <a:spcPct val="122000"/>
              </a:lnSpc>
              <a:buNone/>
            </a:pPr>
            <a:r>
              <a:rPr lang="en-US" sz="1450" dirty="0">
                <a:solidFill>
                  <a:srgbClr val="40424D"/>
                </a:solidFill>
                <a:latin typeface="Manrope" pitchFamily="34" charset="0"/>
                <a:ea typeface="Manrope" pitchFamily="34" charset="-122"/>
                <a:cs typeface="Manrope" pitchFamily="34" charset="-120"/>
              </a:rPr>
              <a:t>We help water companies reduce waste, improve performance and strengthen long-term resilience, combining network expertise, customer-side delivery, data, technology and practical field capability from source to tap.</a:t>
            </a:r>
            <a:endParaRPr lang="en-US" sz="1450" dirty="0"/>
          </a:p>
        </p:txBody>
      </p:sp>
      <p:sp>
        <p:nvSpPr>
          <p:cNvPr id="6" name="Text 4"/>
          <p:cNvSpPr/>
          <p:nvPr/>
        </p:nvSpPr>
        <p:spPr>
          <a:xfrm>
            <a:off x="640080" y="4251960"/>
            <a:ext cx="5943600" cy="1280160"/>
          </a:xfrm>
          <a:prstGeom prst="rect">
            <a:avLst/>
          </a:prstGeom>
          <a:noFill/>
          <a:ln/>
        </p:spPr>
        <p:txBody>
          <a:bodyPr wrap="square" lIns="0" tIns="0" rIns="0" bIns="0" rtlCol="0" anchor="ctr"/>
          <a:lstStyle/>
          <a:p>
            <a:pPr marL="0" indent="0">
              <a:lnSpc>
                <a:spcPct val="122000"/>
              </a:lnSpc>
              <a:buNone/>
            </a:pPr>
            <a:r>
              <a:rPr lang="en-US" sz="1450" dirty="0">
                <a:solidFill>
                  <a:srgbClr val="40424D"/>
                </a:solidFill>
                <a:latin typeface="Manrope" pitchFamily="34" charset="0"/>
                <a:ea typeface="Manrope" pitchFamily="34" charset="-122"/>
                <a:cs typeface="Manrope" pitchFamily="34" charset="-120"/>
              </a:rPr>
              <a:t>Our work connects a long heritage in water conservation with the shape of the business today. We operate nationally, recruit locally and build presence in the communities where we deliver.</a:t>
            </a:r>
            <a:endParaRPr lang="en-US" sz="1450" dirty="0"/>
          </a:p>
        </p:txBody>
      </p:sp>
      <p:pic>
        <p:nvPicPr>
          <p:cNvPr id="7" name="Image 0" descr="/home/claude/deck/img/office_entrance.jpg"/>
          <p:cNvPicPr>
            <a:picLocks noChangeAspect="1"/>
          </p:cNvPicPr>
          <p:nvPr/>
        </p:nvPicPr>
        <p:blipFill>
          <a:blip r:embed="rId3"/>
          <a:srcRect/>
          <a:stretch/>
        </p:blipFill>
        <p:spPr>
          <a:xfrm>
            <a:off x="7635240" y="1554480"/>
            <a:ext cx="3913632" cy="3316637"/>
          </a:xfrm>
          <a:prstGeom prst="rect">
            <a:avLst/>
          </a:prstGeom>
          <a:effectLst>
            <a:outerShdw blurRad="114300" dist="38100" dir="5400000" algn="bl" rotWithShape="0">
              <a:srgbClr val="0C2C3A">
                <a:alpha val="16000"/>
              </a:srgbClr>
            </a:outerShdw>
          </a:effectLst>
        </p:spPr>
      </p:pic>
      <p:pic>
        <p:nvPicPr>
          <p:cNvPr id="8" name="Image 1" descr="/home/claude/deck/img/mark.png"/>
          <p:cNvPicPr>
            <a:picLocks noChangeAspect="1"/>
          </p:cNvPicPr>
          <p:nvPr/>
        </p:nvPicPr>
        <p:blipFill>
          <a:blip r:embed="rId4"/>
          <a:stretch>
            <a:fillRect/>
          </a:stretch>
        </p:blipFill>
        <p:spPr>
          <a:xfrm>
            <a:off x="640080" y="6345936"/>
            <a:ext cx="292608" cy="292608"/>
          </a:xfrm>
          <a:prstGeom prst="rect">
            <a:avLst/>
          </a:prstGeom>
        </p:spPr>
      </p:pic>
      <p:sp>
        <p:nvSpPr>
          <p:cNvPr id="9" name="Text 5"/>
          <p:cNvSpPr/>
          <p:nvPr/>
        </p:nvSpPr>
        <p:spPr>
          <a:xfrm>
            <a:off x="11048695" y="6382512"/>
            <a:ext cx="548640" cy="274320"/>
          </a:xfrm>
          <a:prstGeom prst="rect">
            <a:avLst/>
          </a:prstGeom>
          <a:noFill/>
          <a:ln/>
        </p:spPr>
        <p:txBody>
          <a:bodyPr wrap="square" lIns="0" tIns="0" rIns="0" bIns="0" rtlCol="0" anchor="ctr"/>
          <a:lstStyle/>
          <a:p>
            <a:pPr marL="0" indent="0" algn="r">
              <a:buNone/>
            </a:pPr>
            <a:r>
              <a:rPr lang="en-US" sz="1000" dirty="0">
                <a:solidFill>
                  <a:srgbClr val="6E7180"/>
                </a:solidFill>
                <a:latin typeface="Manrope" pitchFamily="34" charset="0"/>
                <a:ea typeface="Manrope" pitchFamily="34" charset="-122"/>
                <a:cs typeface="Manrope"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02  ·  WHAT WE DO</a:t>
            </a:r>
            <a:endParaRPr lang="en-US" sz="11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marL="0" indent="0" algn="l">
              <a:buNone/>
            </a:pPr>
            <a:r>
              <a:rPr lang="en-US" sz="2900" b="1" dirty="0">
                <a:solidFill>
                  <a:srgbClr val="0C2C3A"/>
                </a:solidFill>
                <a:latin typeface="Manrope" pitchFamily="34" charset="0"/>
                <a:ea typeface="Manrope" pitchFamily="34" charset="-122"/>
                <a:cs typeface="Manrope" pitchFamily="34" charset="-120"/>
              </a:rPr>
              <a:t>One joined-up company</a:t>
            </a:r>
            <a:endParaRPr lang="en-US" sz="2900" dirty="0"/>
          </a:p>
        </p:txBody>
      </p:sp>
      <p:sp>
        <p:nvSpPr>
          <p:cNvPr id="4" name="Text 2"/>
          <p:cNvSpPr/>
          <p:nvPr/>
        </p:nvSpPr>
        <p:spPr>
          <a:xfrm>
            <a:off x="640080" y="1325880"/>
            <a:ext cx="10515600" cy="457200"/>
          </a:xfrm>
          <a:prstGeom prst="rect">
            <a:avLst/>
          </a:prstGeom>
          <a:noFill/>
          <a:ln/>
        </p:spPr>
        <p:txBody>
          <a:bodyPr wrap="square" lIns="0" tIns="0" rIns="0" bIns="0" rtlCol="0" anchor="ctr"/>
          <a:lstStyle/>
          <a:p>
            <a:pPr marL="0" indent="0">
              <a:buNone/>
            </a:pPr>
            <a:r>
              <a:rPr lang="en-US" sz="1550" dirty="0">
                <a:solidFill>
                  <a:srgbClr val="6E7180"/>
                </a:solidFill>
                <a:latin typeface="Manrope" pitchFamily="34" charset="0"/>
                <a:ea typeface="Manrope" pitchFamily="34" charset="-122"/>
                <a:cs typeface="Manrope" pitchFamily="34" charset="-120"/>
              </a:rPr>
              <a:t>We manage water demand across three connected fronts, not as a list of separate services.</a:t>
            </a:r>
            <a:endParaRPr lang="en-US" sz="1550" dirty="0"/>
          </a:p>
        </p:txBody>
      </p:sp>
      <p:sp>
        <p:nvSpPr>
          <p:cNvPr id="5" name="Shape 3"/>
          <p:cNvSpPr/>
          <p:nvPr/>
        </p:nvSpPr>
        <p:spPr>
          <a:xfrm>
            <a:off x="640080" y="2011680"/>
            <a:ext cx="3429000" cy="3246120"/>
          </a:xfrm>
          <a:prstGeom prst="roundRect">
            <a:avLst>
              <a:gd name="adj" fmla="val 2817"/>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sp>
      <p:sp>
        <p:nvSpPr>
          <p:cNvPr id="6" name="Shape 4"/>
          <p:cNvSpPr/>
          <p:nvPr/>
        </p:nvSpPr>
        <p:spPr>
          <a:xfrm>
            <a:off x="1051560" y="2377440"/>
            <a:ext cx="868680" cy="868680"/>
          </a:xfrm>
          <a:prstGeom prst="ellipse">
            <a:avLst/>
          </a:prstGeom>
          <a:solidFill>
            <a:srgbClr val="00B6DB"/>
          </a:solidFill>
          <a:ln/>
        </p:spPr>
      </p:sp>
      <p:pic>
        <p:nvPicPr>
          <p:cNvPr id="7" name="Image 0" descr="preencoded.png"/>
          <p:cNvPicPr>
            <a:picLocks noChangeAspect="1"/>
          </p:cNvPicPr>
          <p:nvPr/>
        </p:nvPicPr>
        <p:blipFill>
          <a:blip r:embed="rId3"/>
          <a:stretch>
            <a:fillRect/>
          </a:stretch>
        </p:blipFill>
        <p:spPr>
          <a:xfrm>
            <a:off x="1271016" y="2596896"/>
            <a:ext cx="429768" cy="429768"/>
          </a:xfrm>
          <a:prstGeom prst="rect">
            <a:avLst/>
          </a:prstGeom>
        </p:spPr>
      </p:pic>
      <p:sp>
        <p:nvSpPr>
          <p:cNvPr id="8" name="Text 5"/>
          <p:cNvSpPr/>
          <p:nvPr/>
        </p:nvSpPr>
        <p:spPr>
          <a:xfrm>
            <a:off x="1051560" y="3401568"/>
            <a:ext cx="2651760" cy="457200"/>
          </a:xfrm>
          <a:prstGeom prst="rect">
            <a:avLst/>
          </a:prstGeom>
          <a:noFill/>
          <a:ln/>
        </p:spPr>
        <p:txBody>
          <a:bodyPr wrap="square" lIns="0" tIns="0" rIns="0" bIns="0" rtlCol="0" anchor="ctr"/>
          <a:lstStyle/>
          <a:p>
            <a:pPr marL="0" indent="0">
              <a:buNone/>
            </a:pPr>
            <a:r>
              <a:rPr lang="en-US" sz="1800" b="1" dirty="0">
                <a:solidFill>
                  <a:srgbClr val="0C2C3A"/>
                </a:solidFill>
                <a:latin typeface="Manrope" pitchFamily="34" charset="0"/>
                <a:ea typeface="Manrope" pitchFamily="34" charset="-122"/>
                <a:cs typeface="Manrope" pitchFamily="34" charset="-120"/>
              </a:rPr>
              <a:t>Network</a:t>
            </a:r>
            <a:endParaRPr lang="en-US" sz="1800" dirty="0"/>
          </a:p>
        </p:txBody>
      </p:sp>
      <p:sp>
        <p:nvSpPr>
          <p:cNvPr id="9" name="Text 6"/>
          <p:cNvSpPr/>
          <p:nvPr/>
        </p:nvSpPr>
        <p:spPr>
          <a:xfrm>
            <a:off x="1051560" y="3886200"/>
            <a:ext cx="2697480" cy="1280160"/>
          </a:xfrm>
          <a:prstGeom prst="rect">
            <a:avLst/>
          </a:prstGeom>
          <a:noFill/>
          <a:ln/>
        </p:spPr>
        <p:txBody>
          <a:bodyPr wrap="square" lIns="0" tIns="0" rIns="0" bIns="0" rtlCol="0" anchor="ctr"/>
          <a:lstStyle/>
          <a:p>
            <a:pPr marL="0" indent="0">
              <a:lnSpc>
                <a:spcPct val="118000"/>
              </a:lnSpc>
              <a:buNone/>
            </a:pPr>
            <a:r>
              <a:rPr lang="en-US" sz="1250" dirty="0">
                <a:solidFill>
                  <a:srgbClr val="6E7180"/>
                </a:solidFill>
                <a:latin typeface="Manrope" pitchFamily="34" charset="0"/>
                <a:ea typeface="Manrope" pitchFamily="34" charset="-122"/>
                <a:cs typeface="Manrope" pitchFamily="34" charset="-120"/>
              </a:rPr>
              <a:t>Connected visibility across the network to find and reduce loss faster, using data and monitoring to target the right action.</a:t>
            </a:r>
            <a:endParaRPr lang="en-US" sz="1250" dirty="0"/>
          </a:p>
        </p:txBody>
      </p:sp>
      <p:sp>
        <p:nvSpPr>
          <p:cNvPr id="10" name="Shape 7"/>
          <p:cNvSpPr/>
          <p:nvPr/>
        </p:nvSpPr>
        <p:spPr>
          <a:xfrm>
            <a:off x="4361688" y="2011680"/>
            <a:ext cx="3429000" cy="3246120"/>
          </a:xfrm>
          <a:prstGeom prst="roundRect">
            <a:avLst>
              <a:gd name="adj" fmla="val 2817"/>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sp>
      <p:sp>
        <p:nvSpPr>
          <p:cNvPr id="11" name="Shape 8"/>
          <p:cNvSpPr/>
          <p:nvPr/>
        </p:nvSpPr>
        <p:spPr>
          <a:xfrm>
            <a:off x="4773168" y="2377440"/>
            <a:ext cx="868680" cy="868680"/>
          </a:xfrm>
          <a:prstGeom prst="ellipse">
            <a:avLst/>
          </a:prstGeom>
          <a:solidFill>
            <a:srgbClr val="00B6DB"/>
          </a:solidFill>
          <a:ln/>
        </p:spPr>
      </p:sp>
      <p:pic>
        <p:nvPicPr>
          <p:cNvPr id="12" name="Image 1" descr="preencoded.png"/>
          <p:cNvPicPr>
            <a:picLocks noChangeAspect="1"/>
          </p:cNvPicPr>
          <p:nvPr/>
        </p:nvPicPr>
        <p:blipFill>
          <a:blip r:embed="rId4"/>
          <a:stretch>
            <a:fillRect/>
          </a:stretch>
        </p:blipFill>
        <p:spPr>
          <a:xfrm>
            <a:off x="4992624" y="2596896"/>
            <a:ext cx="429768" cy="429768"/>
          </a:xfrm>
          <a:prstGeom prst="rect">
            <a:avLst/>
          </a:prstGeom>
        </p:spPr>
      </p:pic>
      <p:sp>
        <p:nvSpPr>
          <p:cNvPr id="13" name="Text 9"/>
          <p:cNvSpPr/>
          <p:nvPr/>
        </p:nvSpPr>
        <p:spPr>
          <a:xfrm>
            <a:off x="4773168" y="3401568"/>
            <a:ext cx="2651760" cy="457200"/>
          </a:xfrm>
          <a:prstGeom prst="rect">
            <a:avLst/>
          </a:prstGeom>
          <a:noFill/>
          <a:ln/>
        </p:spPr>
        <p:txBody>
          <a:bodyPr wrap="square" lIns="0" tIns="0" rIns="0" bIns="0" rtlCol="0" anchor="ctr"/>
          <a:lstStyle/>
          <a:p>
            <a:pPr marL="0" indent="0">
              <a:buNone/>
            </a:pPr>
            <a:r>
              <a:rPr lang="en-US" sz="1800" b="1" dirty="0">
                <a:solidFill>
                  <a:srgbClr val="0C2C3A"/>
                </a:solidFill>
                <a:latin typeface="Manrope" pitchFamily="34" charset="0"/>
                <a:ea typeface="Manrope" pitchFamily="34" charset="-122"/>
                <a:cs typeface="Manrope" pitchFamily="34" charset="-120"/>
              </a:rPr>
              <a:t>Customer</a:t>
            </a:r>
            <a:endParaRPr lang="en-US" sz="1800" dirty="0"/>
          </a:p>
        </p:txBody>
      </p:sp>
      <p:sp>
        <p:nvSpPr>
          <p:cNvPr id="14" name="Text 10"/>
          <p:cNvSpPr/>
          <p:nvPr/>
        </p:nvSpPr>
        <p:spPr>
          <a:xfrm>
            <a:off x="4773168" y="3886200"/>
            <a:ext cx="2697480" cy="1280160"/>
          </a:xfrm>
          <a:prstGeom prst="rect">
            <a:avLst/>
          </a:prstGeom>
          <a:noFill/>
          <a:ln/>
        </p:spPr>
        <p:txBody>
          <a:bodyPr wrap="square" lIns="0" tIns="0" rIns="0" bIns="0" rtlCol="0" anchor="ctr"/>
          <a:lstStyle/>
          <a:p>
            <a:pPr marL="0" indent="0">
              <a:lnSpc>
                <a:spcPct val="118000"/>
              </a:lnSpc>
              <a:buNone/>
            </a:pPr>
            <a:r>
              <a:rPr lang="en-US" sz="1250" dirty="0">
                <a:solidFill>
                  <a:srgbClr val="6E7180"/>
                </a:solidFill>
                <a:latin typeface="Manrope" pitchFamily="34" charset="0"/>
                <a:ea typeface="Manrope" pitchFamily="34" charset="-122"/>
                <a:cs typeface="Manrope" pitchFamily="34" charset="-120"/>
              </a:rPr>
              <a:t>Customer-side delivery that reduces consumption and waste, from metering and data to engagement and efficiency.</a:t>
            </a:r>
            <a:endParaRPr lang="en-US" sz="1250" dirty="0"/>
          </a:p>
        </p:txBody>
      </p:sp>
      <p:sp>
        <p:nvSpPr>
          <p:cNvPr id="15" name="Shape 11"/>
          <p:cNvSpPr/>
          <p:nvPr/>
        </p:nvSpPr>
        <p:spPr>
          <a:xfrm>
            <a:off x="8083296" y="2011680"/>
            <a:ext cx="3429000" cy="3246120"/>
          </a:xfrm>
          <a:prstGeom prst="roundRect">
            <a:avLst>
              <a:gd name="adj" fmla="val 2817"/>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sp>
      <p:sp>
        <p:nvSpPr>
          <p:cNvPr id="16" name="Shape 12"/>
          <p:cNvSpPr/>
          <p:nvPr/>
        </p:nvSpPr>
        <p:spPr>
          <a:xfrm>
            <a:off x="8494776" y="2377440"/>
            <a:ext cx="868680" cy="868680"/>
          </a:xfrm>
          <a:prstGeom prst="ellipse">
            <a:avLst/>
          </a:prstGeom>
          <a:solidFill>
            <a:srgbClr val="00B6DB"/>
          </a:solidFill>
          <a:ln/>
        </p:spPr>
      </p:sp>
      <p:pic>
        <p:nvPicPr>
          <p:cNvPr id="17" name="Image 2" descr="preencoded.png"/>
          <p:cNvPicPr>
            <a:picLocks noChangeAspect="1"/>
          </p:cNvPicPr>
          <p:nvPr/>
        </p:nvPicPr>
        <p:blipFill>
          <a:blip r:embed="rId5"/>
          <a:stretch>
            <a:fillRect/>
          </a:stretch>
        </p:blipFill>
        <p:spPr>
          <a:xfrm>
            <a:off x="8714232" y="2596896"/>
            <a:ext cx="429768" cy="429768"/>
          </a:xfrm>
          <a:prstGeom prst="rect">
            <a:avLst/>
          </a:prstGeom>
        </p:spPr>
      </p:pic>
      <p:sp>
        <p:nvSpPr>
          <p:cNvPr id="18" name="Text 13"/>
          <p:cNvSpPr/>
          <p:nvPr/>
        </p:nvSpPr>
        <p:spPr>
          <a:xfrm>
            <a:off x="8494776" y="3401568"/>
            <a:ext cx="2651760" cy="457200"/>
          </a:xfrm>
          <a:prstGeom prst="rect">
            <a:avLst/>
          </a:prstGeom>
          <a:noFill/>
          <a:ln/>
        </p:spPr>
        <p:txBody>
          <a:bodyPr wrap="square" lIns="0" tIns="0" rIns="0" bIns="0" rtlCol="0" anchor="ctr"/>
          <a:lstStyle/>
          <a:p>
            <a:pPr marL="0" indent="0">
              <a:buNone/>
            </a:pPr>
            <a:r>
              <a:rPr lang="en-US" sz="1800" b="1" dirty="0">
                <a:solidFill>
                  <a:srgbClr val="0C2C3A"/>
                </a:solidFill>
                <a:latin typeface="Manrope" pitchFamily="34" charset="0"/>
                <a:ea typeface="Manrope" pitchFamily="34" charset="-122"/>
                <a:cs typeface="Manrope" pitchFamily="34" charset="-120"/>
              </a:rPr>
              <a:t>Field-based delivery</a:t>
            </a:r>
            <a:endParaRPr lang="en-US" sz="1800" dirty="0"/>
          </a:p>
        </p:txBody>
      </p:sp>
      <p:sp>
        <p:nvSpPr>
          <p:cNvPr id="19" name="Text 14"/>
          <p:cNvSpPr/>
          <p:nvPr/>
        </p:nvSpPr>
        <p:spPr>
          <a:xfrm>
            <a:off x="8494776" y="3886200"/>
            <a:ext cx="2697480" cy="1280160"/>
          </a:xfrm>
          <a:prstGeom prst="rect">
            <a:avLst/>
          </a:prstGeom>
          <a:noFill/>
          <a:ln/>
        </p:spPr>
        <p:txBody>
          <a:bodyPr wrap="square" lIns="0" tIns="0" rIns="0" bIns="0" rtlCol="0" anchor="ctr"/>
          <a:lstStyle/>
          <a:p>
            <a:pPr marL="0" indent="0">
              <a:lnSpc>
                <a:spcPct val="118000"/>
              </a:lnSpc>
              <a:buNone/>
            </a:pPr>
            <a:r>
              <a:rPr lang="en-US" sz="1250" dirty="0">
                <a:solidFill>
                  <a:srgbClr val="6E7180"/>
                </a:solidFill>
                <a:latin typeface="Manrope" pitchFamily="34" charset="0"/>
                <a:ea typeface="Manrope" pitchFamily="34" charset="-122"/>
                <a:cs typeface="Manrope" pitchFamily="34" charset="-120"/>
              </a:rPr>
              <a:t>Skilled field teams delivering detection, repair and optimisation on the ground, where it makes a measurable difference.</a:t>
            </a:r>
            <a:endParaRPr lang="en-US" sz="1250" dirty="0"/>
          </a:p>
        </p:txBody>
      </p:sp>
      <p:pic>
        <p:nvPicPr>
          <p:cNvPr id="20" name="Image 3" descr="/home/claude/deck/img/mark.png"/>
          <p:cNvPicPr>
            <a:picLocks noChangeAspect="1"/>
          </p:cNvPicPr>
          <p:nvPr/>
        </p:nvPicPr>
        <p:blipFill>
          <a:blip r:embed="rId6"/>
          <a:stretch>
            <a:fillRect/>
          </a:stretch>
        </p:blipFill>
        <p:spPr>
          <a:xfrm>
            <a:off x="640080" y="6345936"/>
            <a:ext cx="292608" cy="292608"/>
          </a:xfrm>
          <a:prstGeom prst="rect">
            <a:avLst/>
          </a:prstGeom>
        </p:spPr>
      </p:pic>
      <p:sp>
        <p:nvSpPr>
          <p:cNvPr id="21" name="Text 15"/>
          <p:cNvSpPr/>
          <p:nvPr/>
        </p:nvSpPr>
        <p:spPr>
          <a:xfrm>
            <a:off x="11048695" y="6382512"/>
            <a:ext cx="548640" cy="274320"/>
          </a:xfrm>
          <a:prstGeom prst="rect">
            <a:avLst/>
          </a:prstGeom>
          <a:noFill/>
          <a:ln/>
        </p:spPr>
        <p:txBody>
          <a:bodyPr wrap="square" lIns="0" tIns="0" rIns="0" bIns="0" rtlCol="0" anchor="ctr"/>
          <a:lstStyle/>
          <a:p>
            <a:pPr marL="0" indent="0" algn="r">
              <a:buNone/>
            </a:pPr>
            <a:r>
              <a:rPr lang="en-US" sz="1000" dirty="0">
                <a:solidFill>
                  <a:srgbClr val="6E7180"/>
                </a:solidFill>
                <a:latin typeface="Manrope" pitchFamily="34" charset="0"/>
                <a:ea typeface="Manrope" pitchFamily="34" charset="-122"/>
                <a:cs typeface="Manrope"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01  ·  WHO WE ARE</a:t>
            </a:r>
            <a:endParaRPr lang="en-US" sz="11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marL="0" indent="0" algn="l">
              <a:buNone/>
            </a:pPr>
            <a:r>
              <a:rPr lang="en-US" sz="2900" b="1" dirty="0">
                <a:solidFill>
                  <a:srgbClr val="0C2C3A"/>
                </a:solidFill>
                <a:latin typeface="Manrope" pitchFamily="34" charset="0"/>
                <a:ea typeface="Manrope" pitchFamily="34" charset="-122"/>
                <a:cs typeface="Manrope" pitchFamily="34" charset="-120"/>
              </a:rPr>
              <a:t>Purpose, vision and mission</a:t>
            </a:r>
            <a:endParaRPr lang="en-US" sz="2900" dirty="0"/>
          </a:p>
        </p:txBody>
      </p:sp>
      <p:sp>
        <p:nvSpPr>
          <p:cNvPr id="4" name="Shape 2"/>
          <p:cNvSpPr/>
          <p:nvPr/>
        </p:nvSpPr>
        <p:spPr>
          <a:xfrm>
            <a:off x="640080" y="1783080"/>
            <a:ext cx="3456432" cy="3749040"/>
          </a:xfrm>
          <a:prstGeom prst="roundRect">
            <a:avLst>
              <a:gd name="adj" fmla="val 2646"/>
            </a:avLst>
          </a:prstGeom>
          <a:solidFill>
            <a:srgbClr val="EDEFF7"/>
          </a:solidFill>
          <a:ln/>
        </p:spPr>
      </p:sp>
      <p:sp>
        <p:nvSpPr>
          <p:cNvPr id="5" name="Text 3"/>
          <p:cNvSpPr/>
          <p:nvPr/>
        </p:nvSpPr>
        <p:spPr>
          <a:xfrm>
            <a:off x="932688" y="2057400"/>
            <a:ext cx="2926080" cy="411480"/>
          </a:xfrm>
          <a:prstGeom prst="rect">
            <a:avLst/>
          </a:prstGeom>
          <a:noFill/>
          <a:ln/>
        </p:spPr>
        <p:txBody>
          <a:bodyPr wrap="square" lIns="0" tIns="0" rIns="0" bIns="0" rtlCol="0" anchor="ctr"/>
          <a:lstStyle/>
          <a:p>
            <a:pPr marL="0" indent="0">
              <a:buNone/>
            </a:pPr>
            <a:r>
              <a:rPr lang="en-US" sz="1600" b="1" dirty="0">
                <a:solidFill>
                  <a:srgbClr val="00B6DB"/>
                </a:solidFill>
                <a:latin typeface="Manrope" pitchFamily="34" charset="0"/>
                <a:ea typeface="Manrope" pitchFamily="34" charset="-122"/>
                <a:cs typeface="Manrope" pitchFamily="34" charset="-120"/>
              </a:rPr>
              <a:t>Purpose</a:t>
            </a:r>
            <a:endParaRPr lang="en-US" sz="1600" dirty="0"/>
          </a:p>
        </p:txBody>
      </p:sp>
      <p:sp>
        <p:nvSpPr>
          <p:cNvPr id="6" name="Text 4"/>
          <p:cNvSpPr/>
          <p:nvPr/>
        </p:nvSpPr>
        <p:spPr>
          <a:xfrm>
            <a:off x="932688" y="2606040"/>
            <a:ext cx="2907792" cy="2743200"/>
          </a:xfrm>
          <a:prstGeom prst="rect">
            <a:avLst/>
          </a:prstGeom>
          <a:noFill/>
          <a:ln/>
        </p:spPr>
        <p:txBody>
          <a:bodyPr wrap="square" lIns="0" tIns="0" rIns="0" bIns="0" rtlCol="0" anchor="t"/>
          <a:lstStyle/>
          <a:p>
            <a:pPr marL="0" indent="0">
              <a:lnSpc>
                <a:spcPct val="122000"/>
              </a:lnSpc>
              <a:buNone/>
            </a:pPr>
            <a:r>
              <a:rPr lang="en-US" sz="1300" dirty="0">
                <a:solidFill>
                  <a:srgbClr val="40424D"/>
                </a:solidFill>
                <a:latin typeface="Manrope" pitchFamily="34" charset="0"/>
                <a:ea typeface="Manrope" pitchFamily="34" charset="-122"/>
                <a:cs typeface="Manrope" pitchFamily="34" charset="-120"/>
              </a:rPr>
              <a:t>To help protect water as a vital resource by reducing waste, improving efficiency and delivering practical solutions that create lasting value for customers, communities and the environment.</a:t>
            </a:r>
            <a:endParaRPr lang="en-US" sz="1300" dirty="0"/>
          </a:p>
        </p:txBody>
      </p:sp>
      <p:sp>
        <p:nvSpPr>
          <p:cNvPr id="7" name="Shape 5"/>
          <p:cNvSpPr/>
          <p:nvPr/>
        </p:nvSpPr>
        <p:spPr>
          <a:xfrm>
            <a:off x="4398264" y="1783080"/>
            <a:ext cx="3456432" cy="3749040"/>
          </a:xfrm>
          <a:prstGeom prst="roundRect">
            <a:avLst>
              <a:gd name="adj" fmla="val 2646"/>
            </a:avLst>
          </a:prstGeom>
          <a:solidFill>
            <a:srgbClr val="EDEFF7"/>
          </a:solidFill>
          <a:ln/>
        </p:spPr>
      </p:sp>
      <p:sp>
        <p:nvSpPr>
          <p:cNvPr id="8" name="Text 6"/>
          <p:cNvSpPr/>
          <p:nvPr/>
        </p:nvSpPr>
        <p:spPr>
          <a:xfrm>
            <a:off x="4690872" y="2057400"/>
            <a:ext cx="2926080" cy="411480"/>
          </a:xfrm>
          <a:prstGeom prst="rect">
            <a:avLst/>
          </a:prstGeom>
          <a:noFill/>
          <a:ln/>
        </p:spPr>
        <p:txBody>
          <a:bodyPr wrap="square" lIns="0" tIns="0" rIns="0" bIns="0" rtlCol="0" anchor="ctr"/>
          <a:lstStyle/>
          <a:p>
            <a:pPr marL="0" indent="0">
              <a:buNone/>
            </a:pPr>
            <a:r>
              <a:rPr lang="en-US" sz="1600" b="1" dirty="0">
                <a:solidFill>
                  <a:srgbClr val="00B6DB"/>
                </a:solidFill>
                <a:latin typeface="Manrope" pitchFamily="34" charset="0"/>
                <a:ea typeface="Manrope" pitchFamily="34" charset="-122"/>
                <a:cs typeface="Manrope" pitchFamily="34" charset="-120"/>
              </a:rPr>
              <a:t>Vision</a:t>
            </a:r>
            <a:endParaRPr lang="en-US" sz="1600" dirty="0"/>
          </a:p>
        </p:txBody>
      </p:sp>
      <p:sp>
        <p:nvSpPr>
          <p:cNvPr id="9" name="Text 7"/>
          <p:cNvSpPr/>
          <p:nvPr/>
        </p:nvSpPr>
        <p:spPr>
          <a:xfrm>
            <a:off x="4690872" y="2606040"/>
            <a:ext cx="2907792" cy="2743200"/>
          </a:xfrm>
          <a:prstGeom prst="rect">
            <a:avLst/>
          </a:prstGeom>
          <a:noFill/>
          <a:ln/>
        </p:spPr>
        <p:txBody>
          <a:bodyPr wrap="square" lIns="0" tIns="0" rIns="0" bIns="0" rtlCol="0" anchor="t"/>
          <a:lstStyle/>
          <a:p>
            <a:pPr marL="0" indent="0">
              <a:lnSpc>
                <a:spcPct val="122000"/>
              </a:lnSpc>
              <a:buNone/>
            </a:pPr>
            <a:r>
              <a:rPr lang="en-US" sz="1300" dirty="0">
                <a:solidFill>
                  <a:srgbClr val="40424D"/>
                </a:solidFill>
                <a:latin typeface="Manrope" pitchFamily="34" charset="0"/>
                <a:ea typeface="Manrope" pitchFamily="34" charset="-122"/>
                <a:cs typeface="Manrope" pitchFamily="34" charset="-120"/>
              </a:rPr>
              <a:t>A future where water is used more intelligently, wasted less often and managed with greater care, resilience and responsibility.</a:t>
            </a:r>
            <a:endParaRPr lang="en-US" sz="1300" dirty="0"/>
          </a:p>
        </p:txBody>
      </p:sp>
      <p:sp>
        <p:nvSpPr>
          <p:cNvPr id="10" name="Shape 8"/>
          <p:cNvSpPr/>
          <p:nvPr/>
        </p:nvSpPr>
        <p:spPr>
          <a:xfrm>
            <a:off x="8156448" y="1783080"/>
            <a:ext cx="3456432" cy="3749040"/>
          </a:xfrm>
          <a:prstGeom prst="roundRect">
            <a:avLst>
              <a:gd name="adj" fmla="val 2646"/>
            </a:avLst>
          </a:prstGeom>
          <a:solidFill>
            <a:srgbClr val="EDEFF7"/>
          </a:solidFill>
          <a:ln/>
        </p:spPr>
      </p:sp>
      <p:sp>
        <p:nvSpPr>
          <p:cNvPr id="11" name="Text 9"/>
          <p:cNvSpPr/>
          <p:nvPr/>
        </p:nvSpPr>
        <p:spPr>
          <a:xfrm>
            <a:off x="8449056" y="2057400"/>
            <a:ext cx="2926080" cy="411480"/>
          </a:xfrm>
          <a:prstGeom prst="rect">
            <a:avLst/>
          </a:prstGeom>
          <a:noFill/>
          <a:ln/>
        </p:spPr>
        <p:txBody>
          <a:bodyPr wrap="square" lIns="0" tIns="0" rIns="0" bIns="0" rtlCol="0" anchor="ctr"/>
          <a:lstStyle/>
          <a:p>
            <a:pPr marL="0" indent="0">
              <a:buNone/>
            </a:pPr>
            <a:r>
              <a:rPr lang="en-US" sz="1600" b="1" dirty="0">
                <a:solidFill>
                  <a:srgbClr val="00B6DB"/>
                </a:solidFill>
                <a:latin typeface="Manrope" pitchFamily="34" charset="0"/>
                <a:ea typeface="Manrope" pitchFamily="34" charset="-122"/>
                <a:cs typeface="Manrope" pitchFamily="34" charset="-120"/>
              </a:rPr>
              <a:t>Mission</a:t>
            </a:r>
            <a:endParaRPr lang="en-US" sz="1600" dirty="0"/>
          </a:p>
        </p:txBody>
      </p:sp>
      <p:sp>
        <p:nvSpPr>
          <p:cNvPr id="12" name="Text 10"/>
          <p:cNvSpPr/>
          <p:nvPr/>
        </p:nvSpPr>
        <p:spPr>
          <a:xfrm>
            <a:off x="8449056" y="2606040"/>
            <a:ext cx="2907792" cy="2743200"/>
          </a:xfrm>
          <a:prstGeom prst="rect">
            <a:avLst/>
          </a:prstGeom>
          <a:noFill/>
          <a:ln/>
        </p:spPr>
        <p:txBody>
          <a:bodyPr wrap="square" lIns="0" tIns="0" rIns="0" bIns="0" rtlCol="0" anchor="t"/>
          <a:lstStyle/>
          <a:p>
            <a:pPr marL="0" indent="0">
              <a:lnSpc>
                <a:spcPct val="122000"/>
              </a:lnSpc>
              <a:buNone/>
            </a:pPr>
            <a:r>
              <a:rPr lang="en-US" sz="1300" dirty="0">
                <a:solidFill>
                  <a:srgbClr val="40424D"/>
                </a:solidFill>
                <a:latin typeface="Manrope" pitchFamily="34" charset="0"/>
                <a:ea typeface="Manrope" pitchFamily="34" charset="-122"/>
                <a:cs typeface="Manrope" pitchFamily="34" charset="-120"/>
              </a:rPr>
              <a:t>To help water companies reduce waste, improve performance and strengthen resilience through integrated demand management, combining practical field delivery, technical expertise, data and customer-side support.</a:t>
            </a:r>
            <a:endParaRPr lang="en-US" sz="1300" dirty="0"/>
          </a:p>
        </p:txBody>
      </p:sp>
      <p:pic>
        <p:nvPicPr>
          <p:cNvPr id="13" name="Image 0" descr="/home/claude/deck/img/mark.png"/>
          <p:cNvPicPr>
            <a:picLocks noChangeAspect="1"/>
          </p:cNvPicPr>
          <p:nvPr/>
        </p:nvPicPr>
        <p:blipFill>
          <a:blip r:embed="rId3"/>
          <a:stretch>
            <a:fillRect/>
          </a:stretch>
        </p:blipFill>
        <p:spPr>
          <a:xfrm>
            <a:off x="640080" y="6345936"/>
            <a:ext cx="292608" cy="292608"/>
          </a:xfrm>
          <a:prstGeom prst="rect">
            <a:avLst/>
          </a:prstGeom>
        </p:spPr>
      </p:pic>
      <p:sp>
        <p:nvSpPr>
          <p:cNvPr id="14" name="Text 11"/>
          <p:cNvSpPr/>
          <p:nvPr/>
        </p:nvSpPr>
        <p:spPr>
          <a:xfrm>
            <a:off x="11048695" y="6382512"/>
            <a:ext cx="548640" cy="274320"/>
          </a:xfrm>
          <a:prstGeom prst="rect">
            <a:avLst/>
          </a:prstGeom>
          <a:noFill/>
          <a:ln/>
        </p:spPr>
        <p:txBody>
          <a:bodyPr wrap="square" lIns="0" tIns="0" rIns="0" bIns="0" rtlCol="0" anchor="ctr"/>
          <a:lstStyle/>
          <a:p>
            <a:pPr marL="0" indent="0" algn="r">
              <a:buNone/>
            </a:pPr>
            <a:r>
              <a:rPr lang="en-US" sz="1000" dirty="0">
                <a:solidFill>
                  <a:srgbClr val="6E7180"/>
                </a:solidFill>
                <a:latin typeface="Manrope" pitchFamily="34" charset="0"/>
                <a:ea typeface="Manrope" pitchFamily="34" charset="-122"/>
                <a:cs typeface="Manrope"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claude/deck/img/div_services.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C2C3A">
              <a:alpha val="60000"/>
            </a:srgbClr>
          </a:solidFill>
          <a:ln/>
        </p:spPr>
      </p:sp>
      <p:pic>
        <p:nvPicPr>
          <p:cNvPr id="4" name="Image 1" descr="/home/claude/deck/img/logo_rev.png"/>
          <p:cNvPicPr>
            <a:picLocks noChangeAspect="1"/>
          </p:cNvPicPr>
          <p:nvPr/>
        </p:nvPicPr>
        <p:blipFill>
          <a:blip r:embed="rId4"/>
          <a:stretch>
            <a:fillRect/>
          </a:stretch>
        </p:blipFill>
        <p:spPr>
          <a:xfrm>
            <a:off x="640080" y="640080"/>
            <a:ext cx="1691640" cy="556461"/>
          </a:xfrm>
          <a:prstGeom prst="rect">
            <a:avLst/>
          </a:prstGeom>
        </p:spPr>
      </p:pic>
      <p:sp>
        <p:nvSpPr>
          <p:cNvPr id="5" name="Text 1"/>
          <p:cNvSpPr/>
          <p:nvPr/>
        </p:nvSpPr>
        <p:spPr>
          <a:xfrm>
            <a:off x="640080" y="2240280"/>
            <a:ext cx="2743200" cy="1097280"/>
          </a:xfrm>
          <a:prstGeom prst="rect">
            <a:avLst/>
          </a:prstGeom>
          <a:noFill/>
          <a:ln/>
        </p:spPr>
        <p:txBody>
          <a:bodyPr wrap="square" lIns="0" tIns="0" rIns="0" bIns="0" rtlCol="0" anchor="ctr"/>
          <a:lstStyle/>
          <a:p>
            <a:pPr marL="0" indent="0">
              <a:buNone/>
            </a:pPr>
            <a:r>
              <a:rPr lang="en-US" sz="6000" b="1" dirty="0">
                <a:solidFill>
                  <a:srgbClr val="00B6DB"/>
                </a:solidFill>
                <a:latin typeface="Manrope" pitchFamily="34" charset="0"/>
                <a:ea typeface="Manrope" pitchFamily="34" charset="-122"/>
                <a:cs typeface="Manrope" pitchFamily="34" charset="-120"/>
              </a:rPr>
              <a:t>03</a:t>
            </a:r>
            <a:endParaRPr lang="en-US" sz="6000" dirty="0"/>
          </a:p>
        </p:txBody>
      </p:sp>
      <p:sp>
        <p:nvSpPr>
          <p:cNvPr id="6" name="Text 2"/>
          <p:cNvSpPr/>
          <p:nvPr/>
        </p:nvSpPr>
        <p:spPr>
          <a:xfrm>
            <a:off x="640080" y="3383280"/>
            <a:ext cx="7315200" cy="822960"/>
          </a:xfrm>
          <a:prstGeom prst="rect">
            <a:avLst/>
          </a:prstGeom>
          <a:noFill/>
          <a:ln/>
        </p:spPr>
        <p:txBody>
          <a:bodyPr wrap="square" lIns="0" tIns="0" rIns="0" bIns="0" rtlCol="0" anchor="ctr"/>
          <a:lstStyle/>
          <a:p>
            <a:pPr marL="0" indent="0">
              <a:buNone/>
            </a:pPr>
            <a:r>
              <a:rPr lang="en-US" sz="3800" b="1" dirty="0">
                <a:solidFill>
                  <a:srgbClr val="FFFFFF"/>
                </a:solidFill>
                <a:latin typeface="Manrope" pitchFamily="34" charset="0"/>
                <a:ea typeface="Manrope" pitchFamily="34" charset="-122"/>
                <a:cs typeface="Manrope" pitchFamily="34" charset="-120"/>
              </a:rPr>
              <a:t>Our services</a:t>
            </a:r>
            <a:endParaRPr lang="en-US" sz="3800" dirty="0"/>
          </a:p>
        </p:txBody>
      </p:sp>
      <p:sp>
        <p:nvSpPr>
          <p:cNvPr id="7" name="Text 3"/>
          <p:cNvSpPr/>
          <p:nvPr/>
        </p:nvSpPr>
        <p:spPr>
          <a:xfrm>
            <a:off x="640080" y="4343400"/>
            <a:ext cx="6035040" cy="822960"/>
          </a:xfrm>
          <a:prstGeom prst="rect">
            <a:avLst/>
          </a:prstGeom>
          <a:noFill/>
          <a:ln/>
        </p:spPr>
        <p:txBody>
          <a:bodyPr wrap="square" lIns="0" tIns="0" rIns="0" bIns="0" rtlCol="0" anchor="ctr"/>
          <a:lstStyle/>
          <a:p>
            <a:pPr marL="0" indent="0">
              <a:lnSpc>
                <a:spcPct val="115000"/>
              </a:lnSpc>
              <a:buNone/>
            </a:pPr>
            <a:r>
              <a:rPr lang="en-US" sz="1550" dirty="0">
                <a:solidFill>
                  <a:srgbClr val="6AC2D8"/>
                </a:solidFill>
                <a:latin typeface="Manrope" pitchFamily="34" charset="0"/>
                <a:ea typeface="Manrope" pitchFamily="34" charset="-122"/>
                <a:cs typeface="Manrope" pitchFamily="34" charset="-120"/>
              </a:rPr>
              <a:t>Connected network, customer and field-based delivery, working as one team.</a:t>
            </a:r>
            <a:endParaRPr lang="en-US" sz="1550" dirty="0"/>
          </a:p>
        </p:txBody>
      </p:sp>
      <p:sp>
        <p:nvSpPr>
          <p:cNvPr id="8" name="Text 4"/>
          <p:cNvSpPr/>
          <p:nvPr/>
        </p:nvSpPr>
        <p:spPr>
          <a:xfrm>
            <a:off x="11048695" y="6382512"/>
            <a:ext cx="548640" cy="274320"/>
          </a:xfrm>
          <a:prstGeom prst="rect">
            <a:avLst/>
          </a:prstGeom>
          <a:noFill/>
          <a:ln/>
        </p:spPr>
        <p:txBody>
          <a:bodyPr wrap="square" lIns="0" tIns="0" rIns="0" bIns="0" rtlCol="0" anchor="ctr"/>
          <a:lstStyle/>
          <a:p>
            <a:pPr marL="0" indent="0" algn="r">
              <a:buNone/>
            </a:pPr>
            <a:r>
              <a:rPr lang="en-US" sz="1000" dirty="0">
                <a:solidFill>
                  <a:srgbClr val="BCBFCC"/>
                </a:solidFill>
                <a:latin typeface="Manrope" pitchFamily="34" charset="0"/>
                <a:ea typeface="Manrope" pitchFamily="34" charset="-122"/>
                <a:cs typeface="Manrope"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03  ·  OUR SERVICES</a:t>
            </a:r>
            <a:endParaRPr lang="en-US" sz="11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marL="0" indent="0" algn="l">
              <a:buNone/>
            </a:pPr>
            <a:r>
              <a:rPr lang="en-US" sz="2900" b="1" dirty="0">
                <a:solidFill>
                  <a:srgbClr val="0C2C3A"/>
                </a:solidFill>
                <a:latin typeface="Manrope" pitchFamily="34" charset="0"/>
                <a:ea typeface="Manrope" pitchFamily="34" charset="-122"/>
                <a:cs typeface="Manrope" pitchFamily="34" charset="-120"/>
              </a:rPr>
              <a:t>What we deliver</a:t>
            </a:r>
            <a:endParaRPr lang="en-US" sz="2900" dirty="0"/>
          </a:p>
        </p:txBody>
      </p:sp>
      <p:sp>
        <p:nvSpPr>
          <p:cNvPr id="4" name="Shape 2"/>
          <p:cNvSpPr/>
          <p:nvPr/>
        </p:nvSpPr>
        <p:spPr>
          <a:xfrm>
            <a:off x="640080" y="1783080"/>
            <a:ext cx="3429000" cy="1508760"/>
          </a:xfrm>
          <a:prstGeom prst="roundRect">
            <a:avLst>
              <a:gd name="adj" fmla="val 6061"/>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sp>
      <p:sp>
        <p:nvSpPr>
          <p:cNvPr id="5" name="Shape 3"/>
          <p:cNvSpPr/>
          <p:nvPr/>
        </p:nvSpPr>
        <p:spPr>
          <a:xfrm>
            <a:off x="960120" y="2167128"/>
            <a:ext cx="731520" cy="731520"/>
          </a:xfrm>
          <a:prstGeom prst="ellipse">
            <a:avLst/>
          </a:prstGeom>
          <a:solidFill>
            <a:srgbClr val="00B6DB"/>
          </a:solidFill>
          <a:ln/>
        </p:spPr>
      </p:sp>
      <p:pic>
        <p:nvPicPr>
          <p:cNvPr id="6" name="Image 0" descr="preencoded.png"/>
          <p:cNvPicPr>
            <a:picLocks noChangeAspect="1"/>
          </p:cNvPicPr>
          <p:nvPr/>
        </p:nvPicPr>
        <p:blipFill>
          <a:blip r:embed="rId3"/>
          <a:stretch>
            <a:fillRect/>
          </a:stretch>
        </p:blipFill>
        <p:spPr>
          <a:xfrm>
            <a:off x="1143000" y="2350008"/>
            <a:ext cx="365760" cy="365760"/>
          </a:xfrm>
          <a:prstGeom prst="rect">
            <a:avLst/>
          </a:prstGeom>
        </p:spPr>
      </p:pic>
      <p:sp>
        <p:nvSpPr>
          <p:cNvPr id="7" name="Text 4"/>
          <p:cNvSpPr/>
          <p:nvPr/>
        </p:nvSpPr>
        <p:spPr>
          <a:xfrm>
            <a:off x="1920240" y="2057400"/>
            <a:ext cx="2057400" cy="960120"/>
          </a:xfrm>
          <a:prstGeom prst="rect">
            <a:avLst/>
          </a:prstGeom>
          <a:noFill/>
          <a:ln/>
        </p:spPr>
        <p:txBody>
          <a:bodyPr wrap="square" lIns="0" tIns="0" rIns="0" bIns="0" rtlCol="0" anchor="ctr"/>
          <a:lstStyle/>
          <a:p>
            <a:pPr marL="0" indent="0">
              <a:lnSpc>
                <a:spcPct val="108000"/>
              </a:lnSpc>
              <a:buNone/>
            </a:pPr>
            <a:r>
              <a:rPr lang="en-US" sz="1450" b="1" dirty="0">
                <a:solidFill>
                  <a:srgbClr val="0C2C3A"/>
                </a:solidFill>
                <a:latin typeface="Manrope" pitchFamily="34" charset="0"/>
                <a:ea typeface="Manrope" pitchFamily="34" charset="-122"/>
                <a:cs typeface="Manrope" pitchFamily="34" charset="-120"/>
              </a:rPr>
              <a:t>Leakage detection and repair</a:t>
            </a:r>
            <a:endParaRPr lang="en-US" sz="1450" dirty="0"/>
          </a:p>
        </p:txBody>
      </p:sp>
      <p:sp>
        <p:nvSpPr>
          <p:cNvPr id="8" name="Shape 5"/>
          <p:cNvSpPr/>
          <p:nvPr/>
        </p:nvSpPr>
        <p:spPr>
          <a:xfrm>
            <a:off x="4361688" y="1783080"/>
            <a:ext cx="3429000" cy="1508760"/>
          </a:xfrm>
          <a:prstGeom prst="roundRect">
            <a:avLst>
              <a:gd name="adj" fmla="val 6061"/>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sp>
      <p:sp>
        <p:nvSpPr>
          <p:cNvPr id="9" name="Shape 6"/>
          <p:cNvSpPr/>
          <p:nvPr/>
        </p:nvSpPr>
        <p:spPr>
          <a:xfrm>
            <a:off x="4681728" y="2167128"/>
            <a:ext cx="731520" cy="731520"/>
          </a:xfrm>
          <a:prstGeom prst="ellipse">
            <a:avLst/>
          </a:prstGeom>
          <a:solidFill>
            <a:srgbClr val="00B6DB"/>
          </a:solidFill>
          <a:ln/>
        </p:spPr>
      </p:sp>
      <p:pic>
        <p:nvPicPr>
          <p:cNvPr id="10" name="Image 1" descr="preencoded.png"/>
          <p:cNvPicPr>
            <a:picLocks noChangeAspect="1"/>
          </p:cNvPicPr>
          <p:nvPr/>
        </p:nvPicPr>
        <p:blipFill>
          <a:blip r:embed="rId4"/>
          <a:stretch>
            <a:fillRect/>
          </a:stretch>
        </p:blipFill>
        <p:spPr>
          <a:xfrm>
            <a:off x="4864608" y="2350008"/>
            <a:ext cx="365760" cy="365760"/>
          </a:xfrm>
          <a:prstGeom prst="rect">
            <a:avLst/>
          </a:prstGeom>
        </p:spPr>
      </p:pic>
      <p:sp>
        <p:nvSpPr>
          <p:cNvPr id="11" name="Text 7"/>
          <p:cNvSpPr/>
          <p:nvPr/>
        </p:nvSpPr>
        <p:spPr>
          <a:xfrm>
            <a:off x="5641848" y="2057400"/>
            <a:ext cx="2057400" cy="960120"/>
          </a:xfrm>
          <a:prstGeom prst="rect">
            <a:avLst/>
          </a:prstGeom>
          <a:noFill/>
          <a:ln/>
        </p:spPr>
        <p:txBody>
          <a:bodyPr wrap="square" lIns="0" tIns="0" rIns="0" bIns="0" rtlCol="0" anchor="ctr"/>
          <a:lstStyle/>
          <a:p>
            <a:pPr marL="0" indent="0">
              <a:lnSpc>
                <a:spcPct val="108000"/>
              </a:lnSpc>
              <a:buNone/>
            </a:pPr>
            <a:r>
              <a:rPr lang="en-US" sz="1450" b="1" dirty="0">
                <a:solidFill>
                  <a:srgbClr val="0C2C3A"/>
                </a:solidFill>
                <a:latin typeface="Manrope" pitchFamily="34" charset="0"/>
                <a:ea typeface="Manrope" pitchFamily="34" charset="-122"/>
                <a:cs typeface="Manrope" pitchFamily="34" charset="-120"/>
              </a:rPr>
              <a:t>Pressure management</a:t>
            </a:r>
            <a:endParaRPr lang="en-US" sz="1450" dirty="0"/>
          </a:p>
        </p:txBody>
      </p:sp>
      <p:sp>
        <p:nvSpPr>
          <p:cNvPr id="12" name="Shape 8"/>
          <p:cNvSpPr/>
          <p:nvPr/>
        </p:nvSpPr>
        <p:spPr>
          <a:xfrm>
            <a:off x="8083296" y="1783080"/>
            <a:ext cx="3429000" cy="1508760"/>
          </a:xfrm>
          <a:prstGeom prst="roundRect">
            <a:avLst>
              <a:gd name="adj" fmla="val 6061"/>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sp>
      <p:sp>
        <p:nvSpPr>
          <p:cNvPr id="13" name="Shape 9"/>
          <p:cNvSpPr/>
          <p:nvPr/>
        </p:nvSpPr>
        <p:spPr>
          <a:xfrm>
            <a:off x="8403336" y="2167128"/>
            <a:ext cx="731520" cy="731520"/>
          </a:xfrm>
          <a:prstGeom prst="ellipse">
            <a:avLst/>
          </a:prstGeom>
          <a:solidFill>
            <a:srgbClr val="00B6DB"/>
          </a:solidFill>
          <a:ln/>
        </p:spPr>
      </p:sp>
      <p:pic>
        <p:nvPicPr>
          <p:cNvPr id="14" name="Image 2" descr="preencoded.png"/>
          <p:cNvPicPr>
            <a:picLocks noChangeAspect="1"/>
          </p:cNvPicPr>
          <p:nvPr/>
        </p:nvPicPr>
        <p:blipFill>
          <a:blip r:embed="rId5"/>
          <a:stretch>
            <a:fillRect/>
          </a:stretch>
        </p:blipFill>
        <p:spPr>
          <a:xfrm>
            <a:off x="8586216" y="2350008"/>
            <a:ext cx="365760" cy="365760"/>
          </a:xfrm>
          <a:prstGeom prst="rect">
            <a:avLst/>
          </a:prstGeom>
        </p:spPr>
      </p:pic>
      <p:sp>
        <p:nvSpPr>
          <p:cNvPr id="15" name="Text 10"/>
          <p:cNvSpPr/>
          <p:nvPr/>
        </p:nvSpPr>
        <p:spPr>
          <a:xfrm>
            <a:off x="9363456" y="2057400"/>
            <a:ext cx="2057400" cy="960120"/>
          </a:xfrm>
          <a:prstGeom prst="rect">
            <a:avLst/>
          </a:prstGeom>
          <a:noFill/>
          <a:ln/>
        </p:spPr>
        <p:txBody>
          <a:bodyPr wrap="square" lIns="0" tIns="0" rIns="0" bIns="0" rtlCol="0" anchor="ctr"/>
          <a:lstStyle/>
          <a:p>
            <a:pPr marL="0" indent="0">
              <a:lnSpc>
                <a:spcPct val="108000"/>
              </a:lnSpc>
              <a:buNone/>
            </a:pPr>
            <a:r>
              <a:rPr lang="en-US" sz="1450" b="1" dirty="0">
                <a:solidFill>
                  <a:srgbClr val="0C2C3A"/>
                </a:solidFill>
                <a:latin typeface="Manrope" pitchFamily="34" charset="0"/>
                <a:ea typeface="Manrope" pitchFamily="34" charset="-122"/>
                <a:cs typeface="Manrope" pitchFamily="34" charset="-120"/>
              </a:rPr>
              <a:t>Metering and data</a:t>
            </a:r>
            <a:endParaRPr lang="en-US" sz="1450" dirty="0"/>
          </a:p>
        </p:txBody>
      </p:sp>
      <p:sp>
        <p:nvSpPr>
          <p:cNvPr id="16" name="Shape 11"/>
          <p:cNvSpPr/>
          <p:nvPr/>
        </p:nvSpPr>
        <p:spPr>
          <a:xfrm>
            <a:off x="640080" y="3566160"/>
            <a:ext cx="3429000" cy="1508760"/>
          </a:xfrm>
          <a:prstGeom prst="roundRect">
            <a:avLst>
              <a:gd name="adj" fmla="val 6061"/>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sp>
      <p:sp>
        <p:nvSpPr>
          <p:cNvPr id="17" name="Shape 12"/>
          <p:cNvSpPr/>
          <p:nvPr/>
        </p:nvSpPr>
        <p:spPr>
          <a:xfrm>
            <a:off x="960120" y="3950208"/>
            <a:ext cx="731520" cy="731520"/>
          </a:xfrm>
          <a:prstGeom prst="ellipse">
            <a:avLst/>
          </a:prstGeom>
          <a:solidFill>
            <a:srgbClr val="00B6DB"/>
          </a:solidFill>
          <a:ln/>
        </p:spPr>
      </p:sp>
      <p:pic>
        <p:nvPicPr>
          <p:cNvPr id="18" name="Image 3" descr="preencoded.png"/>
          <p:cNvPicPr>
            <a:picLocks noChangeAspect="1"/>
          </p:cNvPicPr>
          <p:nvPr/>
        </p:nvPicPr>
        <p:blipFill>
          <a:blip r:embed="rId6"/>
          <a:stretch>
            <a:fillRect/>
          </a:stretch>
        </p:blipFill>
        <p:spPr>
          <a:xfrm>
            <a:off x="1143000" y="4133088"/>
            <a:ext cx="365760" cy="365760"/>
          </a:xfrm>
          <a:prstGeom prst="rect">
            <a:avLst/>
          </a:prstGeom>
        </p:spPr>
      </p:pic>
      <p:sp>
        <p:nvSpPr>
          <p:cNvPr id="19" name="Text 13"/>
          <p:cNvSpPr/>
          <p:nvPr/>
        </p:nvSpPr>
        <p:spPr>
          <a:xfrm>
            <a:off x="1920240" y="3840480"/>
            <a:ext cx="2057400" cy="960120"/>
          </a:xfrm>
          <a:prstGeom prst="rect">
            <a:avLst/>
          </a:prstGeom>
          <a:noFill/>
          <a:ln/>
        </p:spPr>
        <p:txBody>
          <a:bodyPr wrap="square" lIns="0" tIns="0" rIns="0" bIns="0" rtlCol="0" anchor="ctr"/>
          <a:lstStyle/>
          <a:p>
            <a:pPr marL="0" indent="0">
              <a:lnSpc>
                <a:spcPct val="108000"/>
              </a:lnSpc>
              <a:buNone/>
            </a:pPr>
            <a:r>
              <a:rPr lang="en-US" sz="1450" b="1" dirty="0">
                <a:solidFill>
                  <a:srgbClr val="0C2C3A"/>
                </a:solidFill>
                <a:latin typeface="Manrope" pitchFamily="34" charset="0"/>
                <a:ea typeface="Manrope" pitchFamily="34" charset="-122"/>
                <a:cs typeface="Manrope" pitchFamily="34" charset="-120"/>
              </a:rPr>
              <a:t>Demand and consumption</a:t>
            </a:r>
            <a:endParaRPr lang="en-US" sz="1450" dirty="0"/>
          </a:p>
        </p:txBody>
      </p:sp>
      <p:sp>
        <p:nvSpPr>
          <p:cNvPr id="20" name="Shape 14"/>
          <p:cNvSpPr/>
          <p:nvPr/>
        </p:nvSpPr>
        <p:spPr>
          <a:xfrm>
            <a:off x="4361688" y="3566160"/>
            <a:ext cx="3429000" cy="1508760"/>
          </a:xfrm>
          <a:prstGeom prst="roundRect">
            <a:avLst>
              <a:gd name="adj" fmla="val 6061"/>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sp>
      <p:sp>
        <p:nvSpPr>
          <p:cNvPr id="21" name="Shape 15"/>
          <p:cNvSpPr/>
          <p:nvPr/>
        </p:nvSpPr>
        <p:spPr>
          <a:xfrm>
            <a:off x="4681728" y="3950208"/>
            <a:ext cx="731520" cy="731520"/>
          </a:xfrm>
          <a:prstGeom prst="ellipse">
            <a:avLst/>
          </a:prstGeom>
          <a:solidFill>
            <a:srgbClr val="00B6DB"/>
          </a:solidFill>
          <a:ln/>
        </p:spPr>
      </p:sp>
      <p:pic>
        <p:nvPicPr>
          <p:cNvPr id="22" name="Image 4" descr="preencoded.png"/>
          <p:cNvPicPr>
            <a:picLocks noChangeAspect="1"/>
          </p:cNvPicPr>
          <p:nvPr/>
        </p:nvPicPr>
        <p:blipFill>
          <a:blip r:embed="rId7"/>
          <a:stretch>
            <a:fillRect/>
          </a:stretch>
        </p:blipFill>
        <p:spPr>
          <a:xfrm>
            <a:off x="4864608" y="4133088"/>
            <a:ext cx="365760" cy="365760"/>
          </a:xfrm>
          <a:prstGeom prst="rect">
            <a:avLst/>
          </a:prstGeom>
        </p:spPr>
      </p:pic>
      <p:sp>
        <p:nvSpPr>
          <p:cNvPr id="23" name="Text 16"/>
          <p:cNvSpPr/>
          <p:nvPr/>
        </p:nvSpPr>
        <p:spPr>
          <a:xfrm>
            <a:off x="5641848" y="3840480"/>
            <a:ext cx="2057400" cy="960120"/>
          </a:xfrm>
          <a:prstGeom prst="rect">
            <a:avLst/>
          </a:prstGeom>
          <a:noFill/>
          <a:ln/>
        </p:spPr>
        <p:txBody>
          <a:bodyPr wrap="square" lIns="0" tIns="0" rIns="0" bIns="0" rtlCol="0" anchor="ctr"/>
          <a:lstStyle/>
          <a:p>
            <a:pPr marL="0" indent="0">
              <a:lnSpc>
                <a:spcPct val="108000"/>
              </a:lnSpc>
              <a:buNone/>
            </a:pPr>
            <a:r>
              <a:rPr lang="en-US" sz="1450" b="1" dirty="0">
                <a:solidFill>
                  <a:srgbClr val="0C2C3A"/>
                </a:solidFill>
                <a:latin typeface="Manrope" pitchFamily="34" charset="0"/>
                <a:ea typeface="Manrope" pitchFamily="34" charset="-122"/>
                <a:cs typeface="Manrope" pitchFamily="34" charset="-120"/>
              </a:rPr>
              <a:t>Network monitoring</a:t>
            </a:r>
            <a:endParaRPr lang="en-US" sz="1450" dirty="0"/>
          </a:p>
        </p:txBody>
      </p:sp>
      <p:sp>
        <p:nvSpPr>
          <p:cNvPr id="24" name="Shape 17"/>
          <p:cNvSpPr/>
          <p:nvPr/>
        </p:nvSpPr>
        <p:spPr>
          <a:xfrm>
            <a:off x="8083296" y="3566160"/>
            <a:ext cx="3429000" cy="1508760"/>
          </a:xfrm>
          <a:prstGeom prst="roundRect">
            <a:avLst>
              <a:gd name="adj" fmla="val 6061"/>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sp>
      <p:sp>
        <p:nvSpPr>
          <p:cNvPr id="25" name="Shape 18"/>
          <p:cNvSpPr/>
          <p:nvPr/>
        </p:nvSpPr>
        <p:spPr>
          <a:xfrm>
            <a:off x="8403336" y="3950208"/>
            <a:ext cx="731520" cy="731520"/>
          </a:xfrm>
          <a:prstGeom prst="ellipse">
            <a:avLst/>
          </a:prstGeom>
          <a:solidFill>
            <a:srgbClr val="00B6DB"/>
          </a:solidFill>
          <a:ln/>
        </p:spPr>
      </p:sp>
      <p:pic>
        <p:nvPicPr>
          <p:cNvPr id="26" name="Image 5" descr="preencoded.png"/>
          <p:cNvPicPr>
            <a:picLocks noChangeAspect="1"/>
          </p:cNvPicPr>
          <p:nvPr/>
        </p:nvPicPr>
        <p:blipFill>
          <a:blip r:embed="rId8"/>
          <a:stretch>
            <a:fillRect/>
          </a:stretch>
        </p:blipFill>
        <p:spPr>
          <a:xfrm>
            <a:off x="8586216" y="4133088"/>
            <a:ext cx="365760" cy="365760"/>
          </a:xfrm>
          <a:prstGeom prst="rect">
            <a:avLst/>
          </a:prstGeom>
        </p:spPr>
      </p:pic>
      <p:sp>
        <p:nvSpPr>
          <p:cNvPr id="27" name="Text 19"/>
          <p:cNvSpPr/>
          <p:nvPr/>
        </p:nvSpPr>
        <p:spPr>
          <a:xfrm>
            <a:off x="9363456" y="3840480"/>
            <a:ext cx="2057400" cy="960120"/>
          </a:xfrm>
          <a:prstGeom prst="rect">
            <a:avLst/>
          </a:prstGeom>
          <a:noFill/>
          <a:ln/>
        </p:spPr>
        <p:txBody>
          <a:bodyPr wrap="square" lIns="0" tIns="0" rIns="0" bIns="0" rtlCol="0" anchor="ctr"/>
          <a:lstStyle/>
          <a:p>
            <a:pPr marL="0" indent="0">
              <a:lnSpc>
                <a:spcPct val="108000"/>
              </a:lnSpc>
              <a:buNone/>
            </a:pPr>
            <a:r>
              <a:rPr lang="en-US" sz="1450" b="1" dirty="0">
                <a:solidFill>
                  <a:srgbClr val="0C2C3A"/>
                </a:solidFill>
                <a:latin typeface="Manrope" pitchFamily="34" charset="0"/>
                <a:ea typeface="Manrope" pitchFamily="34" charset="-122"/>
                <a:cs typeface="Manrope" pitchFamily="34" charset="-120"/>
              </a:rPr>
              <a:t>Customer-side support</a:t>
            </a:r>
            <a:endParaRPr lang="en-US" sz="1450" dirty="0"/>
          </a:p>
        </p:txBody>
      </p:sp>
      <p:sp>
        <p:nvSpPr>
          <p:cNvPr id="28" name="Text 20"/>
          <p:cNvSpPr/>
          <p:nvPr/>
        </p:nvSpPr>
        <p:spPr>
          <a:xfrm>
            <a:off x="640080" y="5440680"/>
            <a:ext cx="10515600" cy="320040"/>
          </a:xfrm>
          <a:prstGeom prst="rect">
            <a:avLst/>
          </a:prstGeom>
          <a:noFill/>
          <a:ln/>
        </p:spPr>
        <p:txBody>
          <a:bodyPr wrap="square" lIns="0" tIns="0" rIns="0" bIns="0" rtlCol="0" anchor="ctr"/>
          <a:lstStyle/>
          <a:p>
            <a:pPr marL="0" indent="0">
              <a:buNone/>
            </a:pPr>
            <a:r>
              <a:rPr lang="en-US" sz="1100" i="1" dirty="0">
                <a:solidFill>
                  <a:srgbClr val="BCBFCC"/>
                </a:solidFill>
                <a:latin typeface="Manrope" pitchFamily="34" charset="0"/>
                <a:ea typeface="Manrope" pitchFamily="34" charset="-122"/>
                <a:cs typeface="Manrope" pitchFamily="34" charset="-120"/>
              </a:rPr>
              <a:t>Indicative service areas. Confirm the live list with the client before external use.</a:t>
            </a:r>
            <a:endParaRPr lang="en-US" sz="1100" dirty="0"/>
          </a:p>
        </p:txBody>
      </p:sp>
      <p:pic>
        <p:nvPicPr>
          <p:cNvPr id="29" name="Image 6" descr="/home/claude/deck/img/mark.png"/>
          <p:cNvPicPr>
            <a:picLocks noChangeAspect="1"/>
          </p:cNvPicPr>
          <p:nvPr/>
        </p:nvPicPr>
        <p:blipFill>
          <a:blip r:embed="rId9"/>
          <a:stretch>
            <a:fillRect/>
          </a:stretch>
        </p:blipFill>
        <p:spPr>
          <a:xfrm>
            <a:off x="640080" y="6345936"/>
            <a:ext cx="292608" cy="292608"/>
          </a:xfrm>
          <a:prstGeom prst="rect">
            <a:avLst/>
          </a:prstGeom>
        </p:spPr>
      </p:pic>
      <p:sp>
        <p:nvSpPr>
          <p:cNvPr id="30" name="Text 21"/>
          <p:cNvSpPr/>
          <p:nvPr/>
        </p:nvSpPr>
        <p:spPr>
          <a:xfrm>
            <a:off x="11048695" y="6382512"/>
            <a:ext cx="548640" cy="274320"/>
          </a:xfrm>
          <a:prstGeom prst="rect">
            <a:avLst/>
          </a:prstGeom>
          <a:noFill/>
          <a:ln/>
        </p:spPr>
        <p:txBody>
          <a:bodyPr wrap="square" lIns="0" tIns="0" rIns="0" bIns="0" rtlCol="0" anchor="ctr"/>
          <a:lstStyle/>
          <a:p>
            <a:pPr marL="0" indent="0" algn="r">
              <a:buNone/>
            </a:pPr>
            <a:r>
              <a:rPr lang="en-US" sz="1000" dirty="0">
                <a:solidFill>
                  <a:srgbClr val="6E7180"/>
                </a:solidFill>
                <a:latin typeface="Manrope" pitchFamily="34" charset="0"/>
                <a:ea typeface="Manrope" pitchFamily="34" charset="-122"/>
                <a:cs typeface="Manrope"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SECTION</a:t>
            </a:r>
            <a:endParaRPr lang="en-US" sz="11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marL="0" indent="0" algn="l">
              <a:buNone/>
            </a:pPr>
            <a:r>
              <a:rPr lang="en-US" sz="2900" b="1" dirty="0">
                <a:solidFill>
                  <a:srgbClr val="0C2C3A"/>
                </a:solidFill>
                <a:latin typeface="Manrope" pitchFamily="34" charset="0"/>
                <a:ea typeface="Manrope" pitchFamily="34" charset="-122"/>
                <a:cs typeface="Manrope" pitchFamily="34" charset="-120"/>
              </a:rPr>
              <a:t>Section heading</a:t>
            </a:r>
            <a:endParaRPr lang="en-US" sz="2900" dirty="0"/>
          </a:p>
        </p:txBody>
      </p:sp>
      <p:sp>
        <p:nvSpPr>
          <p:cNvPr id="4" name="Text 2"/>
          <p:cNvSpPr/>
          <p:nvPr/>
        </p:nvSpPr>
        <p:spPr>
          <a:xfrm>
            <a:off x="640080" y="1554480"/>
            <a:ext cx="5486400" cy="1554480"/>
          </a:xfrm>
          <a:prstGeom prst="rect">
            <a:avLst/>
          </a:prstGeom>
          <a:noFill/>
          <a:ln/>
        </p:spPr>
        <p:txBody>
          <a:bodyPr wrap="square" lIns="0" tIns="0" rIns="0" bIns="0" rtlCol="0" anchor="ctr"/>
          <a:lstStyle/>
          <a:p>
            <a:pPr marL="0" indent="0">
              <a:lnSpc>
                <a:spcPct val="122000"/>
              </a:lnSpc>
              <a:buNone/>
            </a:pPr>
            <a:r>
              <a:rPr lang="en-US" sz="1450" dirty="0">
                <a:solidFill>
                  <a:srgbClr val="40424D"/>
                </a:solidFill>
                <a:latin typeface="Manrope" pitchFamily="34" charset="0"/>
                <a:ea typeface="Manrope" pitchFamily="34" charset="-122"/>
                <a:cs typeface="Manrope" pitchFamily="34" charset="-120"/>
              </a:rPr>
              <a:t>Lorem ipsum dolor sit amet, consectetur adipiscing elit. Sed do eiusmod tempor incididunt ut labore et dolore magna aliqua. Ut enim ad minim veniam, quis nostrud exercitation.</a:t>
            </a:r>
            <a:endParaRPr lang="en-US" sz="1450" dirty="0"/>
          </a:p>
        </p:txBody>
      </p:sp>
      <p:sp>
        <p:nvSpPr>
          <p:cNvPr id="5" name="Text 3"/>
          <p:cNvSpPr/>
          <p:nvPr/>
        </p:nvSpPr>
        <p:spPr>
          <a:xfrm>
            <a:off x="640080" y="3383280"/>
            <a:ext cx="5486400" cy="1828800"/>
          </a:xfrm>
          <a:prstGeom prst="rect">
            <a:avLst/>
          </a:prstGeom>
          <a:noFill/>
          <a:ln/>
        </p:spPr>
        <p:txBody>
          <a:bodyPr wrap="square" lIns="0" tIns="0" rIns="0" bIns="0" rtlCol="0" anchor="ctr"/>
          <a:lstStyle/>
          <a:p>
            <a:pPr marL="228600" indent="-228600">
              <a:spcAft>
                <a:spcPts val="800"/>
              </a:spcAft>
              <a:buSzPct val="100000"/>
              <a:buChar char="•"/>
            </a:pPr>
            <a:r>
              <a:rPr lang="en-US" sz="1400" dirty="0">
                <a:solidFill>
                  <a:srgbClr val="0C2C3A"/>
                </a:solidFill>
                <a:latin typeface="Manrope" pitchFamily="34" charset="0"/>
                <a:ea typeface="Manrope" pitchFamily="34" charset="-122"/>
                <a:cs typeface="Manrope" pitchFamily="34" charset="-120"/>
              </a:rPr>
              <a:t>Lorem ipsum dolor sit amet consectetur</a:t>
            </a:r>
            <a:endParaRPr lang="en-US" sz="1400" dirty="0"/>
          </a:p>
          <a:p>
            <a:pPr marL="228600" indent="-228600">
              <a:spcAft>
                <a:spcPts val="800"/>
              </a:spcAft>
              <a:buSzPct val="100000"/>
              <a:buChar char="•"/>
            </a:pPr>
            <a:r>
              <a:rPr lang="en-US" sz="1400" dirty="0">
                <a:solidFill>
                  <a:srgbClr val="0C2C3A"/>
                </a:solidFill>
                <a:latin typeface="Manrope" pitchFamily="34" charset="0"/>
                <a:ea typeface="Manrope" pitchFamily="34" charset="-122"/>
                <a:cs typeface="Manrope" pitchFamily="34" charset="-120"/>
              </a:rPr>
              <a:t>Adipiscing elit sed do eiusmod tempor</a:t>
            </a:r>
            <a:endParaRPr lang="en-US" sz="1400" dirty="0"/>
          </a:p>
          <a:p>
            <a:pPr marL="228600" indent="-228600">
              <a:spcAft>
                <a:spcPts val="800"/>
              </a:spcAft>
              <a:buSzPct val="100000"/>
              <a:buChar char="•"/>
            </a:pPr>
            <a:r>
              <a:rPr lang="en-US" sz="1400" dirty="0">
                <a:solidFill>
                  <a:srgbClr val="0C2C3A"/>
                </a:solidFill>
                <a:latin typeface="Manrope" pitchFamily="34" charset="0"/>
                <a:ea typeface="Manrope" pitchFamily="34" charset="-122"/>
                <a:cs typeface="Manrope" pitchFamily="34" charset="-120"/>
              </a:rPr>
              <a:t>Incididunt ut labore et dolore magna</a:t>
            </a:r>
            <a:endParaRPr lang="en-US" sz="1400" dirty="0"/>
          </a:p>
        </p:txBody>
      </p:sp>
      <p:pic>
        <p:nvPicPr>
          <p:cNvPr id="6" name="Image 0" descr="/home/claude/deck/img/waternetworks.jpg"/>
          <p:cNvPicPr>
            <a:picLocks noChangeAspect="1"/>
          </p:cNvPicPr>
          <p:nvPr/>
        </p:nvPicPr>
        <p:blipFill>
          <a:blip r:embed="rId3"/>
          <a:srcRect/>
          <a:stretch/>
        </p:blipFill>
        <p:spPr>
          <a:xfrm>
            <a:off x="6720840" y="1463040"/>
            <a:ext cx="4818888" cy="4023360"/>
          </a:xfrm>
          <a:prstGeom prst="rect">
            <a:avLst/>
          </a:prstGeom>
          <a:effectLst>
            <a:outerShdw blurRad="114300" dist="38100" dir="5400000" algn="bl" rotWithShape="0">
              <a:srgbClr val="0C2C3A">
                <a:alpha val="16000"/>
              </a:srgbClr>
            </a:outerShdw>
          </a:effectLst>
        </p:spPr>
      </p:pic>
      <p:pic>
        <p:nvPicPr>
          <p:cNvPr id="7" name="Image 1" descr="/home/claude/deck/img/mark.png"/>
          <p:cNvPicPr>
            <a:picLocks noChangeAspect="1"/>
          </p:cNvPicPr>
          <p:nvPr/>
        </p:nvPicPr>
        <p:blipFill>
          <a:blip r:embed="rId4"/>
          <a:stretch>
            <a:fillRect/>
          </a:stretch>
        </p:blipFill>
        <p:spPr>
          <a:xfrm>
            <a:off x="640080" y="6345936"/>
            <a:ext cx="292608" cy="292608"/>
          </a:xfrm>
          <a:prstGeom prst="rect">
            <a:avLst/>
          </a:prstGeom>
        </p:spPr>
      </p:pic>
      <p:sp>
        <p:nvSpPr>
          <p:cNvPr id="8" name="Text 4"/>
          <p:cNvSpPr/>
          <p:nvPr/>
        </p:nvSpPr>
        <p:spPr>
          <a:xfrm>
            <a:off x="11048695" y="6382512"/>
            <a:ext cx="548640" cy="274320"/>
          </a:xfrm>
          <a:prstGeom prst="rect">
            <a:avLst/>
          </a:prstGeom>
          <a:noFill/>
          <a:ln/>
        </p:spPr>
        <p:txBody>
          <a:bodyPr wrap="square" lIns="0" tIns="0" rIns="0" bIns="0" rtlCol="0" anchor="ctr"/>
          <a:lstStyle/>
          <a:p>
            <a:pPr marL="0" indent="0" algn="r">
              <a:buNone/>
            </a:pPr>
            <a:r>
              <a:rPr lang="en-US" sz="1000" dirty="0">
                <a:solidFill>
                  <a:srgbClr val="6E7180"/>
                </a:solidFill>
                <a:latin typeface="Manrope" pitchFamily="34" charset="0"/>
                <a:ea typeface="Manrope" pitchFamily="34" charset="-122"/>
                <a:cs typeface="Manrope"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WHO WE ARE</a:t>
            </a:r>
            <a:endParaRPr lang="en-US" sz="11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marL="0" indent="0" algn="l">
              <a:buNone/>
            </a:pPr>
            <a:r>
              <a:rPr lang="en-US" sz="2900" b="1" dirty="0">
                <a:solidFill>
                  <a:srgbClr val="0C2C3A"/>
                </a:solidFill>
                <a:latin typeface="Manrope" pitchFamily="34" charset="0"/>
                <a:ea typeface="Manrope" pitchFamily="34" charset="-122"/>
                <a:cs typeface="Manrope" pitchFamily="34" charset="-120"/>
              </a:rPr>
              <a:t>Our values</a:t>
            </a:r>
            <a:endParaRPr lang="en-US" sz="2900" dirty="0"/>
          </a:p>
        </p:txBody>
      </p:sp>
      <p:sp>
        <p:nvSpPr>
          <p:cNvPr id="4" name="Shape 2"/>
          <p:cNvSpPr/>
          <p:nvPr/>
        </p:nvSpPr>
        <p:spPr>
          <a:xfrm>
            <a:off x="640080" y="1874520"/>
            <a:ext cx="1993392" cy="3108960"/>
          </a:xfrm>
          <a:prstGeom prst="roundRect">
            <a:avLst>
              <a:gd name="adj" fmla="val 4587"/>
            </a:avLst>
          </a:prstGeom>
          <a:solidFill>
            <a:srgbClr val="EDEFF7"/>
          </a:solidFill>
          <a:ln/>
        </p:spPr>
      </p:sp>
      <p:sp>
        <p:nvSpPr>
          <p:cNvPr id="5" name="Shape 3"/>
          <p:cNvSpPr/>
          <p:nvPr/>
        </p:nvSpPr>
        <p:spPr>
          <a:xfrm>
            <a:off x="1316736" y="2240280"/>
            <a:ext cx="640080" cy="640080"/>
          </a:xfrm>
          <a:prstGeom prst="ellipse">
            <a:avLst/>
          </a:prstGeom>
          <a:solidFill>
            <a:srgbClr val="00B6DB"/>
          </a:solidFill>
          <a:ln/>
        </p:spPr>
      </p:sp>
      <p:pic>
        <p:nvPicPr>
          <p:cNvPr id="6" name="Image 0" descr="preencoded.png"/>
          <p:cNvPicPr>
            <a:picLocks noChangeAspect="1"/>
          </p:cNvPicPr>
          <p:nvPr/>
        </p:nvPicPr>
        <p:blipFill>
          <a:blip r:embed="rId3"/>
          <a:stretch>
            <a:fillRect/>
          </a:stretch>
        </p:blipFill>
        <p:spPr>
          <a:xfrm>
            <a:off x="1472184" y="2395728"/>
            <a:ext cx="329184" cy="329184"/>
          </a:xfrm>
          <a:prstGeom prst="rect">
            <a:avLst/>
          </a:prstGeom>
        </p:spPr>
      </p:pic>
      <p:sp>
        <p:nvSpPr>
          <p:cNvPr id="7" name="Text 4"/>
          <p:cNvSpPr/>
          <p:nvPr/>
        </p:nvSpPr>
        <p:spPr>
          <a:xfrm>
            <a:off x="749808" y="3035808"/>
            <a:ext cx="1773936" cy="384048"/>
          </a:xfrm>
          <a:prstGeom prst="rect">
            <a:avLst/>
          </a:prstGeom>
          <a:noFill/>
          <a:ln/>
        </p:spPr>
        <p:txBody>
          <a:bodyPr wrap="square" lIns="0" tIns="0" rIns="0" bIns="0" rtlCol="0" anchor="ctr"/>
          <a:lstStyle/>
          <a:p>
            <a:pPr marL="0" indent="0" algn="ctr">
              <a:buNone/>
            </a:pPr>
            <a:r>
              <a:rPr lang="en-US" sz="1550" b="1" dirty="0">
                <a:solidFill>
                  <a:srgbClr val="0C2C3A"/>
                </a:solidFill>
                <a:latin typeface="Manrope" pitchFamily="34" charset="0"/>
                <a:ea typeface="Manrope" pitchFamily="34" charset="-122"/>
                <a:cs typeface="Manrope" pitchFamily="34" charset="-120"/>
              </a:rPr>
              <a:t>Trust</a:t>
            </a:r>
            <a:endParaRPr lang="en-US" sz="1550" dirty="0"/>
          </a:p>
        </p:txBody>
      </p:sp>
      <p:sp>
        <p:nvSpPr>
          <p:cNvPr id="8" name="Text 5"/>
          <p:cNvSpPr/>
          <p:nvPr/>
        </p:nvSpPr>
        <p:spPr>
          <a:xfrm>
            <a:off x="786384" y="3456432"/>
            <a:ext cx="1700784" cy="1325880"/>
          </a:xfrm>
          <a:prstGeom prst="rect">
            <a:avLst/>
          </a:prstGeom>
          <a:noFill/>
          <a:ln/>
        </p:spPr>
        <p:txBody>
          <a:bodyPr wrap="square" lIns="0" tIns="0" rIns="0" bIns="0" rtlCol="0" anchor="ctr"/>
          <a:lstStyle/>
          <a:p>
            <a:pPr marL="0" indent="0" algn="ctr">
              <a:lnSpc>
                <a:spcPct val="114000"/>
              </a:lnSpc>
              <a:buNone/>
            </a:pPr>
            <a:r>
              <a:rPr lang="en-US" sz="1150" dirty="0">
                <a:solidFill>
                  <a:srgbClr val="6E7180"/>
                </a:solidFill>
                <a:latin typeface="Manrope" pitchFamily="34" charset="0"/>
                <a:ea typeface="Manrope" pitchFamily="34" charset="-122"/>
                <a:cs typeface="Manrope" pitchFamily="34" charset="-120"/>
              </a:rPr>
              <a:t>Dependable, honest and consistent.</a:t>
            </a:r>
            <a:endParaRPr lang="en-US" sz="1150" dirty="0"/>
          </a:p>
        </p:txBody>
      </p:sp>
      <p:sp>
        <p:nvSpPr>
          <p:cNvPr id="9" name="Shape 6"/>
          <p:cNvSpPr/>
          <p:nvPr/>
        </p:nvSpPr>
        <p:spPr>
          <a:xfrm>
            <a:off x="2852928" y="1874520"/>
            <a:ext cx="1993392" cy="3108960"/>
          </a:xfrm>
          <a:prstGeom prst="roundRect">
            <a:avLst>
              <a:gd name="adj" fmla="val 4587"/>
            </a:avLst>
          </a:prstGeom>
          <a:solidFill>
            <a:srgbClr val="EDEFF7"/>
          </a:solidFill>
          <a:ln/>
        </p:spPr>
      </p:sp>
      <p:sp>
        <p:nvSpPr>
          <p:cNvPr id="10" name="Shape 7"/>
          <p:cNvSpPr/>
          <p:nvPr/>
        </p:nvSpPr>
        <p:spPr>
          <a:xfrm>
            <a:off x="3529584" y="2240280"/>
            <a:ext cx="640080" cy="640080"/>
          </a:xfrm>
          <a:prstGeom prst="ellipse">
            <a:avLst/>
          </a:prstGeom>
          <a:solidFill>
            <a:srgbClr val="00B6DB"/>
          </a:solidFill>
          <a:ln/>
        </p:spPr>
      </p:sp>
      <p:pic>
        <p:nvPicPr>
          <p:cNvPr id="11" name="Image 1" descr="preencoded.png"/>
          <p:cNvPicPr>
            <a:picLocks noChangeAspect="1"/>
          </p:cNvPicPr>
          <p:nvPr/>
        </p:nvPicPr>
        <p:blipFill>
          <a:blip r:embed="rId4"/>
          <a:stretch>
            <a:fillRect/>
          </a:stretch>
        </p:blipFill>
        <p:spPr>
          <a:xfrm>
            <a:off x="3685032" y="2395728"/>
            <a:ext cx="329184" cy="329184"/>
          </a:xfrm>
          <a:prstGeom prst="rect">
            <a:avLst/>
          </a:prstGeom>
        </p:spPr>
      </p:pic>
      <p:sp>
        <p:nvSpPr>
          <p:cNvPr id="12" name="Text 8"/>
          <p:cNvSpPr/>
          <p:nvPr/>
        </p:nvSpPr>
        <p:spPr>
          <a:xfrm>
            <a:off x="2962656" y="3035808"/>
            <a:ext cx="1773936" cy="384048"/>
          </a:xfrm>
          <a:prstGeom prst="rect">
            <a:avLst/>
          </a:prstGeom>
          <a:noFill/>
          <a:ln/>
        </p:spPr>
        <p:txBody>
          <a:bodyPr wrap="square" lIns="0" tIns="0" rIns="0" bIns="0" rtlCol="0" anchor="ctr"/>
          <a:lstStyle/>
          <a:p>
            <a:pPr marL="0" indent="0" algn="ctr">
              <a:buNone/>
            </a:pPr>
            <a:r>
              <a:rPr lang="en-US" sz="1550" b="1" dirty="0">
                <a:solidFill>
                  <a:srgbClr val="0C2C3A"/>
                </a:solidFill>
                <a:latin typeface="Manrope" pitchFamily="34" charset="0"/>
                <a:ea typeface="Manrope" pitchFamily="34" charset="-122"/>
                <a:cs typeface="Manrope" pitchFamily="34" charset="-120"/>
              </a:rPr>
              <a:t>Ingenuity</a:t>
            </a:r>
            <a:endParaRPr lang="en-US" sz="1550" dirty="0"/>
          </a:p>
        </p:txBody>
      </p:sp>
      <p:sp>
        <p:nvSpPr>
          <p:cNvPr id="13" name="Text 9"/>
          <p:cNvSpPr/>
          <p:nvPr/>
        </p:nvSpPr>
        <p:spPr>
          <a:xfrm>
            <a:off x="2999232" y="3456432"/>
            <a:ext cx="1700784" cy="1325880"/>
          </a:xfrm>
          <a:prstGeom prst="rect">
            <a:avLst/>
          </a:prstGeom>
          <a:noFill/>
          <a:ln/>
        </p:spPr>
        <p:txBody>
          <a:bodyPr wrap="square" lIns="0" tIns="0" rIns="0" bIns="0" rtlCol="0" anchor="ctr"/>
          <a:lstStyle/>
          <a:p>
            <a:pPr marL="0" indent="0" algn="ctr">
              <a:lnSpc>
                <a:spcPct val="114000"/>
              </a:lnSpc>
              <a:buNone/>
            </a:pPr>
            <a:r>
              <a:rPr lang="en-US" sz="1150" dirty="0">
                <a:solidFill>
                  <a:srgbClr val="6E7180"/>
                </a:solidFill>
                <a:latin typeface="Manrope" pitchFamily="34" charset="0"/>
                <a:ea typeface="Manrope" pitchFamily="34" charset="-122"/>
                <a:cs typeface="Manrope" pitchFamily="34" charset="-120"/>
              </a:rPr>
              <a:t>Practical problem-solving and ideas.</a:t>
            </a:r>
            <a:endParaRPr lang="en-US" sz="1150" dirty="0"/>
          </a:p>
        </p:txBody>
      </p:sp>
      <p:sp>
        <p:nvSpPr>
          <p:cNvPr id="14" name="Shape 10"/>
          <p:cNvSpPr/>
          <p:nvPr/>
        </p:nvSpPr>
        <p:spPr>
          <a:xfrm>
            <a:off x="5065776" y="1874520"/>
            <a:ext cx="1993392" cy="3108960"/>
          </a:xfrm>
          <a:prstGeom prst="roundRect">
            <a:avLst>
              <a:gd name="adj" fmla="val 4587"/>
            </a:avLst>
          </a:prstGeom>
          <a:solidFill>
            <a:srgbClr val="EDEFF7"/>
          </a:solidFill>
          <a:ln/>
        </p:spPr>
      </p:sp>
      <p:sp>
        <p:nvSpPr>
          <p:cNvPr id="15" name="Shape 11"/>
          <p:cNvSpPr/>
          <p:nvPr/>
        </p:nvSpPr>
        <p:spPr>
          <a:xfrm>
            <a:off x="5742432" y="2240280"/>
            <a:ext cx="640080" cy="640080"/>
          </a:xfrm>
          <a:prstGeom prst="ellipse">
            <a:avLst/>
          </a:prstGeom>
          <a:solidFill>
            <a:srgbClr val="00B6DB"/>
          </a:solidFill>
          <a:ln/>
        </p:spPr>
      </p:sp>
      <p:pic>
        <p:nvPicPr>
          <p:cNvPr id="16" name="Image 2" descr="preencoded.png"/>
          <p:cNvPicPr>
            <a:picLocks noChangeAspect="1"/>
          </p:cNvPicPr>
          <p:nvPr/>
        </p:nvPicPr>
        <p:blipFill>
          <a:blip r:embed="rId5"/>
          <a:stretch>
            <a:fillRect/>
          </a:stretch>
        </p:blipFill>
        <p:spPr>
          <a:xfrm>
            <a:off x="5897880" y="2395728"/>
            <a:ext cx="329184" cy="329184"/>
          </a:xfrm>
          <a:prstGeom prst="rect">
            <a:avLst/>
          </a:prstGeom>
        </p:spPr>
      </p:pic>
      <p:sp>
        <p:nvSpPr>
          <p:cNvPr id="17" name="Text 12"/>
          <p:cNvSpPr/>
          <p:nvPr/>
        </p:nvSpPr>
        <p:spPr>
          <a:xfrm>
            <a:off x="5175504" y="3035808"/>
            <a:ext cx="1773936" cy="384048"/>
          </a:xfrm>
          <a:prstGeom prst="rect">
            <a:avLst/>
          </a:prstGeom>
          <a:noFill/>
          <a:ln/>
        </p:spPr>
        <p:txBody>
          <a:bodyPr wrap="square" lIns="0" tIns="0" rIns="0" bIns="0" rtlCol="0" anchor="ctr"/>
          <a:lstStyle/>
          <a:p>
            <a:pPr marL="0" indent="0" algn="ctr">
              <a:buNone/>
            </a:pPr>
            <a:r>
              <a:rPr lang="en-US" sz="1550" b="1" dirty="0">
                <a:solidFill>
                  <a:srgbClr val="0C2C3A"/>
                </a:solidFill>
                <a:latin typeface="Manrope" pitchFamily="34" charset="0"/>
                <a:ea typeface="Manrope" pitchFamily="34" charset="-122"/>
                <a:cs typeface="Manrope" pitchFamily="34" charset="-120"/>
              </a:rPr>
              <a:t>Excellence</a:t>
            </a:r>
            <a:endParaRPr lang="en-US" sz="1550" dirty="0"/>
          </a:p>
        </p:txBody>
      </p:sp>
      <p:sp>
        <p:nvSpPr>
          <p:cNvPr id="18" name="Text 13"/>
          <p:cNvSpPr/>
          <p:nvPr/>
        </p:nvSpPr>
        <p:spPr>
          <a:xfrm>
            <a:off x="5212080" y="3456432"/>
            <a:ext cx="1700784" cy="1325880"/>
          </a:xfrm>
          <a:prstGeom prst="rect">
            <a:avLst/>
          </a:prstGeom>
          <a:noFill/>
          <a:ln/>
        </p:spPr>
        <p:txBody>
          <a:bodyPr wrap="square" lIns="0" tIns="0" rIns="0" bIns="0" rtlCol="0" anchor="ctr"/>
          <a:lstStyle/>
          <a:p>
            <a:pPr marL="0" indent="0" algn="ctr">
              <a:lnSpc>
                <a:spcPct val="114000"/>
              </a:lnSpc>
              <a:buNone/>
            </a:pPr>
            <a:r>
              <a:rPr lang="en-US" sz="1150" dirty="0">
                <a:solidFill>
                  <a:srgbClr val="6E7180"/>
                </a:solidFill>
                <a:latin typeface="Manrope" pitchFamily="34" charset="0"/>
                <a:ea typeface="Manrope" pitchFamily="34" charset="-122"/>
                <a:cs typeface="Manrope" pitchFamily="34" charset="-120"/>
              </a:rPr>
              <a:t>High standards in everything we do.</a:t>
            </a:r>
            <a:endParaRPr lang="en-US" sz="1150" dirty="0"/>
          </a:p>
        </p:txBody>
      </p:sp>
      <p:sp>
        <p:nvSpPr>
          <p:cNvPr id="19" name="Shape 14"/>
          <p:cNvSpPr/>
          <p:nvPr/>
        </p:nvSpPr>
        <p:spPr>
          <a:xfrm>
            <a:off x="7278624" y="1874520"/>
            <a:ext cx="1993392" cy="3108960"/>
          </a:xfrm>
          <a:prstGeom prst="roundRect">
            <a:avLst>
              <a:gd name="adj" fmla="val 4587"/>
            </a:avLst>
          </a:prstGeom>
          <a:solidFill>
            <a:srgbClr val="EDEFF7"/>
          </a:solidFill>
          <a:ln/>
        </p:spPr>
      </p:sp>
      <p:sp>
        <p:nvSpPr>
          <p:cNvPr id="20" name="Shape 15"/>
          <p:cNvSpPr/>
          <p:nvPr/>
        </p:nvSpPr>
        <p:spPr>
          <a:xfrm>
            <a:off x="7955280" y="2240280"/>
            <a:ext cx="640080" cy="640080"/>
          </a:xfrm>
          <a:prstGeom prst="ellipse">
            <a:avLst/>
          </a:prstGeom>
          <a:solidFill>
            <a:srgbClr val="00B6DB"/>
          </a:solidFill>
          <a:ln/>
        </p:spPr>
      </p:sp>
      <p:pic>
        <p:nvPicPr>
          <p:cNvPr id="21" name="Image 3" descr="preencoded.png"/>
          <p:cNvPicPr>
            <a:picLocks noChangeAspect="1"/>
          </p:cNvPicPr>
          <p:nvPr/>
        </p:nvPicPr>
        <p:blipFill>
          <a:blip r:embed="rId6"/>
          <a:stretch>
            <a:fillRect/>
          </a:stretch>
        </p:blipFill>
        <p:spPr>
          <a:xfrm>
            <a:off x="8110728" y="2395728"/>
            <a:ext cx="329184" cy="329184"/>
          </a:xfrm>
          <a:prstGeom prst="rect">
            <a:avLst/>
          </a:prstGeom>
        </p:spPr>
      </p:pic>
      <p:sp>
        <p:nvSpPr>
          <p:cNvPr id="22" name="Text 16"/>
          <p:cNvSpPr/>
          <p:nvPr/>
        </p:nvSpPr>
        <p:spPr>
          <a:xfrm>
            <a:off x="7388352" y="3035808"/>
            <a:ext cx="1773936" cy="384048"/>
          </a:xfrm>
          <a:prstGeom prst="rect">
            <a:avLst/>
          </a:prstGeom>
          <a:noFill/>
          <a:ln/>
        </p:spPr>
        <p:txBody>
          <a:bodyPr wrap="square" lIns="0" tIns="0" rIns="0" bIns="0" rtlCol="0" anchor="ctr"/>
          <a:lstStyle/>
          <a:p>
            <a:pPr marL="0" indent="0" algn="ctr">
              <a:buNone/>
            </a:pPr>
            <a:r>
              <a:rPr lang="en-US" sz="1550" b="1" dirty="0">
                <a:solidFill>
                  <a:srgbClr val="0C2C3A"/>
                </a:solidFill>
                <a:latin typeface="Manrope" pitchFamily="34" charset="0"/>
                <a:ea typeface="Manrope" pitchFamily="34" charset="-122"/>
                <a:cs typeface="Manrope" pitchFamily="34" charset="-120"/>
              </a:rPr>
              <a:t>Collaboration</a:t>
            </a:r>
            <a:endParaRPr lang="en-US" sz="1550" dirty="0"/>
          </a:p>
        </p:txBody>
      </p:sp>
      <p:sp>
        <p:nvSpPr>
          <p:cNvPr id="23" name="Text 17"/>
          <p:cNvSpPr/>
          <p:nvPr/>
        </p:nvSpPr>
        <p:spPr>
          <a:xfrm>
            <a:off x="7424928" y="3456432"/>
            <a:ext cx="1700784" cy="1325880"/>
          </a:xfrm>
          <a:prstGeom prst="rect">
            <a:avLst/>
          </a:prstGeom>
          <a:noFill/>
          <a:ln/>
        </p:spPr>
        <p:txBody>
          <a:bodyPr wrap="square" lIns="0" tIns="0" rIns="0" bIns="0" rtlCol="0" anchor="ctr"/>
          <a:lstStyle/>
          <a:p>
            <a:pPr marL="0" indent="0" algn="ctr">
              <a:lnSpc>
                <a:spcPct val="114000"/>
              </a:lnSpc>
              <a:buNone/>
            </a:pPr>
            <a:r>
              <a:rPr lang="en-US" sz="1150" dirty="0">
                <a:solidFill>
                  <a:srgbClr val="6E7180"/>
                </a:solidFill>
                <a:latin typeface="Manrope" pitchFamily="34" charset="0"/>
                <a:ea typeface="Manrope" pitchFamily="34" charset="-122"/>
                <a:cs typeface="Manrope" pitchFamily="34" charset="-120"/>
              </a:rPr>
              <a:t>Working as one team with clients.</a:t>
            </a:r>
            <a:endParaRPr lang="en-US" sz="1150" dirty="0"/>
          </a:p>
        </p:txBody>
      </p:sp>
      <p:sp>
        <p:nvSpPr>
          <p:cNvPr id="24" name="Shape 18"/>
          <p:cNvSpPr/>
          <p:nvPr/>
        </p:nvSpPr>
        <p:spPr>
          <a:xfrm>
            <a:off x="9491472" y="1874520"/>
            <a:ext cx="1993392" cy="3108960"/>
          </a:xfrm>
          <a:prstGeom prst="roundRect">
            <a:avLst>
              <a:gd name="adj" fmla="val 4587"/>
            </a:avLst>
          </a:prstGeom>
          <a:solidFill>
            <a:srgbClr val="EDEFF7"/>
          </a:solidFill>
          <a:ln/>
        </p:spPr>
      </p:sp>
      <p:sp>
        <p:nvSpPr>
          <p:cNvPr id="25" name="Shape 19"/>
          <p:cNvSpPr/>
          <p:nvPr/>
        </p:nvSpPr>
        <p:spPr>
          <a:xfrm>
            <a:off x="10168128" y="2240280"/>
            <a:ext cx="640080" cy="640080"/>
          </a:xfrm>
          <a:prstGeom prst="ellipse">
            <a:avLst/>
          </a:prstGeom>
          <a:solidFill>
            <a:srgbClr val="00B6DB"/>
          </a:solidFill>
          <a:ln/>
        </p:spPr>
      </p:sp>
      <p:pic>
        <p:nvPicPr>
          <p:cNvPr id="26" name="Image 4" descr="preencoded.png"/>
          <p:cNvPicPr>
            <a:picLocks noChangeAspect="1"/>
          </p:cNvPicPr>
          <p:nvPr/>
        </p:nvPicPr>
        <p:blipFill>
          <a:blip r:embed="rId7"/>
          <a:stretch>
            <a:fillRect/>
          </a:stretch>
        </p:blipFill>
        <p:spPr>
          <a:xfrm>
            <a:off x="10323576" y="2395728"/>
            <a:ext cx="329184" cy="329184"/>
          </a:xfrm>
          <a:prstGeom prst="rect">
            <a:avLst/>
          </a:prstGeom>
        </p:spPr>
      </p:pic>
      <p:sp>
        <p:nvSpPr>
          <p:cNvPr id="27" name="Text 20"/>
          <p:cNvSpPr/>
          <p:nvPr/>
        </p:nvSpPr>
        <p:spPr>
          <a:xfrm>
            <a:off x="9601200" y="3035808"/>
            <a:ext cx="1773936" cy="384048"/>
          </a:xfrm>
          <a:prstGeom prst="rect">
            <a:avLst/>
          </a:prstGeom>
          <a:noFill/>
          <a:ln/>
        </p:spPr>
        <p:txBody>
          <a:bodyPr wrap="square" lIns="0" tIns="0" rIns="0" bIns="0" rtlCol="0" anchor="ctr"/>
          <a:lstStyle/>
          <a:p>
            <a:pPr marL="0" indent="0" algn="ctr">
              <a:buNone/>
            </a:pPr>
            <a:r>
              <a:rPr lang="en-US" sz="1550" b="1" dirty="0">
                <a:solidFill>
                  <a:srgbClr val="0C2C3A"/>
                </a:solidFill>
                <a:latin typeface="Manrope" pitchFamily="34" charset="0"/>
                <a:ea typeface="Manrope" pitchFamily="34" charset="-122"/>
                <a:cs typeface="Manrope" pitchFamily="34" charset="-120"/>
              </a:rPr>
              <a:t>Agility</a:t>
            </a:r>
            <a:endParaRPr lang="en-US" sz="1550" dirty="0"/>
          </a:p>
        </p:txBody>
      </p:sp>
      <p:sp>
        <p:nvSpPr>
          <p:cNvPr id="28" name="Text 21"/>
          <p:cNvSpPr/>
          <p:nvPr/>
        </p:nvSpPr>
        <p:spPr>
          <a:xfrm>
            <a:off x="9637776" y="3456432"/>
            <a:ext cx="1700784" cy="1325880"/>
          </a:xfrm>
          <a:prstGeom prst="rect">
            <a:avLst/>
          </a:prstGeom>
          <a:noFill/>
          <a:ln/>
        </p:spPr>
        <p:txBody>
          <a:bodyPr wrap="square" lIns="0" tIns="0" rIns="0" bIns="0" rtlCol="0" anchor="ctr"/>
          <a:lstStyle/>
          <a:p>
            <a:pPr marL="0" indent="0" algn="ctr">
              <a:lnSpc>
                <a:spcPct val="114000"/>
              </a:lnSpc>
              <a:buNone/>
            </a:pPr>
            <a:r>
              <a:rPr lang="en-US" sz="1150" dirty="0">
                <a:solidFill>
                  <a:srgbClr val="6E7180"/>
                </a:solidFill>
                <a:latin typeface="Manrope" pitchFamily="34" charset="0"/>
                <a:ea typeface="Manrope" pitchFamily="34" charset="-122"/>
                <a:cs typeface="Manrope" pitchFamily="34" charset="-120"/>
              </a:rPr>
              <a:t>Responsive, quick to adapt and act.</a:t>
            </a:r>
            <a:endParaRPr lang="en-US" sz="1150" dirty="0"/>
          </a:p>
        </p:txBody>
      </p:sp>
      <p:pic>
        <p:nvPicPr>
          <p:cNvPr id="29" name="Image 5" descr="/home/claude/deck/img/mark.png"/>
          <p:cNvPicPr>
            <a:picLocks noChangeAspect="1"/>
          </p:cNvPicPr>
          <p:nvPr/>
        </p:nvPicPr>
        <p:blipFill>
          <a:blip r:embed="rId8"/>
          <a:stretch>
            <a:fillRect/>
          </a:stretch>
        </p:blipFill>
        <p:spPr>
          <a:xfrm>
            <a:off x="640080" y="6345936"/>
            <a:ext cx="292608" cy="292608"/>
          </a:xfrm>
          <a:prstGeom prst="rect">
            <a:avLst/>
          </a:prstGeom>
        </p:spPr>
      </p:pic>
      <p:sp>
        <p:nvSpPr>
          <p:cNvPr id="30" name="Text 22"/>
          <p:cNvSpPr/>
          <p:nvPr/>
        </p:nvSpPr>
        <p:spPr>
          <a:xfrm>
            <a:off x="11048695" y="6382512"/>
            <a:ext cx="548640" cy="274320"/>
          </a:xfrm>
          <a:prstGeom prst="rect">
            <a:avLst/>
          </a:prstGeom>
          <a:noFill/>
          <a:ln/>
        </p:spPr>
        <p:txBody>
          <a:bodyPr wrap="square" lIns="0" tIns="0" rIns="0" bIns="0" rtlCol="0" anchor="ctr"/>
          <a:lstStyle/>
          <a:p>
            <a:pPr marL="0" indent="0" algn="r">
              <a:buNone/>
            </a:pPr>
            <a:r>
              <a:rPr lang="en-US" sz="1000" dirty="0">
                <a:solidFill>
                  <a:srgbClr val="6E7180"/>
                </a:solidFill>
                <a:latin typeface="Manrope" pitchFamily="34" charset="0"/>
                <a:ea typeface="Manrope" pitchFamily="34" charset="-122"/>
                <a:cs typeface="Manrope"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WHY AQUALOGIC</a:t>
            </a:r>
            <a:endParaRPr lang="en-US" sz="11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marL="0" indent="0" algn="l">
              <a:buNone/>
            </a:pPr>
            <a:r>
              <a:rPr lang="en-US" sz="2900" b="1" dirty="0">
                <a:solidFill>
                  <a:srgbClr val="0C2C3A"/>
                </a:solidFill>
                <a:latin typeface="Manrope" pitchFamily="34" charset="0"/>
                <a:ea typeface="Manrope" pitchFamily="34" charset="-122"/>
                <a:cs typeface="Manrope" pitchFamily="34" charset="-120"/>
              </a:rPr>
              <a:t>What sets us apart</a:t>
            </a:r>
            <a:endParaRPr lang="en-US" sz="2900" dirty="0"/>
          </a:p>
        </p:txBody>
      </p:sp>
      <p:sp>
        <p:nvSpPr>
          <p:cNvPr id="4" name="Shape 2"/>
          <p:cNvSpPr/>
          <p:nvPr/>
        </p:nvSpPr>
        <p:spPr>
          <a:xfrm>
            <a:off x="640080" y="1691640"/>
            <a:ext cx="5257800" cy="1691640"/>
          </a:xfrm>
          <a:prstGeom prst="roundRect">
            <a:avLst>
              <a:gd name="adj" fmla="val 4865"/>
            </a:avLst>
          </a:prstGeom>
          <a:solidFill>
            <a:srgbClr val="EDEFF7"/>
          </a:solidFill>
          <a:ln/>
        </p:spPr>
      </p:sp>
      <p:sp>
        <p:nvSpPr>
          <p:cNvPr id="5" name="Text 3"/>
          <p:cNvSpPr/>
          <p:nvPr/>
        </p:nvSpPr>
        <p:spPr>
          <a:xfrm>
            <a:off x="960120" y="1947672"/>
            <a:ext cx="914400" cy="640080"/>
          </a:xfrm>
          <a:prstGeom prst="rect">
            <a:avLst/>
          </a:prstGeom>
          <a:noFill/>
          <a:ln/>
        </p:spPr>
        <p:txBody>
          <a:bodyPr wrap="square" lIns="0" tIns="0" rIns="0" bIns="0" rtlCol="0" anchor="ctr"/>
          <a:lstStyle/>
          <a:p>
            <a:pPr marL="0" indent="0">
              <a:buNone/>
            </a:pPr>
            <a:r>
              <a:rPr lang="en-US" sz="3000" b="1" dirty="0">
                <a:solidFill>
                  <a:srgbClr val="00B6DB"/>
                </a:solidFill>
                <a:latin typeface="Manrope" pitchFamily="34" charset="0"/>
                <a:ea typeface="Manrope" pitchFamily="34" charset="-122"/>
                <a:cs typeface="Manrope" pitchFamily="34" charset="-120"/>
              </a:rPr>
              <a:t>01</a:t>
            </a:r>
            <a:endParaRPr lang="en-US" sz="3000" dirty="0"/>
          </a:p>
        </p:txBody>
      </p:sp>
      <p:sp>
        <p:nvSpPr>
          <p:cNvPr id="6" name="Text 4"/>
          <p:cNvSpPr/>
          <p:nvPr/>
        </p:nvSpPr>
        <p:spPr>
          <a:xfrm>
            <a:off x="1874520" y="1929384"/>
            <a:ext cx="3840480" cy="713232"/>
          </a:xfrm>
          <a:prstGeom prst="rect">
            <a:avLst/>
          </a:prstGeom>
          <a:noFill/>
          <a:ln/>
        </p:spPr>
        <p:txBody>
          <a:bodyPr wrap="square" lIns="0" tIns="0" rIns="0" bIns="0" rtlCol="0" anchor="ctr"/>
          <a:lstStyle/>
          <a:p>
            <a:pPr marL="0" indent="0">
              <a:lnSpc>
                <a:spcPct val="105000"/>
              </a:lnSpc>
              <a:buNone/>
            </a:pPr>
            <a:r>
              <a:rPr lang="en-US" sz="1450" b="1" dirty="0">
                <a:solidFill>
                  <a:srgbClr val="0C2C3A"/>
                </a:solidFill>
                <a:latin typeface="Manrope" pitchFamily="34" charset="0"/>
                <a:ea typeface="Manrope" pitchFamily="34" charset="-122"/>
                <a:cs typeface="Manrope" pitchFamily="34" charset="-120"/>
              </a:rPr>
              <a:t>Integrated water conservation</a:t>
            </a:r>
            <a:endParaRPr lang="en-US" sz="1450" dirty="0"/>
          </a:p>
        </p:txBody>
      </p:sp>
      <p:sp>
        <p:nvSpPr>
          <p:cNvPr id="7" name="Text 5"/>
          <p:cNvSpPr/>
          <p:nvPr/>
        </p:nvSpPr>
        <p:spPr>
          <a:xfrm>
            <a:off x="1874520" y="2587752"/>
            <a:ext cx="3886200" cy="713232"/>
          </a:xfrm>
          <a:prstGeom prst="rect">
            <a:avLst/>
          </a:prstGeom>
          <a:noFill/>
          <a:ln/>
        </p:spPr>
        <p:txBody>
          <a:bodyPr wrap="square" lIns="0" tIns="0" rIns="0" bIns="0" rtlCol="0" anchor="ctr"/>
          <a:lstStyle/>
          <a:p>
            <a:pPr marL="0" indent="0">
              <a:lnSpc>
                <a:spcPct val="114000"/>
              </a:lnSpc>
              <a:buNone/>
            </a:pPr>
            <a:r>
              <a:rPr lang="en-US" sz="1150" dirty="0">
                <a:solidFill>
                  <a:srgbClr val="6E7180"/>
                </a:solidFill>
                <a:latin typeface="Manrope" pitchFamily="34" charset="0"/>
                <a:ea typeface="Manrope" pitchFamily="34" charset="-122"/>
                <a:cs typeface="Manrope" pitchFamily="34" charset="-120"/>
              </a:rPr>
              <a:t>One joined-up company helping clients manage water demand more intelligently, from source to tap.</a:t>
            </a:r>
            <a:endParaRPr lang="en-US" sz="1150" dirty="0"/>
          </a:p>
        </p:txBody>
      </p:sp>
      <p:sp>
        <p:nvSpPr>
          <p:cNvPr id="8" name="Shape 6"/>
          <p:cNvSpPr/>
          <p:nvPr/>
        </p:nvSpPr>
        <p:spPr>
          <a:xfrm>
            <a:off x="6190488" y="1691640"/>
            <a:ext cx="5257800" cy="1691640"/>
          </a:xfrm>
          <a:prstGeom prst="roundRect">
            <a:avLst>
              <a:gd name="adj" fmla="val 4865"/>
            </a:avLst>
          </a:prstGeom>
          <a:solidFill>
            <a:srgbClr val="EDEFF7"/>
          </a:solidFill>
          <a:ln/>
        </p:spPr>
      </p:sp>
      <p:sp>
        <p:nvSpPr>
          <p:cNvPr id="9" name="Text 7"/>
          <p:cNvSpPr/>
          <p:nvPr/>
        </p:nvSpPr>
        <p:spPr>
          <a:xfrm>
            <a:off x="6510528" y="1947672"/>
            <a:ext cx="914400" cy="640080"/>
          </a:xfrm>
          <a:prstGeom prst="rect">
            <a:avLst/>
          </a:prstGeom>
          <a:noFill/>
          <a:ln/>
        </p:spPr>
        <p:txBody>
          <a:bodyPr wrap="square" lIns="0" tIns="0" rIns="0" bIns="0" rtlCol="0" anchor="ctr"/>
          <a:lstStyle/>
          <a:p>
            <a:pPr marL="0" indent="0">
              <a:buNone/>
            </a:pPr>
            <a:r>
              <a:rPr lang="en-US" sz="3000" b="1" dirty="0">
                <a:solidFill>
                  <a:srgbClr val="00B6DB"/>
                </a:solidFill>
                <a:latin typeface="Manrope" pitchFamily="34" charset="0"/>
                <a:ea typeface="Manrope" pitchFamily="34" charset="-122"/>
                <a:cs typeface="Manrope" pitchFamily="34" charset="-120"/>
              </a:rPr>
              <a:t>02</a:t>
            </a:r>
            <a:endParaRPr lang="en-US" sz="3000" dirty="0"/>
          </a:p>
        </p:txBody>
      </p:sp>
      <p:sp>
        <p:nvSpPr>
          <p:cNvPr id="10" name="Text 8"/>
          <p:cNvSpPr/>
          <p:nvPr/>
        </p:nvSpPr>
        <p:spPr>
          <a:xfrm>
            <a:off x="7424928" y="1929384"/>
            <a:ext cx="3840480" cy="713232"/>
          </a:xfrm>
          <a:prstGeom prst="rect">
            <a:avLst/>
          </a:prstGeom>
          <a:noFill/>
          <a:ln/>
        </p:spPr>
        <p:txBody>
          <a:bodyPr wrap="square" lIns="0" tIns="0" rIns="0" bIns="0" rtlCol="0" anchor="ctr"/>
          <a:lstStyle/>
          <a:p>
            <a:pPr marL="0" indent="0">
              <a:lnSpc>
                <a:spcPct val="105000"/>
              </a:lnSpc>
              <a:buNone/>
            </a:pPr>
            <a:r>
              <a:rPr lang="en-US" sz="1450" b="1" dirty="0">
                <a:solidFill>
                  <a:srgbClr val="0C2C3A"/>
                </a:solidFill>
                <a:latin typeface="Manrope" pitchFamily="34" charset="0"/>
                <a:ea typeface="Manrope" pitchFamily="34" charset="-122"/>
                <a:cs typeface="Manrope" pitchFamily="34" charset="-120"/>
              </a:rPr>
              <a:t>Practical delivery that makes a measurable difference</a:t>
            </a:r>
            <a:endParaRPr lang="en-US" sz="1450" dirty="0"/>
          </a:p>
        </p:txBody>
      </p:sp>
      <p:sp>
        <p:nvSpPr>
          <p:cNvPr id="11" name="Text 9"/>
          <p:cNvSpPr/>
          <p:nvPr/>
        </p:nvSpPr>
        <p:spPr>
          <a:xfrm>
            <a:off x="7424928" y="2587752"/>
            <a:ext cx="3886200" cy="713232"/>
          </a:xfrm>
          <a:prstGeom prst="rect">
            <a:avLst/>
          </a:prstGeom>
          <a:noFill/>
          <a:ln/>
        </p:spPr>
        <p:txBody>
          <a:bodyPr wrap="square" lIns="0" tIns="0" rIns="0" bIns="0" rtlCol="0" anchor="ctr"/>
          <a:lstStyle/>
          <a:p>
            <a:pPr marL="0" indent="0">
              <a:lnSpc>
                <a:spcPct val="114000"/>
              </a:lnSpc>
              <a:buNone/>
            </a:pPr>
            <a:r>
              <a:rPr lang="en-US" sz="1150" dirty="0">
                <a:solidFill>
                  <a:srgbClr val="6E7180"/>
                </a:solidFill>
                <a:latin typeface="Manrope" pitchFamily="34" charset="0"/>
                <a:ea typeface="Manrope" pitchFamily="34" charset="-122"/>
                <a:cs typeface="Manrope" pitchFamily="34" charset="-120"/>
              </a:rPr>
              <a:t>Rooted in doing, not theorising. Real-world delivery that reduces waste and improves performance.</a:t>
            </a:r>
            <a:endParaRPr lang="en-US" sz="1150" dirty="0"/>
          </a:p>
        </p:txBody>
      </p:sp>
      <p:sp>
        <p:nvSpPr>
          <p:cNvPr id="12" name="Shape 10"/>
          <p:cNvSpPr/>
          <p:nvPr/>
        </p:nvSpPr>
        <p:spPr>
          <a:xfrm>
            <a:off x="640080" y="3611880"/>
            <a:ext cx="5257800" cy="1691640"/>
          </a:xfrm>
          <a:prstGeom prst="roundRect">
            <a:avLst>
              <a:gd name="adj" fmla="val 4865"/>
            </a:avLst>
          </a:prstGeom>
          <a:solidFill>
            <a:srgbClr val="EDEFF7"/>
          </a:solidFill>
          <a:ln/>
        </p:spPr>
      </p:sp>
      <p:sp>
        <p:nvSpPr>
          <p:cNvPr id="13" name="Text 11"/>
          <p:cNvSpPr/>
          <p:nvPr/>
        </p:nvSpPr>
        <p:spPr>
          <a:xfrm>
            <a:off x="960120" y="3867912"/>
            <a:ext cx="914400" cy="640080"/>
          </a:xfrm>
          <a:prstGeom prst="rect">
            <a:avLst/>
          </a:prstGeom>
          <a:noFill/>
          <a:ln/>
        </p:spPr>
        <p:txBody>
          <a:bodyPr wrap="square" lIns="0" tIns="0" rIns="0" bIns="0" rtlCol="0" anchor="ctr"/>
          <a:lstStyle/>
          <a:p>
            <a:pPr marL="0" indent="0">
              <a:buNone/>
            </a:pPr>
            <a:r>
              <a:rPr lang="en-US" sz="3000" b="1" dirty="0">
                <a:solidFill>
                  <a:srgbClr val="00B6DB"/>
                </a:solidFill>
                <a:latin typeface="Manrope" pitchFamily="34" charset="0"/>
                <a:ea typeface="Manrope" pitchFamily="34" charset="-122"/>
                <a:cs typeface="Manrope" pitchFamily="34" charset="-120"/>
              </a:rPr>
              <a:t>03</a:t>
            </a:r>
            <a:endParaRPr lang="en-US" sz="3000" dirty="0"/>
          </a:p>
        </p:txBody>
      </p:sp>
      <p:sp>
        <p:nvSpPr>
          <p:cNvPr id="14" name="Text 12"/>
          <p:cNvSpPr/>
          <p:nvPr/>
        </p:nvSpPr>
        <p:spPr>
          <a:xfrm>
            <a:off x="1874520" y="3849624"/>
            <a:ext cx="3840480" cy="713232"/>
          </a:xfrm>
          <a:prstGeom prst="rect">
            <a:avLst/>
          </a:prstGeom>
          <a:noFill/>
          <a:ln/>
        </p:spPr>
        <p:txBody>
          <a:bodyPr wrap="square" lIns="0" tIns="0" rIns="0" bIns="0" rtlCol="0" anchor="ctr"/>
          <a:lstStyle/>
          <a:p>
            <a:pPr marL="0" indent="0">
              <a:lnSpc>
                <a:spcPct val="105000"/>
              </a:lnSpc>
              <a:buNone/>
            </a:pPr>
            <a:r>
              <a:rPr lang="en-US" sz="1450" b="1" dirty="0">
                <a:solidFill>
                  <a:srgbClr val="0C2C3A"/>
                </a:solidFill>
                <a:latin typeface="Manrope" pitchFamily="34" charset="0"/>
                <a:ea typeface="Manrope" pitchFamily="34" charset="-122"/>
                <a:cs typeface="Manrope" pitchFamily="34" charset="-120"/>
              </a:rPr>
              <a:t>Trusted expertise with real depth</a:t>
            </a:r>
            <a:endParaRPr lang="en-US" sz="1450" dirty="0"/>
          </a:p>
        </p:txBody>
      </p:sp>
      <p:sp>
        <p:nvSpPr>
          <p:cNvPr id="15" name="Text 13"/>
          <p:cNvSpPr/>
          <p:nvPr/>
        </p:nvSpPr>
        <p:spPr>
          <a:xfrm>
            <a:off x="1874520" y="4507992"/>
            <a:ext cx="3886200" cy="713232"/>
          </a:xfrm>
          <a:prstGeom prst="rect">
            <a:avLst/>
          </a:prstGeom>
          <a:noFill/>
          <a:ln/>
        </p:spPr>
        <p:txBody>
          <a:bodyPr wrap="square" lIns="0" tIns="0" rIns="0" bIns="0" rtlCol="0" anchor="ctr"/>
          <a:lstStyle/>
          <a:p>
            <a:pPr marL="0" indent="0">
              <a:lnSpc>
                <a:spcPct val="114000"/>
              </a:lnSpc>
              <a:buNone/>
            </a:pPr>
            <a:r>
              <a:rPr lang="en-US" sz="1150" dirty="0">
                <a:solidFill>
                  <a:srgbClr val="6E7180"/>
                </a:solidFill>
                <a:latin typeface="Manrope" pitchFamily="34" charset="0"/>
                <a:ea typeface="Manrope" pitchFamily="34" charset="-122"/>
                <a:cs typeface="Manrope" pitchFamily="34" charset="-120"/>
              </a:rPr>
              <a:t>Capability built over time. Established, sector-literate and consistent, not superficial.</a:t>
            </a:r>
            <a:endParaRPr lang="en-US" sz="1150" dirty="0"/>
          </a:p>
        </p:txBody>
      </p:sp>
      <p:sp>
        <p:nvSpPr>
          <p:cNvPr id="16" name="Shape 14"/>
          <p:cNvSpPr/>
          <p:nvPr/>
        </p:nvSpPr>
        <p:spPr>
          <a:xfrm>
            <a:off x="6190488" y="3611880"/>
            <a:ext cx="5257800" cy="1691640"/>
          </a:xfrm>
          <a:prstGeom prst="roundRect">
            <a:avLst>
              <a:gd name="adj" fmla="val 4865"/>
            </a:avLst>
          </a:prstGeom>
          <a:solidFill>
            <a:srgbClr val="EDEFF7"/>
          </a:solidFill>
          <a:ln/>
        </p:spPr>
      </p:sp>
      <p:sp>
        <p:nvSpPr>
          <p:cNvPr id="17" name="Text 15"/>
          <p:cNvSpPr/>
          <p:nvPr/>
        </p:nvSpPr>
        <p:spPr>
          <a:xfrm>
            <a:off x="6510528" y="3867912"/>
            <a:ext cx="914400" cy="640080"/>
          </a:xfrm>
          <a:prstGeom prst="rect">
            <a:avLst/>
          </a:prstGeom>
          <a:noFill/>
          <a:ln/>
        </p:spPr>
        <p:txBody>
          <a:bodyPr wrap="square" lIns="0" tIns="0" rIns="0" bIns="0" rtlCol="0" anchor="ctr"/>
          <a:lstStyle/>
          <a:p>
            <a:pPr marL="0" indent="0">
              <a:buNone/>
            </a:pPr>
            <a:r>
              <a:rPr lang="en-US" sz="3000" b="1" dirty="0">
                <a:solidFill>
                  <a:srgbClr val="00B6DB"/>
                </a:solidFill>
                <a:latin typeface="Manrope" pitchFamily="34" charset="0"/>
                <a:ea typeface="Manrope" pitchFamily="34" charset="-122"/>
                <a:cs typeface="Manrope" pitchFamily="34" charset="-120"/>
              </a:rPr>
              <a:t>04</a:t>
            </a:r>
            <a:endParaRPr lang="en-US" sz="3000" dirty="0"/>
          </a:p>
        </p:txBody>
      </p:sp>
      <p:sp>
        <p:nvSpPr>
          <p:cNvPr id="18" name="Text 16"/>
          <p:cNvSpPr/>
          <p:nvPr/>
        </p:nvSpPr>
        <p:spPr>
          <a:xfrm>
            <a:off x="7424928" y="3849624"/>
            <a:ext cx="3840480" cy="713232"/>
          </a:xfrm>
          <a:prstGeom prst="rect">
            <a:avLst/>
          </a:prstGeom>
          <a:noFill/>
          <a:ln/>
        </p:spPr>
        <p:txBody>
          <a:bodyPr wrap="square" lIns="0" tIns="0" rIns="0" bIns="0" rtlCol="0" anchor="ctr"/>
          <a:lstStyle/>
          <a:p>
            <a:pPr marL="0" indent="0">
              <a:lnSpc>
                <a:spcPct val="105000"/>
              </a:lnSpc>
              <a:buNone/>
            </a:pPr>
            <a:r>
              <a:rPr lang="en-US" sz="1450" b="1" dirty="0">
                <a:solidFill>
                  <a:srgbClr val="0C2C3A"/>
                </a:solidFill>
                <a:latin typeface="Manrope" pitchFamily="34" charset="0"/>
                <a:ea typeface="Manrope" pitchFamily="34" charset="-122"/>
                <a:cs typeface="Manrope" pitchFamily="34" charset="-120"/>
              </a:rPr>
              <a:t>Agile, responsive and easy to work with</a:t>
            </a:r>
            <a:endParaRPr lang="en-US" sz="1450" dirty="0"/>
          </a:p>
        </p:txBody>
      </p:sp>
      <p:sp>
        <p:nvSpPr>
          <p:cNvPr id="19" name="Text 17"/>
          <p:cNvSpPr/>
          <p:nvPr/>
        </p:nvSpPr>
        <p:spPr>
          <a:xfrm>
            <a:off x="7424928" y="4507992"/>
            <a:ext cx="3886200" cy="713232"/>
          </a:xfrm>
          <a:prstGeom prst="rect">
            <a:avLst/>
          </a:prstGeom>
          <a:noFill/>
          <a:ln/>
        </p:spPr>
        <p:txBody>
          <a:bodyPr wrap="square" lIns="0" tIns="0" rIns="0" bIns="0" rtlCol="0" anchor="ctr"/>
          <a:lstStyle/>
          <a:p>
            <a:pPr marL="0" indent="0">
              <a:lnSpc>
                <a:spcPct val="114000"/>
              </a:lnSpc>
              <a:buNone/>
            </a:pPr>
            <a:r>
              <a:rPr lang="en-US" sz="1150" dirty="0">
                <a:solidFill>
                  <a:srgbClr val="6E7180"/>
                </a:solidFill>
                <a:latin typeface="Manrope" pitchFamily="34" charset="0"/>
                <a:ea typeface="Manrope" pitchFamily="34" charset="-122"/>
                <a:cs typeface="Manrope" pitchFamily="34" charset="-120"/>
              </a:rPr>
              <a:t>Quick to adapt, straightforward to deal with and focused on the outcome.</a:t>
            </a:r>
            <a:endParaRPr lang="en-US" sz="1150" dirty="0"/>
          </a:p>
        </p:txBody>
      </p:sp>
      <p:pic>
        <p:nvPicPr>
          <p:cNvPr id="20" name="Image 0" descr="/home/claude/deck/img/mark.png"/>
          <p:cNvPicPr>
            <a:picLocks noChangeAspect="1"/>
          </p:cNvPicPr>
          <p:nvPr/>
        </p:nvPicPr>
        <p:blipFill>
          <a:blip r:embed="rId3"/>
          <a:stretch>
            <a:fillRect/>
          </a:stretch>
        </p:blipFill>
        <p:spPr>
          <a:xfrm>
            <a:off x="640080" y="6345936"/>
            <a:ext cx="292608" cy="292608"/>
          </a:xfrm>
          <a:prstGeom prst="rect">
            <a:avLst/>
          </a:prstGeom>
        </p:spPr>
      </p:pic>
      <p:sp>
        <p:nvSpPr>
          <p:cNvPr id="21" name="Text 18"/>
          <p:cNvSpPr/>
          <p:nvPr/>
        </p:nvSpPr>
        <p:spPr>
          <a:xfrm>
            <a:off x="11048695" y="6382512"/>
            <a:ext cx="548640" cy="274320"/>
          </a:xfrm>
          <a:prstGeom prst="rect">
            <a:avLst/>
          </a:prstGeom>
          <a:noFill/>
          <a:ln/>
        </p:spPr>
        <p:txBody>
          <a:bodyPr wrap="square" lIns="0" tIns="0" rIns="0" bIns="0" rtlCol="0" anchor="ctr"/>
          <a:lstStyle/>
          <a:p>
            <a:pPr marL="0" indent="0" algn="r">
              <a:buNone/>
            </a:pPr>
            <a:r>
              <a:rPr lang="en-US" sz="1000" dirty="0">
                <a:solidFill>
                  <a:srgbClr val="6E7180"/>
                </a:solidFill>
                <a:latin typeface="Manrope" pitchFamily="34" charset="0"/>
                <a:ea typeface="Manrope" pitchFamily="34" charset="-122"/>
                <a:cs typeface="Manrope"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2C3A"/>
        </a:solidFill>
        <a:effectLst/>
      </p:bgPr>
    </p:bg>
    <p:spTree>
      <p:nvGrpSpPr>
        <p:cNvPr id="1" name=""/>
        <p:cNvGrpSpPr/>
        <p:nvPr/>
      </p:nvGrpSpPr>
      <p:grpSpPr>
        <a:xfrm>
          <a:off x="0" y="0"/>
          <a:ext cx="0" cy="0"/>
          <a:chOff x="0" y="0"/>
          <a:chExt cx="0" cy="0"/>
        </a:xfrm>
      </p:grpSpPr>
      <p:pic>
        <p:nvPicPr>
          <p:cNvPr id="2" name="Image 0" descr="/home/claude/deck/img/mark.png"/>
          <p:cNvPicPr>
            <a:picLocks noChangeAspect="1"/>
          </p:cNvPicPr>
          <p:nvPr/>
        </p:nvPicPr>
        <p:blipFill>
          <a:blip r:embed="rId3">
            <a:alphaModFix amt="12000"/>
          </a:blip>
          <a:stretch>
            <a:fillRect/>
          </a:stretch>
        </p:blipFill>
        <p:spPr>
          <a:xfrm>
            <a:off x="8869680" y="3108960"/>
            <a:ext cx="5120640" cy="5120640"/>
          </a:xfrm>
          <a:prstGeom prst="rect">
            <a:avLst/>
          </a:prstGeom>
        </p:spPr>
      </p:pic>
      <p:sp>
        <p:nvSpPr>
          <p:cNvPr id="3" name="Text 0"/>
          <p:cNvSpPr/>
          <p:nvPr/>
        </p:nvSpPr>
        <p:spPr>
          <a:xfrm>
            <a:off x="640080" y="384048"/>
            <a:ext cx="10911535" cy="274320"/>
          </a:xfrm>
          <a:prstGeom prst="rect">
            <a:avLst/>
          </a:prstGeom>
          <a:noFill/>
          <a:ln/>
        </p:spPr>
        <p:txBody>
          <a:bodyPr wrap="square" lIns="0" tIns="0" rIns="0" bIns="0" rtlCol="0" anchor="ctr"/>
          <a:lstStyle/>
          <a:p>
            <a:pPr marL="0" indent="0">
              <a:buNone/>
            </a:pPr>
            <a:r>
              <a:rPr lang="en-US" sz="1100" b="1" kern="0" spc="200" dirty="0">
                <a:solidFill>
                  <a:srgbClr val="6AC2D8"/>
                </a:solidFill>
                <a:latin typeface="Manrope" pitchFamily="34" charset="0"/>
                <a:ea typeface="Manrope" pitchFamily="34" charset="-122"/>
                <a:cs typeface="Manrope" pitchFamily="34" charset="-120"/>
              </a:rPr>
              <a:t>PROOF</a:t>
            </a:r>
            <a:endParaRPr lang="en-US" sz="1100" dirty="0"/>
          </a:p>
        </p:txBody>
      </p:sp>
      <p:sp>
        <p:nvSpPr>
          <p:cNvPr id="4" name="Text 1"/>
          <p:cNvSpPr/>
          <p:nvPr/>
        </p:nvSpPr>
        <p:spPr>
          <a:xfrm>
            <a:off x="640080" y="457200"/>
            <a:ext cx="10911535" cy="777240"/>
          </a:xfrm>
          <a:prstGeom prst="rect">
            <a:avLst/>
          </a:prstGeom>
          <a:noFill/>
          <a:ln/>
        </p:spPr>
        <p:txBody>
          <a:bodyPr wrap="square" lIns="0" tIns="0" rIns="0" bIns="0" rtlCol="0" anchor="ctr"/>
          <a:lstStyle/>
          <a:p>
            <a:pPr marL="0" indent="0" algn="l">
              <a:buNone/>
            </a:pPr>
            <a:r>
              <a:rPr lang="en-US" sz="2900" b="1" dirty="0">
                <a:solidFill>
                  <a:srgbClr val="FFFFFF"/>
                </a:solidFill>
                <a:latin typeface="Manrope" pitchFamily="34" charset="0"/>
                <a:ea typeface="Manrope" pitchFamily="34" charset="-122"/>
                <a:cs typeface="Manrope" pitchFamily="34" charset="-120"/>
              </a:rPr>
              <a:t>Proven impact</a:t>
            </a:r>
            <a:endParaRPr lang="en-US" sz="2900" dirty="0"/>
          </a:p>
        </p:txBody>
      </p:sp>
      <p:sp>
        <p:nvSpPr>
          <p:cNvPr id="5" name="Text 2"/>
          <p:cNvSpPr/>
          <p:nvPr/>
        </p:nvSpPr>
        <p:spPr>
          <a:xfrm>
            <a:off x="640080" y="2286000"/>
            <a:ext cx="2651760" cy="1005840"/>
          </a:xfrm>
          <a:prstGeom prst="rect">
            <a:avLst/>
          </a:prstGeom>
          <a:noFill/>
          <a:ln/>
        </p:spPr>
        <p:txBody>
          <a:bodyPr wrap="square" lIns="0" tIns="0" rIns="0" bIns="0" rtlCol="0" anchor="ctr"/>
          <a:lstStyle/>
          <a:p>
            <a:pPr marL="0" indent="0">
              <a:buNone/>
            </a:pPr>
            <a:r>
              <a:rPr lang="en-US" sz="5000" b="1" dirty="0">
                <a:solidFill>
                  <a:srgbClr val="00B6DB"/>
                </a:solidFill>
                <a:latin typeface="Manrope" pitchFamily="34" charset="0"/>
                <a:ea typeface="Manrope" pitchFamily="34" charset="-122"/>
                <a:cs typeface="Manrope" pitchFamily="34" charset="-120"/>
              </a:rPr>
              <a:t>90+</a:t>
            </a:r>
            <a:r>
              <a:rPr lang="en-US" sz="2000" b="1" dirty="0">
                <a:solidFill>
                  <a:srgbClr val="6AC2D8"/>
                </a:solidFill>
                <a:latin typeface="Manrope" pitchFamily="34" charset="0"/>
                <a:ea typeface="Manrope" pitchFamily="34" charset="-122"/>
                <a:cs typeface="Manrope" pitchFamily="34" charset="-120"/>
              </a:rPr>
              <a:t> Ml/d</a:t>
            </a:r>
            <a:endParaRPr lang="en-US" sz="5000" dirty="0"/>
          </a:p>
        </p:txBody>
      </p:sp>
      <p:sp>
        <p:nvSpPr>
          <p:cNvPr id="6" name="Text 3"/>
          <p:cNvSpPr/>
          <p:nvPr/>
        </p:nvSpPr>
        <p:spPr>
          <a:xfrm>
            <a:off x="640080" y="3429000"/>
            <a:ext cx="2468880" cy="1463040"/>
          </a:xfrm>
          <a:prstGeom prst="rect">
            <a:avLst/>
          </a:prstGeom>
          <a:noFill/>
          <a:ln/>
        </p:spPr>
        <p:txBody>
          <a:bodyPr wrap="square" lIns="0" tIns="0" rIns="0" bIns="0" rtlCol="0" anchor="ctr"/>
          <a:lstStyle/>
          <a:p>
            <a:pPr marL="0" indent="0">
              <a:lnSpc>
                <a:spcPct val="118000"/>
              </a:lnSpc>
              <a:buNone/>
            </a:pPr>
            <a:r>
              <a:rPr lang="en-US" sz="1350" dirty="0">
                <a:solidFill>
                  <a:srgbClr val="FFFFFF"/>
                </a:solidFill>
                <a:latin typeface="Manrope" pitchFamily="34" charset="0"/>
                <a:ea typeface="Manrope" pitchFamily="34" charset="-122"/>
                <a:cs typeface="Manrope" pitchFamily="34" charset="-120"/>
              </a:rPr>
              <a:t>leakage savings delivered in a single year</a:t>
            </a:r>
            <a:endParaRPr lang="en-US" sz="1350" dirty="0"/>
          </a:p>
        </p:txBody>
      </p:sp>
      <p:sp>
        <p:nvSpPr>
          <p:cNvPr id="7" name="Text 4"/>
          <p:cNvSpPr/>
          <p:nvPr/>
        </p:nvSpPr>
        <p:spPr>
          <a:xfrm>
            <a:off x="3429000" y="2286000"/>
            <a:ext cx="2651760" cy="1005840"/>
          </a:xfrm>
          <a:prstGeom prst="rect">
            <a:avLst/>
          </a:prstGeom>
          <a:noFill/>
          <a:ln/>
        </p:spPr>
        <p:txBody>
          <a:bodyPr wrap="square" lIns="0" tIns="0" rIns="0" bIns="0" rtlCol="0" anchor="ctr"/>
          <a:lstStyle/>
          <a:p>
            <a:pPr marL="0" indent="0">
              <a:buNone/>
            </a:pPr>
            <a:r>
              <a:rPr lang="en-US" sz="5000" b="1" dirty="0">
                <a:solidFill>
                  <a:srgbClr val="00B6DB"/>
                </a:solidFill>
                <a:latin typeface="Manrope" pitchFamily="34" charset="0"/>
                <a:ea typeface="Manrope" pitchFamily="34" charset="-122"/>
                <a:cs typeface="Manrope" pitchFamily="34" charset="-120"/>
              </a:rPr>
              <a:t>130k+</a:t>
            </a:r>
            <a:endParaRPr lang="en-US" sz="5000" dirty="0"/>
          </a:p>
        </p:txBody>
      </p:sp>
      <p:sp>
        <p:nvSpPr>
          <p:cNvPr id="8" name="Text 5"/>
          <p:cNvSpPr/>
          <p:nvPr/>
        </p:nvSpPr>
        <p:spPr>
          <a:xfrm>
            <a:off x="3429000" y="3429000"/>
            <a:ext cx="2468880" cy="1463040"/>
          </a:xfrm>
          <a:prstGeom prst="rect">
            <a:avLst/>
          </a:prstGeom>
          <a:noFill/>
          <a:ln/>
        </p:spPr>
        <p:txBody>
          <a:bodyPr wrap="square" lIns="0" tIns="0" rIns="0" bIns="0" rtlCol="0" anchor="ctr"/>
          <a:lstStyle/>
          <a:p>
            <a:pPr marL="0" indent="0">
              <a:lnSpc>
                <a:spcPct val="118000"/>
              </a:lnSpc>
              <a:buNone/>
            </a:pPr>
            <a:r>
              <a:rPr lang="en-US" sz="1350" dirty="0">
                <a:solidFill>
                  <a:srgbClr val="FFFFFF"/>
                </a:solidFill>
                <a:latin typeface="Manrope" pitchFamily="34" charset="0"/>
                <a:ea typeface="Manrope" pitchFamily="34" charset="-122"/>
                <a:cs typeface="Manrope" pitchFamily="34" charset="-120"/>
              </a:rPr>
              <a:t>smart meters installed across the group</a:t>
            </a:r>
            <a:endParaRPr lang="en-US" sz="1350" dirty="0"/>
          </a:p>
        </p:txBody>
      </p:sp>
      <p:sp>
        <p:nvSpPr>
          <p:cNvPr id="9" name="Text 6"/>
          <p:cNvSpPr/>
          <p:nvPr/>
        </p:nvSpPr>
        <p:spPr>
          <a:xfrm>
            <a:off x="6217920" y="2286000"/>
            <a:ext cx="2651760" cy="1005840"/>
          </a:xfrm>
          <a:prstGeom prst="rect">
            <a:avLst/>
          </a:prstGeom>
          <a:noFill/>
          <a:ln/>
        </p:spPr>
        <p:txBody>
          <a:bodyPr wrap="square" lIns="0" tIns="0" rIns="0" bIns="0" rtlCol="0" anchor="ctr"/>
          <a:lstStyle/>
          <a:p>
            <a:pPr marL="0" indent="0">
              <a:buNone/>
            </a:pPr>
            <a:r>
              <a:rPr lang="en-US" sz="5000" b="1" dirty="0">
                <a:solidFill>
                  <a:srgbClr val="00B6DB"/>
                </a:solidFill>
                <a:latin typeface="Manrope" pitchFamily="34" charset="0"/>
                <a:ea typeface="Manrope" pitchFamily="34" charset="-122"/>
                <a:cs typeface="Manrope" pitchFamily="34" charset="-120"/>
              </a:rPr>
              <a:t>200</a:t>
            </a:r>
            <a:endParaRPr lang="en-US" sz="5000" dirty="0"/>
          </a:p>
        </p:txBody>
      </p:sp>
      <p:sp>
        <p:nvSpPr>
          <p:cNvPr id="10" name="Text 7"/>
          <p:cNvSpPr/>
          <p:nvPr/>
        </p:nvSpPr>
        <p:spPr>
          <a:xfrm>
            <a:off x="6217920" y="3429000"/>
            <a:ext cx="2468880" cy="1463040"/>
          </a:xfrm>
          <a:prstGeom prst="rect">
            <a:avLst/>
          </a:prstGeom>
          <a:noFill/>
          <a:ln/>
        </p:spPr>
        <p:txBody>
          <a:bodyPr wrap="square" lIns="0" tIns="0" rIns="0" bIns="0" rtlCol="0" anchor="ctr"/>
          <a:lstStyle/>
          <a:p>
            <a:pPr marL="0" indent="0">
              <a:lnSpc>
                <a:spcPct val="118000"/>
              </a:lnSpc>
              <a:buNone/>
            </a:pPr>
            <a:r>
              <a:rPr lang="en-US" sz="1350" dirty="0">
                <a:solidFill>
                  <a:srgbClr val="FFFFFF"/>
                </a:solidFill>
                <a:latin typeface="Manrope" pitchFamily="34" charset="0"/>
                <a:ea typeface="Manrope" pitchFamily="34" charset="-122"/>
                <a:cs typeface="Manrope" pitchFamily="34" charset="-120"/>
              </a:rPr>
              <a:t>trained field personnel nationwide</a:t>
            </a:r>
            <a:endParaRPr lang="en-US" sz="1350" dirty="0"/>
          </a:p>
        </p:txBody>
      </p:sp>
      <p:sp>
        <p:nvSpPr>
          <p:cNvPr id="11" name="Text 8"/>
          <p:cNvSpPr/>
          <p:nvPr/>
        </p:nvSpPr>
        <p:spPr>
          <a:xfrm>
            <a:off x="9006840" y="2286000"/>
            <a:ext cx="2651760" cy="1005840"/>
          </a:xfrm>
          <a:prstGeom prst="rect">
            <a:avLst/>
          </a:prstGeom>
          <a:noFill/>
          <a:ln/>
        </p:spPr>
        <p:txBody>
          <a:bodyPr wrap="square" lIns="0" tIns="0" rIns="0" bIns="0" rtlCol="0" anchor="ctr"/>
          <a:lstStyle/>
          <a:p>
            <a:pPr marL="0" indent="0">
              <a:buNone/>
            </a:pPr>
            <a:r>
              <a:rPr lang="en-US" sz="5000" b="1" dirty="0">
                <a:solidFill>
                  <a:srgbClr val="00B6DB"/>
                </a:solidFill>
                <a:latin typeface="Manrope" pitchFamily="34" charset="0"/>
                <a:ea typeface="Manrope" pitchFamily="34" charset="-122"/>
                <a:cs typeface="Manrope" pitchFamily="34" charset="-120"/>
              </a:rPr>
              <a:t>4</a:t>
            </a:r>
            <a:r>
              <a:rPr lang="en-US" sz="2000" b="1" dirty="0">
                <a:solidFill>
                  <a:srgbClr val="6AC2D8"/>
                </a:solidFill>
                <a:latin typeface="Manrope" pitchFamily="34" charset="0"/>
                <a:ea typeface="Manrope" pitchFamily="34" charset="-122"/>
                <a:cs typeface="Manrope" pitchFamily="34" charset="-120"/>
              </a:rPr>
              <a:t> ISO</a:t>
            </a:r>
            <a:endParaRPr lang="en-US" sz="5000" dirty="0"/>
          </a:p>
        </p:txBody>
      </p:sp>
      <p:sp>
        <p:nvSpPr>
          <p:cNvPr id="12" name="Text 9"/>
          <p:cNvSpPr/>
          <p:nvPr/>
        </p:nvSpPr>
        <p:spPr>
          <a:xfrm>
            <a:off x="9006840" y="3429000"/>
            <a:ext cx="2468880" cy="1463040"/>
          </a:xfrm>
          <a:prstGeom prst="rect">
            <a:avLst/>
          </a:prstGeom>
          <a:noFill/>
          <a:ln/>
        </p:spPr>
        <p:txBody>
          <a:bodyPr wrap="square" lIns="0" tIns="0" rIns="0" bIns="0" rtlCol="0" anchor="ctr"/>
          <a:lstStyle/>
          <a:p>
            <a:pPr marL="0" indent="0">
              <a:lnSpc>
                <a:spcPct val="118000"/>
              </a:lnSpc>
              <a:buNone/>
            </a:pPr>
            <a:r>
              <a:rPr lang="en-US" sz="1350" dirty="0">
                <a:solidFill>
                  <a:srgbClr val="FFFFFF"/>
                </a:solidFill>
                <a:latin typeface="Manrope" pitchFamily="34" charset="0"/>
                <a:ea typeface="Manrope" pitchFamily="34" charset="-122"/>
                <a:cs typeface="Manrope" pitchFamily="34" charset="-120"/>
              </a:rPr>
              <a:t>accreditations: 9001 · 14001 · 45001 · 27001</a:t>
            </a:r>
            <a:endParaRPr lang="en-US" sz="1350" dirty="0"/>
          </a:p>
        </p:txBody>
      </p:sp>
      <p:pic>
        <p:nvPicPr>
          <p:cNvPr id="13" name="Image 1" descr="/home/claude/deck/img/mark.png"/>
          <p:cNvPicPr>
            <a:picLocks noChangeAspect="1"/>
          </p:cNvPicPr>
          <p:nvPr/>
        </p:nvPicPr>
        <p:blipFill>
          <a:blip r:embed="rId3"/>
          <a:stretch>
            <a:fillRect/>
          </a:stretch>
        </p:blipFill>
        <p:spPr>
          <a:xfrm>
            <a:off x="640080" y="6345936"/>
            <a:ext cx="292608" cy="292608"/>
          </a:xfrm>
          <a:prstGeom prst="rect">
            <a:avLst/>
          </a:prstGeom>
        </p:spPr>
      </p:pic>
      <p:sp>
        <p:nvSpPr>
          <p:cNvPr id="14" name="Text 10"/>
          <p:cNvSpPr/>
          <p:nvPr/>
        </p:nvSpPr>
        <p:spPr>
          <a:xfrm>
            <a:off x="11048695" y="6382512"/>
            <a:ext cx="548640" cy="274320"/>
          </a:xfrm>
          <a:prstGeom prst="rect">
            <a:avLst/>
          </a:prstGeom>
          <a:noFill/>
          <a:ln/>
        </p:spPr>
        <p:txBody>
          <a:bodyPr wrap="square" lIns="0" tIns="0" rIns="0" bIns="0" rtlCol="0" anchor="ctr"/>
          <a:lstStyle/>
          <a:p>
            <a:pPr marL="0" indent="0" algn="r">
              <a:buNone/>
            </a:pPr>
            <a:r>
              <a:rPr lang="en-US" sz="1000" dirty="0">
                <a:solidFill>
                  <a:srgbClr val="BCBFCC"/>
                </a:solidFill>
                <a:latin typeface="Manrope" pitchFamily="34" charset="0"/>
                <a:ea typeface="Manrope" pitchFamily="34" charset="-122"/>
                <a:cs typeface="Manrope"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2C3A"/>
        </a:solidFill>
        <a:effectLst/>
      </p:bgPr>
    </p:bg>
    <p:spTree>
      <p:nvGrpSpPr>
        <p:cNvPr id="1" name=""/>
        <p:cNvGrpSpPr/>
        <p:nvPr/>
      </p:nvGrpSpPr>
      <p:grpSpPr>
        <a:xfrm>
          <a:off x="0" y="0"/>
          <a:ext cx="0" cy="0"/>
          <a:chOff x="0" y="0"/>
          <a:chExt cx="0" cy="0"/>
        </a:xfrm>
      </p:grpSpPr>
      <p:pic>
        <p:nvPicPr>
          <p:cNvPr id="2" name="Image 0" descr="/home/claude/deck/img/mark.png"/>
          <p:cNvPicPr>
            <a:picLocks noChangeAspect="1"/>
          </p:cNvPicPr>
          <p:nvPr/>
        </p:nvPicPr>
        <p:blipFill>
          <a:blip r:embed="rId3">
            <a:alphaModFix amt="12000"/>
          </a:blip>
          <a:stretch>
            <a:fillRect/>
          </a:stretch>
        </p:blipFill>
        <p:spPr>
          <a:xfrm>
            <a:off x="8869680" y="3108960"/>
            <a:ext cx="5120640" cy="5120640"/>
          </a:xfrm>
          <a:prstGeom prst="rect">
            <a:avLst/>
          </a:prstGeom>
        </p:spPr>
      </p:pic>
      <p:sp>
        <p:nvSpPr>
          <p:cNvPr id="3" name="Text 0"/>
          <p:cNvSpPr/>
          <p:nvPr/>
        </p:nvSpPr>
        <p:spPr>
          <a:xfrm>
            <a:off x="594360" y="640080"/>
            <a:ext cx="1371600" cy="1371600"/>
          </a:xfrm>
          <a:prstGeom prst="rect">
            <a:avLst/>
          </a:prstGeom>
          <a:noFill/>
          <a:ln/>
        </p:spPr>
        <p:txBody>
          <a:bodyPr wrap="square" lIns="0" tIns="0" rIns="0" bIns="0" rtlCol="0" anchor="ctr"/>
          <a:lstStyle/>
          <a:p>
            <a:pPr marL="0" indent="0">
              <a:buNone/>
            </a:pPr>
            <a:r>
              <a:rPr lang="en-US" sz="12000" b="1" dirty="0">
                <a:solidFill>
                  <a:srgbClr val="00B6DB"/>
                </a:solidFill>
                <a:latin typeface="Manrope" pitchFamily="34" charset="0"/>
                <a:ea typeface="Manrope" pitchFamily="34" charset="-122"/>
                <a:cs typeface="Manrope" pitchFamily="34" charset="-120"/>
              </a:rPr>
              <a:t>“</a:t>
            </a:r>
            <a:endParaRPr lang="en-US" sz="12000" dirty="0"/>
          </a:p>
        </p:txBody>
      </p:sp>
      <p:sp>
        <p:nvSpPr>
          <p:cNvPr id="4" name="Text 1"/>
          <p:cNvSpPr/>
          <p:nvPr/>
        </p:nvSpPr>
        <p:spPr>
          <a:xfrm>
            <a:off x="640080" y="1965960"/>
            <a:ext cx="9875520" cy="2377440"/>
          </a:xfrm>
          <a:prstGeom prst="rect">
            <a:avLst/>
          </a:prstGeom>
          <a:noFill/>
          <a:ln/>
        </p:spPr>
        <p:txBody>
          <a:bodyPr wrap="square" lIns="0" tIns="0" rIns="0" bIns="0" rtlCol="0" anchor="ctr"/>
          <a:lstStyle/>
          <a:p>
            <a:pPr marL="0" indent="0">
              <a:lnSpc>
                <a:spcPct val="112000"/>
              </a:lnSpc>
              <a:buNone/>
            </a:pPr>
            <a:r>
              <a:rPr lang="en-US" sz="2700" b="1" dirty="0">
                <a:solidFill>
                  <a:srgbClr val="FFFFFF"/>
                </a:solidFill>
                <a:latin typeface="Manrope" pitchFamily="34" charset="0"/>
                <a:ea typeface="Manrope" pitchFamily="34" charset="-122"/>
                <a:cs typeface="Manrope" pitchFamily="34" charset="-120"/>
              </a:rPr>
              <a:t>Lorem ipsum dolor sit amet, consectetur adipiscing elit. </a:t>
            </a:r>
            <a:r>
              <a:rPr lang="en-US" sz="2700" b="1" dirty="0">
                <a:solidFill>
                  <a:srgbClr val="00B6DB"/>
                </a:solidFill>
                <a:latin typeface="Manrope" pitchFamily="34" charset="0"/>
                <a:ea typeface="Manrope" pitchFamily="34" charset="-122"/>
                <a:cs typeface="Manrope" pitchFamily="34" charset="-120"/>
              </a:rPr>
              <a:t>Sed do eiusmod tempor incididunt ut labore</a:t>
            </a:r>
            <a:r>
              <a:rPr lang="en-US" sz="2700" b="1" dirty="0">
                <a:solidFill>
                  <a:srgbClr val="FFFFFF"/>
                </a:solidFill>
                <a:latin typeface="Manrope" pitchFamily="34" charset="0"/>
                <a:ea typeface="Manrope" pitchFamily="34" charset="-122"/>
                <a:cs typeface="Manrope" pitchFamily="34" charset="-120"/>
              </a:rPr>
              <a:t> et dolore magna aliqua.</a:t>
            </a:r>
            <a:endParaRPr lang="en-US" sz="2700" dirty="0"/>
          </a:p>
        </p:txBody>
      </p:sp>
      <p:sp>
        <p:nvSpPr>
          <p:cNvPr id="5" name="Text 2"/>
          <p:cNvSpPr/>
          <p:nvPr/>
        </p:nvSpPr>
        <p:spPr>
          <a:xfrm>
            <a:off x="640080" y="4709160"/>
            <a:ext cx="8229600" cy="457200"/>
          </a:xfrm>
          <a:prstGeom prst="rect">
            <a:avLst/>
          </a:prstGeom>
          <a:noFill/>
          <a:ln/>
        </p:spPr>
        <p:txBody>
          <a:bodyPr wrap="square" lIns="0" tIns="0" rIns="0" bIns="0" rtlCol="0" anchor="ctr"/>
          <a:lstStyle/>
          <a:p>
            <a:pPr marL="0" indent="0">
              <a:buNone/>
            </a:pPr>
            <a:r>
              <a:rPr lang="en-US" sz="1500" dirty="0">
                <a:solidFill>
                  <a:srgbClr val="6AC2D8"/>
                </a:solidFill>
                <a:latin typeface="Manrope" pitchFamily="34" charset="0"/>
                <a:ea typeface="Manrope" pitchFamily="34" charset="-122"/>
                <a:cs typeface="Manrope" pitchFamily="34" charset="-120"/>
              </a:rPr>
              <a:t>[Name], [Job title], [Organisation]</a:t>
            </a:r>
            <a:endParaRPr lang="en-US" sz="1500" dirty="0"/>
          </a:p>
        </p:txBody>
      </p:sp>
      <p:pic>
        <p:nvPicPr>
          <p:cNvPr id="6" name="Image 1" descr="/home/claude/deck/img/mark.png"/>
          <p:cNvPicPr>
            <a:picLocks noChangeAspect="1"/>
          </p:cNvPicPr>
          <p:nvPr/>
        </p:nvPicPr>
        <p:blipFill>
          <a:blip r:embed="rId3"/>
          <a:stretch>
            <a:fillRect/>
          </a:stretch>
        </p:blipFill>
        <p:spPr>
          <a:xfrm>
            <a:off x="640080" y="6345936"/>
            <a:ext cx="292608" cy="292608"/>
          </a:xfrm>
          <a:prstGeom prst="rect">
            <a:avLst/>
          </a:prstGeom>
        </p:spPr>
      </p:pic>
      <p:sp>
        <p:nvSpPr>
          <p:cNvPr id="7" name="Text 3"/>
          <p:cNvSpPr/>
          <p:nvPr/>
        </p:nvSpPr>
        <p:spPr>
          <a:xfrm>
            <a:off x="11048695" y="6382512"/>
            <a:ext cx="548640" cy="274320"/>
          </a:xfrm>
          <a:prstGeom prst="rect">
            <a:avLst/>
          </a:prstGeom>
          <a:noFill/>
          <a:ln/>
        </p:spPr>
        <p:txBody>
          <a:bodyPr wrap="square" lIns="0" tIns="0" rIns="0" bIns="0" rtlCol="0" anchor="ctr"/>
          <a:lstStyle/>
          <a:p>
            <a:pPr marL="0" indent="0" algn="r">
              <a:buNone/>
            </a:pPr>
            <a:r>
              <a:rPr lang="en-US" sz="1000" dirty="0">
                <a:solidFill>
                  <a:srgbClr val="BCBFCC"/>
                </a:solidFill>
                <a:latin typeface="Manrope" pitchFamily="34" charset="0"/>
                <a:ea typeface="Manrope" pitchFamily="34" charset="-122"/>
                <a:cs typeface="Manrope"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home/claude/deck/img/div_proof.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C2C3A">
              <a:alpha val="60000"/>
            </a:srgbClr>
          </a:solidFill>
          <a:ln/>
        </p:spPr>
      </p:sp>
      <p:pic>
        <p:nvPicPr>
          <p:cNvPr id="4" name="Image 1" descr="/home/claude/deck/img/logo_rev.png"/>
          <p:cNvPicPr>
            <a:picLocks noChangeAspect="1"/>
          </p:cNvPicPr>
          <p:nvPr/>
        </p:nvPicPr>
        <p:blipFill>
          <a:blip r:embed="rId4"/>
          <a:stretch>
            <a:fillRect/>
          </a:stretch>
        </p:blipFill>
        <p:spPr>
          <a:xfrm>
            <a:off x="640080" y="640080"/>
            <a:ext cx="1691640" cy="556461"/>
          </a:xfrm>
          <a:prstGeom prst="rect">
            <a:avLst/>
          </a:prstGeom>
        </p:spPr>
      </p:pic>
      <p:sp>
        <p:nvSpPr>
          <p:cNvPr id="5" name="Text 1"/>
          <p:cNvSpPr/>
          <p:nvPr/>
        </p:nvSpPr>
        <p:spPr>
          <a:xfrm>
            <a:off x="640080" y="2240280"/>
            <a:ext cx="2743200" cy="1097280"/>
          </a:xfrm>
          <a:prstGeom prst="rect">
            <a:avLst/>
          </a:prstGeom>
          <a:noFill/>
          <a:ln/>
        </p:spPr>
        <p:txBody>
          <a:bodyPr wrap="square" lIns="0" tIns="0" rIns="0" bIns="0" rtlCol="0" anchor="ctr"/>
          <a:lstStyle/>
          <a:p>
            <a:pPr marL="0" indent="0">
              <a:buNone/>
            </a:pPr>
            <a:r>
              <a:rPr lang="en-US" sz="6000" b="1" dirty="0">
                <a:solidFill>
                  <a:srgbClr val="00B6DB"/>
                </a:solidFill>
                <a:latin typeface="Manrope" pitchFamily="34" charset="0"/>
                <a:ea typeface="Manrope" pitchFamily="34" charset="-122"/>
                <a:cs typeface="Manrope" pitchFamily="34" charset="-120"/>
              </a:rPr>
              <a:t>04</a:t>
            </a:r>
            <a:endParaRPr lang="en-US" sz="6000" dirty="0"/>
          </a:p>
        </p:txBody>
      </p:sp>
      <p:sp>
        <p:nvSpPr>
          <p:cNvPr id="6" name="Text 2"/>
          <p:cNvSpPr/>
          <p:nvPr/>
        </p:nvSpPr>
        <p:spPr>
          <a:xfrm>
            <a:off x="640080" y="3383280"/>
            <a:ext cx="7315200" cy="822960"/>
          </a:xfrm>
          <a:prstGeom prst="rect">
            <a:avLst/>
          </a:prstGeom>
          <a:noFill/>
          <a:ln/>
        </p:spPr>
        <p:txBody>
          <a:bodyPr wrap="square" lIns="0" tIns="0" rIns="0" bIns="0" rtlCol="0" anchor="ctr"/>
          <a:lstStyle/>
          <a:p>
            <a:pPr marL="0" indent="0">
              <a:buNone/>
            </a:pPr>
            <a:r>
              <a:rPr lang="en-US" sz="3800" b="1" dirty="0">
                <a:solidFill>
                  <a:srgbClr val="FFFFFF"/>
                </a:solidFill>
                <a:latin typeface="Manrope" pitchFamily="34" charset="0"/>
                <a:ea typeface="Manrope" pitchFamily="34" charset="-122"/>
                <a:cs typeface="Manrope" pitchFamily="34" charset="-120"/>
              </a:rPr>
              <a:t>How we work</a:t>
            </a:r>
            <a:endParaRPr lang="en-US" sz="3800" dirty="0"/>
          </a:p>
        </p:txBody>
      </p:sp>
      <p:sp>
        <p:nvSpPr>
          <p:cNvPr id="7" name="Text 3"/>
          <p:cNvSpPr/>
          <p:nvPr/>
        </p:nvSpPr>
        <p:spPr>
          <a:xfrm>
            <a:off x="640080" y="4343400"/>
            <a:ext cx="6035040" cy="822960"/>
          </a:xfrm>
          <a:prstGeom prst="rect">
            <a:avLst/>
          </a:prstGeom>
          <a:noFill/>
          <a:ln/>
        </p:spPr>
        <p:txBody>
          <a:bodyPr wrap="square" lIns="0" tIns="0" rIns="0" bIns="0" rtlCol="0" anchor="ctr"/>
          <a:lstStyle/>
          <a:p>
            <a:pPr marL="0" indent="0">
              <a:lnSpc>
                <a:spcPct val="115000"/>
              </a:lnSpc>
              <a:buNone/>
            </a:pPr>
            <a:r>
              <a:rPr lang="en-US" sz="1550" dirty="0">
                <a:solidFill>
                  <a:srgbClr val="6AC2D8"/>
                </a:solidFill>
                <a:latin typeface="Manrope" pitchFamily="34" charset="0"/>
                <a:ea typeface="Manrope" pitchFamily="34" charset="-122"/>
                <a:cs typeface="Manrope" pitchFamily="34" charset="-120"/>
              </a:rPr>
              <a:t>Our approach, the difference we make and the people who deliver it.</a:t>
            </a:r>
            <a:endParaRPr lang="en-US" sz="1550" dirty="0"/>
          </a:p>
        </p:txBody>
      </p:sp>
      <p:sp>
        <p:nvSpPr>
          <p:cNvPr id="8" name="Text 4"/>
          <p:cNvSpPr/>
          <p:nvPr/>
        </p:nvSpPr>
        <p:spPr>
          <a:xfrm>
            <a:off x="11048695" y="6382512"/>
            <a:ext cx="548640" cy="274320"/>
          </a:xfrm>
          <a:prstGeom prst="rect">
            <a:avLst/>
          </a:prstGeom>
          <a:noFill/>
          <a:ln/>
        </p:spPr>
        <p:txBody>
          <a:bodyPr wrap="square" lIns="0" tIns="0" rIns="0" bIns="0" rtlCol="0" anchor="ctr"/>
          <a:lstStyle/>
          <a:p>
            <a:pPr marL="0" indent="0" algn="r">
              <a:buNone/>
            </a:pPr>
            <a:r>
              <a:rPr lang="en-US" sz="1000" dirty="0">
                <a:solidFill>
                  <a:srgbClr val="BCBFCC"/>
                </a:solidFill>
                <a:latin typeface="Manrope" pitchFamily="34" charset="0"/>
                <a:ea typeface="Manrope" pitchFamily="34" charset="-122"/>
                <a:cs typeface="Manrope"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04  ·  HOW WE WORK</a:t>
            </a:r>
            <a:endParaRPr lang="en-US" sz="11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marL="0" indent="0" algn="l">
              <a:buNone/>
            </a:pPr>
            <a:r>
              <a:rPr lang="en-US" sz="2900" b="1" dirty="0">
                <a:solidFill>
                  <a:srgbClr val="0C2C3A"/>
                </a:solidFill>
                <a:latin typeface="Manrope" pitchFamily="34" charset="0"/>
                <a:ea typeface="Manrope" pitchFamily="34" charset="-122"/>
                <a:cs typeface="Manrope" pitchFamily="34" charset="-120"/>
              </a:rPr>
              <a:t>Our approach</a:t>
            </a:r>
            <a:endParaRPr lang="en-US" sz="2900" dirty="0"/>
          </a:p>
        </p:txBody>
      </p:sp>
      <p:sp>
        <p:nvSpPr>
          <p:cNvPr id="4" name="Shape 2"/>
          <p:cNvSpPr/>
          <p:nvPr/>
        </p:nvSpPr>
        <p:spPr>
          <a:xfrm>
            <a:off x="640080" y="1965960"/>
            <a:ext cx="868680" cy="868680"/>
          </a:xfrm>
          <a:prstGeom prst="ellipse">
            <a:avLst/>
          </a:prstGeom>
          <a:solidFill>
            <a:srgbClr val="00B6DB"/>
          </a:solidFill>
          <a:ln/>
        </p:spPr>
      </p:sp>
      <p:sp>
        <p:nvSpPr>
          <p:cNvPr id="5" name="Text 3"/>
          <p:cNvSpPr/>
          <p:nvPr/>
        </p:nvSpPr>
        <p:spPr>
          <a:xfrm>
            <a:off x="640080" y="1965960"/>
            <a:ext cx="868680" cy="868680"/>
          </a:xfrm>
          <a:prstGeom prst="rect">
            <a:avLst/>
          </a:prstGeom>
          <a:noFill/>
          <a:ln/>
        </p:spPr>
        <p:txBody>
          <a:bodyPr wrap="square" lIns="0" tIns="0" rIns="0" bIns="0" rtlCol="0" anchor="ctr"/>
          <a:lstStyle/>
          <a:p>
            <a:pPr marL="0" indent="0" algn="ctr">
              <a:buNone/>
            </a:pPr>
            <a:r>
              <a:rPr lang="en-US" sz="2000" b="1" dirty="0">
                <a:solidFill>
                  <a:srgbClr val="FFFFFF"/>
                </a:solidFill>
                <a:latin typeface="Manrope" pitchFamily="34" charset="0"/>
                <a:ea typeface="Manrope" pitchFamily="34" charset="-122"/>
                <a:cs typeface="Manrope" pitchFamily="34" charset="-120"/>
              </a:rPr>
              <a:t>01</a:t>
            </a:r>
            <a:endParaRPr lang="en-US" sz="2000" dirty="0"/>
          </a:p>
        </p:txBody>
      </p:sp>
      <p:sp>
        <p:nvSpPr>
          <p:cNvPr id="6" name="Text 4"/>
          <p:cNvSpPr/>
          <p:nvPr/>
        </p:nvSpPr>
        <p:spPr>
          <a:xfrm>
            <a:off x="594360" y="3063240"/>
            <a:ext cx="2468880" cy="457200"/>
          </a:xfrm>
          <a:prstGeom prst="rect">
            <a:avLst/>
          </a:prstGeom>
          <a:noFill/>
          <a:ln/>
        </p:spPr>
        <p:txBody>
          <a:bodyPr wrap="square" lIns="0" tIns="0" rIns="0" bIns="0" rtlCol="0" anchor="ctr"/>
          <a:lstStyle/>
          <a:p>
            <a:pPr marL="0" indent="0">
              <a:buNone/>
            </a:pPr>
            <a:r>
              <a:rPr lang="en-US" sz="1800" b="1" dirty="0">
                <a:solidFill>
                  <a:srgbClr val="0C2C3A"/>
                </a:solidFill>
                <a:latin typeface="Manrope" pitchFamily="34" charset="0"/>
                <a:ea typeface="Manrope" pitchFamily="34" charset="-122"/>
                <a:cs typeface="Manrope" pitchFamily="34" charset="-120"/>
              </a:rPr>
              <a:t>Assess</a:t>
            </a:r>
            <a:endParaRPr lang="en-US" sz="1800" dirty="0"/>
          </a:p>
        </p:txBody>
      </p:sp>
      <p:sp>
        <p:nvSpPr>
          <p:cNvPr id="7" name="Text 5"/>
          <p:cNvSpPr/>
          <p:nvPr/>
        </p:nvSpPr>
        <p:spPr>
          <a:xfrm>
            <a:off x="594360" y="3566160"/>
            <a:ext cx="2542032" cy="1463040"/>
          </a:xfrm>
          <a:prstGeom prst="rect">
            <a:avLst/>
          </a:prstGeom>
          <a:noFill/>
          <a:ln/>
        </p:spPr>
        <p:txBody>
          <a:bodyPr wrap="square" lIns="0" tIns="0" rIns="0" bIns="0" rtlCol="0" anchor="ctr"/>
          <a:lstStyle/>
          <a:p>
            <a:pPr marL="0" indent="0">
              <a:lnSpc>
                <a:spcPct val="118000"/>
              </a:lnSpc>
              <a:buNone/>
            </a:pPr>
            <a:r>
              <a:rPr lang="en-US" sz="1300" dirty="0">
                <a:solidFill>
                  <a:srgbClr val="6E7180"/>
                </a:solidFill>
                <a:latin typeface="Manrope" pitchFamily="34" charset="0"/>
                <a:ea typeface="Manrope" pitchFamily="34" charset="-122"/>
                <a:cs typeface="Manrope" pitchFamily="34" charset="-120"/>
              </a:rPr>
              <a:t>Understand the network, the demand and the data to find where waste is happening.</a:t>
            </a:r>
            <a:endParaRPr lang="en-US" sz="1300" dirty="0"/>
          </a:p>
        </p:txBody>
      </p:sp>
      <p:sp>
        <p:nvSpPr>
          <p:cNvPr id="8" name="Shape 6"/>
          <p:cNvSpPr/>
          <p:nvPr/>
        </p:nvSpPr>
        <p:spPr>
          <a:xfrm>
            <a:off x="3447288" y="1965960"/>
            <a:ext cx="868680" cy="868680"/>
          </a:xfrm>
          <a:prstGeom prst="ellipse">
            <a:avLst/>
          </a:prstGeom>
          <a:solidFill>
            <a:srgbClr val="00B6DB"/>
          </a:solidFill>
          <a:ln/>
        </p:spPr>
      </p:sp>
      <p:sp>
        <p:nvSpPr>
          <p:cNvPr id="9" name="Text 7"/>
          <p:cNvSpPr/>
          <p:nvPr/>
        </p:nvSpPr>
        <p:spPr>
          <a:xfrm>
            <a:off x="3447288" y="1965960"/>
            <a:ext cx="868680" cy="868680"/>
          </a:xfrm>
          <a:prstGeom prst="rect">
            <a:avLst/>
          </a:prstGeom>
          <a:noFill/>
          <a:ln/>
        </p:spPr>
        <p:txBody>
          <a:bodyPr wrap="square" lIns="0" tIns="0" rIns="0" bIns="0" rtlCol="0" anchor="ctr"/>
          <a:lstStyle/>
          <a:p>
            <a:pPr marL="0" indent="0" algn="ctr">
              <a:buNone/>
            </a:pPr>
            <a:r>
              <a:rPr lang="en-US" sz="2000" b="1" dirty="0">
                <a:solidFill>
                  <a:srgbClr val="FFFFFF"/>
                </a:solidFill>
                <a:latin typeface="Manrope" pitchFamily="34" charset="0"/>
                <a:ea typeface="Manrope" pitchFamily="34" charset="-122"/>
                <a:cs typeface="Manrope" pitchFamily="34" charset="-120"/>
              </a:rPr>
              <a:t>02</a:t>
            </a:r>
            <a:endParaRPr lang="en-US" sz="2000" dirty="0"/>
          </a:p>
        </p:txBody>
      </p:sp>
      <p:sp>
        <p:nvSpPr>
          <p:cNvPr id="10" name="Text 8"/>
          <p:cNvSpPr/>
          <p:nvPr/>
        </p:nvSpPr>
        <p:spPr>
          <a:xfrm>
            <a:off x="3401568" y="3063240"/>
            <a:ext cx="2468880" cy="457200"/>
          </a:xfrm>
          <a:prstGeom prst="rect">
            <a:avLst/>
          </a:prstGeom>
          <a:noFill/>
          <a:ln/>
        </p:spPr>
        <p:txBody>
          <a:bodyPr wrap="square" lIns="0" tIns="0" rIns="0" bIns="0" rtlCol="0" anchor="ctr"/>
          <a:lstStyle/>
          <a:p>
            <a:pPr marL="0" indent="0">
              <a:buNone/>
            </a:pPr>
            <a:r>
              <a:rPr lang="en-US" sz="1800" b="1" dirty="0">
                <a:solidFill>
                  <a:srgbClr val="0C2C3A"/>
                </a:solidFill>
                <a:latin typeface="Manrope" pitchFamily="34" charset="0"/>
                <a:ea typeface="Manrope" pitchFamily="34" charset="-122"/>
                <a:cs typeface="Manrope" pitchFamily="34" charset="-120"/>
              </a:rPr>
              <a:t>Plan</a:t>
            </a:r>
            <a:endParaRPr lang="en-US" sz="1800" dirty="0"/>
          </a:p>
        </p:txBody>
      </p:sp>
      <p:sp>
        <p:nvSpPr>
          <p:cNvPr id="11" name="Text 9"/>
          <p:cNvSpPr/>
          <p:nvPr/>
        </p:nvSpPr>
        <p:spPr>
          <a:xfrm>
            <a:off x="3401568" y="3566160"/>
            <a:ext cx="2542032" cy="1463040"/>
          </a:xfrm>
          <a:prstGeom prst="rect">
            <a:avLst/>
          </a:prstGeom>
          <a:noFill/>
          <a:ln/>
        </p:spPr>
        <p:txBody>
          <a:bodyPr wrap="square" lIns="0" tIns="0" rIns="0" bIns="0" rtlCol="0" anchor="ctr"/>
          <a:lstStyle/>
          <a:p>
            <a:pPr marL="0" indent="0">
              <a:lnSpc>
                <a:spcPct val="118000"/>
              </a:lnSpc>
              <a:buNone/>
            </a:pPr>
            <a:r>
              <a:rPr lang="en-US" sz="1300" dirty="0">
                <a:solidFill>
                  <a:srgbClr val="6E7180"/>
                </a:solidFill>
                <a:latin typeface="Manrope" pitchFamily="34" charset="0"/>
                <a:ea typeface="Manrope" pitchFamily="34" charset="-122"/>
                <a:cs typeface="Manrope" pitchFamily="34" charset="-120"/>
              </a:rPr>
              <a:t>Target the right action and agree a clear, practical plan with the client.</a:t>
            </a:r>
            <a:endParaRPr lang="en-US" sz="1300" dirty="0"/>
          </a:p>
        </p:txBody>
      </p:sp>
      <p:sp>
        <p:nvSpPr>
          <p:cNvPr id="12" name="Shape 10"/>
          <p:cNvSpPr/>
          <p:nvPr/>
        </p:nvSpPr>
        <p:spPr>
          <a:xfrm>
            <a:off x="6254496" y="1965960"/>
            <a:ext cx="868680" cy="868680"/>
          </a:xfrm>
          <a:prstGeom prst="ellipse">
            <a:avLst/>
          </a:prstGeom>
          <a:solidFill>
            <a:srgbClr val="00B6DB"/>
          </a:solidFill>
          <a:ln/>
        </p:spPr>
      </p:sp>
      <p:sp>
        <p:nvSpPr>
          <p:cNvPr id="13" name="Text 11"/>
          <p:cNvSpPr/>
          <p:nvPr/>
        </p:nvSpPr>
        <p:spPr>
          <a:xfrm>
            <a:off x="6254496" y="1965960"/>
            <a:ext cx="868680" cy="868680"/>
          </a:xfrm>
          <a:prstGeom prst="rect">
            <a:avLst/>
          </a:prstGeom>
          <a:noFill/>
          <a:ln/>
        </p:spPr>
        <p:txBody>
          <a:bodyPr wrap="square" lIns="0" tIns="0" rIns="0" bIns="0" rtlCol="0" anchor="ctr"/>
          <a:lstStyle/>
          <a:p>
            <a:pPr marL="0" indent="0" algn="ctr">
              <a:buNone/>
            </a:pPr>
            <a:r>
              <a:rPr lang="en-US" sz="2000" b="1" dirty="0">
                <a:solidFill>
                  <a:srgbClr val="FFFFFF"/>
                </a:solidFill>
                <a:latin typeface="Manrope" pitchFamily="34" charset="0"/>
                <a:ea typeface="Manrope" pitchFamily="34" charset="-122"/>
                <a:cs typeface="Manrope" pitchFamily="34" charset="-120"/>
              </a:rPr>
              <a:t>03</a:t>
            </a:r>
            <a:endParaRPr lang="en-US" sz="2000" dirty="0"/>
          </a:p>
        </p:txBody>
      </p:sp>
      <p:sp>
        <p:nvSpPr>
          <p:cNvPr id="14" name="Text 12"/>
          <p:cNvSpPr/>
          <p:nvPr/>
        </p:nvSpPr>
        <p:spPr>
          <a:xfrm>
            <a:off x="6208776" y="3063240"/>
            <a:ext cx="2468880" cy="457200"/>
          </a:xfrm>
          <a:prstGeom prst="rect">
            <a:avLst/>
          </a:prstGeom>
          <a:noFill/>
          <a:ln/>
        </p:spPr>
        <p:txBody>
          <a:bodyPr wrap="square" lIns="0" tIns="0" rIns="0" bIns="0" rtlCol="0" anchor="ctr"/>
          <a:lstStyle/>
          <a:p>
            <a:pPr marL="0" indent="0">
              <a:buNone/>
            </a:pPr>
            <a:r>
              <a:rPr lang="en-US" sz="1800" b="1" dirty="0">
                <a:solidFill>
                  <a:srgbClr val="0C2C3A"/>
                </a:solidFill>
                <a:latin typeface="Manrope" pitchFamily="34" charset="0"/>
                <a:ea typeface="Manrope" pitchFamily="34" charset="-122"/>
                <a:cs typeface="Manrope" pitchFamily="34" charset="-120"/>
              </a:rPr>
              <a:t>Deliver</a:t>
            </a:r>
            <a:endParaRPr lang="en-US" sz="1800" dirty="0"/>
          </a:p>
        </p:txBody>
      </p:sp>
      <p:sp>
        <p:nvSpPr>
          <p:cNvPr id="15" name="Text 13"/>
          <p:cNvSpPr/>
          <p:nvPr/>
        </p:nvSpPr>
        <p:spPr>
          <a:xfrm>
            <a:off x="6208776" y="3566160"/>
            <a:ext cx="2542032" cy="1463040"/>
          </a:xfrm>
          <a:prstGeom prst="rect">
            <a:avLst/>
          </a:prstGeom>
          <a:noFill/>
          <a:ln/>
        </p:spPr>
        <p:txBody>
          <a:bodyPr wrap="square" lIns="0" tIns="0" rIns="0" bIns="0" rtlCol="0" anchor="ctr"/>
          <a:lstStyle/>
          <a:p>
            <a:pPr marL="0" indent="0">
              <a:lnSpc>
                <a:spcPct val="118000"/>
              </a:lnSpc>
              <a:buNone/>
            </a:pPr>
            <a:r>
              <a:rPr lang="en-US" sz="1300" dirty="0">
                <a:solidFill>
                  <a:srgbClr val="6E7180"/>
                </a:solidFill>
                <a:latin typeface="Manrope" pitchFamily="34" charset="0"/>
                <a:ea typeface="Manrope" pitchFamily="34" charset="-122"/>
                <a:cs typeface="Manrope" pitchFamily="34" charset="-120"/>
              </a:rPr>
              <a:t>Detection, repair and installation delivered on the ground by skilled field teams.</a:t>
            </a:r>
            <a:endParaRPr lang="en-US" sz="1300" dirty="0"/>
          </a:p>
        </p:txBody>
      </p:sp>
      <p:sp>
        <p:nvSpPr>
          <p:cNvPr id="16" name="Shape 14"/>
          <p:cNvSpPr/>
          <p:nvPr/>
        </p:nvSpPr>
        <p:spPr>
          <a:xfrm>
            <a:off x="9061704" y="1965960"/>
            <a:ext cx="868680" cy="868680"/>
          </a:xfrm>
          <a:prstGeom prst="ellipse">
            <a:avLst/>
          </a:prstGeom>
          <a:solidFill>
            <a:srgbClr val="00B6DB"/>
          </a:solidFill>
          <a:ln/>
        </p:spPr>
      </p:sp>
      <p:sp>
        <p:nvSpPr>
          <p:cNvPr id="17" name="Text 15"/>
          <p:cNvSpPr/>
          <p:nvPr/>
        </p:nvSpPr>
        <p:spPr>
          <a:xfrm>
            <a:off x="9061704" y="1965960"/>
            <a:ext cx="868680" cy="868680"/>
          </a:xfrm>
          <a:prstGeom prst="rect">
            <a:avLst/>
          </a:prstGeom>
          <a:noFill/>
          <a:ln/>
        </p:spPr>
        <p:txBody>
          <a:bodyPr wrap="square" lIns="0" tIns="0" rIns="0" bIns="0" rtlCol="0" anchor="ctr"/>
          <a:lstStyle/>
          <a:p>
            <a:pPr marL="0" indent="0" algn="ctr">
              <a:buNone/>
            </a:pPr>
            <a:r>
              <a:rPr lang="en-US" sz="2000" b="1" dirty="0">
                <a:solidFill>
                  <a:srgbClr val="FFFFFF"/>
                </a:solidFill>
                <a:latin typeface="Manrope" pitchFamily="34" charset="0"/>
                <a:ea typeface="Manrope" pitchFamily="34" charset="-122"/>
                <a:cs typeface="Manrope" pitchFamily="34" charset="-120"/>
              </a:rPr>
              <a:t>04</a:t>
            </a:r>
            <a:endParaRPr lang="en-US" sz="2000" dirty="0"/>
          </a:p>
        </p:txBody>
      </p:sp>
      <p:sp>
        <p:nvSpPr>
          <p:cNvPr id="18" name="Text 16"/>
          <p:cNvSpPr/>
          <p:nvPr/>
        </p:nvSpPr>
        <p:spPr>
          <a:xfrm>
            <a:off x="9015984" y="3063240"/>
            <a:ext cx="2468880" cy="457200"/>
          </a:xfrm>
          <a:prstGeom prst="rect">
            <a:avLst/>
          </a:prstGeom>
          <a:noFill/>
          <a:ln/>
        </p:spPr>
        <p:txBody>
          <a:bodyPr wrap="square" lIns="0" tIns="0" rIns="0" bIns="0" rtlCol="0" anchor="ctr"/>
          <a:lstStyle/>
          <a:p>
            <a:pPr marL="0" indent="0">
              <a:buNone/>
            </a:pPr>
            <a:r>
              <a:rPr lang="en-US" sz="1800" b="1" dirty="0">
                <a:solidFill>
                  <a:srgbClr val="0C2C3A"/>
                </a:solidFill>
                <a:latin typeface="Manrope" pitchFamily="34" charset="0"/>
                <a:ea typeface="Manrope" pitchFamily="34" charset="-122"/>
                <a:cs typeface="Manrope" pitchFamily="34" charset="-120"/>
              </a:rPr>
              <a:t>Optimise</a:t>
            </a:r>
            <a:endParaRPr lang="en-US" sz="1800" dirty="0"/>
          </a:p>
        </p:txBody>
      </p:sp>
      <p:sp>
        <p:nvSpPr>
          <p:cNvPr id="19" name="Text 17"/>
          <p:cNvSpPr/>
          <p:nvPr/>
        </p:nvSpPr>
        <p:spPr>
          <a:xfrm>
            <a:off x="9015984" y="3566160"/>
            <a:ext cx="2542032" cy="1463040"/>
          </a:xfrm>
          <a:prstGeom prst="rect">
            <a:avLst/>
          </a:prstGeom>
          <a:noFill/>
          <a:ln/>
        </p:spPr>
        <p:txBody>
          <a:bodyPr wrap="square" lIns="0" tIns="0" rIns="0" bIns="0" rtlCol="0" anchor="ctr"/>
          <a:lstStyle/>
          <a:p>
            <a:pPr marL="0" indent="0">
              <a:lnSpc>
                <a:spcPct val="118000"/>
              </a:lnSpc>
              <a:buNone/>
            </a:pPr>
            <a:r>
              <a:rPr lang="en-US" sz="1300" dirty="0">
                <a:solidFill>
                  <a:srgbClr val="6E7180"/>
                </a:solidFill>
                <a:latin typeface="Manrope" pitchFamily="34" charset="0"/>
                <a:ea typeface="Manrope" pitchFamily="34" charset="-122"/>
                <a:cs typeface="Manrope" pitchFamily="34" charset="-120"/>
              </a:rPr>
              <a:t>Monitor, measure and refine so improvements hold over the long term.</a:t>
            </a:r>
            <a:endParaRPr lang="en-US" sz="1300" dirty="0"/>
          </a:p>
        </p:txBody>
      </p:sp>
      <p:pic>
        <p:nvPicPr>
          <p:cNvPr id="20" name="Image 0" descr="/home/claude/deck/img/mark.png"/>
          <p:cNvPicPr>
            <a:picLocks noChangeAspect="1"/>
          </p:cNvPicPr>
          <p:nvPr/>
        </p:nvPicPr>
        <p:blipFill>
          <a:blip r:embed="rId3"/>
          <a:stretch>
            <a:fillRect/>
          </a:stretch>
        </p:blipFill>
        <p:spPr>
          <a:xfrm>
            <a:off x="640080" y="6345936"/>
            <a:ext cx="292608" cy="292608"/>
          </a:xfrm>
          <a:prstGeom prst="rect">
            <a:avLst/>
          </a:prstGeom>
        </p:spPr>
      </p:pic>
      <p:sp>
        <p:nvSpPr>
          <p:cNvPr id="21" name="Text 18"/>
          <p:cNvSpPr/>
          <p:nvPr/>
        </p:nvSpPr>
        <p:spPr>
          <a:xfrm>
            <a:off x="11048695" y="6382512"/>
            <a:ext cx="548640" cy="274320"/>
          </a:xfrm>
          <a:prstGeom prst="rect">
            <a:avLst/>
          </a:prstGeom>
          <a:noFill/>
          <a:ln/>
        </p:spPr>
        <p:txBody>
          <a:bodyPr wrap="square" lIns="0" tIns="0" rIns="0" bIns="0" rtlCol="0" anchor="ctr"/>
          <a:lstStyle/>
          <a:p>
            <a:pPr marL="0" indent="0" algn="r">
              <a:buNone/>
            </a:pPr>
            <a:r>
              <a:rPr lang="en-US" sz="1000" dirty="0">
                <a:solidFill>
                  <a:srgbClr val="6E7180"/>
                </a:solidFill>
                <a:latin typeface="Manrope" pitchFamily="34" charset="0"/>
                <a:ea typeface="Manrope" pitchFamily="34" charset="-122"/>
                <a:cs typeface="Manrope"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04  ·  CASE STUDY</a:t>
            </a:r>
            <a:endParaRPr lang="en-US" sz="11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marL="0" indent="0" algn="l">
              <a:buNone/>
            </a:pPr>
            <a:r>
              <a:rPr lang="en-US" sz="2900" b="1" dirty="0">
                <a:solidFill>
                  <a:srgbClr val="0C2C3A"/>
                </a:solidFill>
                <a:latin typeface="Manrope" pitchFamily="34" charset="0"/>
                <a:ea typeface="Manrope" pitchFamily="34" charset="-122"/>
                <a:cs typeface="Manrope" pitchFamily="34" charset="-120"/>
              </a:rPr>
              <a:t>Case study</a:t>
            </a:r>
            <a:endParaRPr lang="en-US" sz="2900" dirty="0"/>
          </a:p>
        </p:txBody>
      </p:sp>
      <p:sp>
        <p:nvSpPr>
          <p:cNvPr id="4" name="Text 2"/>
          <p:cNvSpPr/>
          <p:nvPr/>
        </p:nvSpPr>
        <p:spPr>
          <a:xfrm>
            <a:off x="640080" y="1207008"/>
            <a:ext cx="7315200" cy="365760"/>
          </a:xfrm>
          <a:prstGeom prst="rect">
            <a:avLst/>
          </a:prstGeom>
          <a:noFill/>
          <a:ln/>
        </p:spPr>
        <p:txBody>
          <a:bodyPr wrap="square" lIns="0" tIns="0" rIns="0" bIns="0" rtlCol="0" anchor="ctr"/>
          <a:lstStyle/>
          <a:p>
            <a:pPr marL="0" indent="0">
              <a:buNone/>
            </a:pPr>
            <a:r>
              <a:rPr lang="en-US" sz="1400" dirty="0">
                <a:solidFill>
                  <a:srgbClr val="6E7180"/>
                </a:solidFill>
                <a:latin typeface="Manrope" pitchFamily="34" charset="0"/>
                <a:ea typeface="Manrope" pitchFamily="34" charset="-122"/>
                <a:cs typeface="Manrope" pitchFamily="34" charset="-120"/>
              </a:rPr>
              <a:t>[Client name]</a:t>
            </a:r>
            <a:endParaRPr lang="en-US" sz="1400" dirty="0"/>
          </a:p>
        </p:txBody>
      </p:sp>
      <p:pic>
        <p:nvPicPr>
          <p:cNvPr id="5" name="Image 0" descr="/home/claude/deck/img/commitedtosafety.jpg"/>
          <p:cNvPicPr>
            <a:picLocks noChangeAspect="1"/>
          </p:cNvPicPr>
          <p:nvPr/>
        </p:nvPicPr>
        <p:blipFill>
          <a:blip r:embed="rId3"/>
          <a:srcRect/>
          <a:stretch/>
        </p:blipFill>
        <p:spPr>
          <a:xfrm>
            <a:off x="640080" y="1783080"/>
            <a:ext cx="4297680" cy="3886200"/>
          </a:xfrm>
          <a:prstGeom prst="rect">
            <a:avLst/>
          </a:prstGeom>
          <a:effectLst>
            <a:outerShdw blurRad="114300" dist="38100" dir="5400000" algn="bl" rotWithShape="0">
              <a:srgbClr val="0C2C3A">
                <a:alpha val="16000"/>
              </a:srgbClr>
            </a:outerShdw>
          </a:effectLst>
        </p:spPr>
      </p:pic>
      <p:sp>
        <p:nvSpPr>
          <p:cNvPr id="6" name="Text 3"/>
          <p:cNvSpPr/>
          <p:nvPr/>
        </p:nvSpPr>
        <p:spPr>
          <a:xfrm>
            <a:off x="5257800" y="1828800"/>
            <a:ext cx="6263640" cy="411480"/>
          </a:xfrm>
          <a:prstGeom prst="rect">
            <a:avLst/>
          </a:prstGeom>
          <a:noFill/>
          <a:ln/>
        </p:spPr>
        <p:txBody>
          <a:bodyPr wrap="square" lIns="0" tIns="0" rIns="0" bIns="0" rtlCol="0" anchor="ctr"/>
          <a:lstStyle/>
          <a:p>
            <a:pPr marL="0" indent="0">
              <a:buNone/>
            </a:pPr>
            <a:r>
              <a:rPr lang="en-US" sz="1600" b="1" dirty="0">
                <a:solidFill>
                  <a:srgbClr val="00B6DB"/>
                </a:solidFill>
                <a:latin typeface="Manrope" pitchFamily="34" charset="0"/>
                <a:ea typeface="Manrope" pitchFamily="34" charset="-122"/>
                <a:cs typeface="Manrope" pitchFamily="34" charset="-120"/>
              </a:rPr>
              <a:t>Challenge</a:t>
            </a:r>
            <a:endParaRPr lang="en-US" sz="1600" dirty="0"/>
          </a:p>
        </p:txBody>
      </p:sp>
      <p:sp>
        <p:nvSpPr>
          <p:cNvPr id="7" name="Text 4"/>
          <p:cNvSpPr/>
          <p:nvPr/>
        </p:nvSpPr>
        <p:spPr>
          <a:xfrm>
            <a:off x="5257800" y="2240280"/>
            <a:ext cx="6309360" cy="868680"/>
          </a:xfrm>
          <a:prstGeom prst="rect">
            <a:avLst/>
          </a:prstGeom>
          <a:noFill/>
          <a:ln/>
        </p:spPr>
        <p:txBody>
          <a:bodyPr wrap="square" lIns="0" tIns="0" rIns="0" bIns="0" rtlCol="0" anchor="ctr"/>
          <a:lstStyle/>
          <a:p>
            <a:pPr marL="0" indent="0">
              <a:lnSpc>
                <a:spcPct val="120000"/>
              </a:lnSpc>
              <a:buNone/>
            </a:pPr>
            <a:r>
              <a:rPr lang="en-US" sz="1400" dirty="0">
                <a:solidFill>
                  <a:srgbClr val="40424D"/>
                </a:solidFill>
                <a:latin typeface="Manrope" pitchFamily="34" charset="0"/>
                <a:ea typeface="Manrope" pitchFamily="34" charset="-122"/>
                <a:cs typeface="Manrope" pitchFamily="34" charset="-120"/>
              </a:rPr>
              <a:t>Lorem ipsum dolor sit amet, consectetur adipiscing elit sed do eiusmod tempor incididunt.</a:t>
            </a:r>
            <a:endParaRPr lang="en-US" sz="1400" dirty="0"/>
          </a:p>
        </p:txBody>
      </p:sp>
      <p:sp>
        <p:nvSpPr>
          <p:cNvPr id="8" name="Text 5"/>
          <p:cNvSpPr/>
          <p:nvPr/>
        </p:nvSpPr>
        <p:spPr>
          <a:xfrm>
            <a:off x="5257800" y="3154680"/>
            <a:ext cx="6263640" cy="411480"/>
          </a:xfrm>
          <a:prstGeom prst="rect">
            <a:avLst/>
          </a:prstGeom>
          <a:noFill/>
          <a:ln/>
        </p:spPr>
        <p:txBody>
          <a:bodyPr wrap="square" lIns="0" tIns="0" rIns="0" bIns="0" rtlCol="0" anchor="ctr"/>
          <a:lstStyle/>
          <a:p>
            <a:pPr marL="0" indent="0">
              <a:buNone/>
            </a:pPr>
            <a:r>
              <a:rPr lang="en-US" sz="1600" b="1" dirty="0">
                <a:solidFill>
                  <a:srgbClr val="00B6DB"/>
                </a:solidFill>
                <a:latin typeface="Manrope" pitchFamily="34" charset="0"/>
                <a:ea typeface="Manrope" pitchFamily="34" charset="-122"/>
                <a:cs typeface="Manrope" pitchFamily="34" charset="-120"/>
              </a:rPr>
              <a:t>Approach</a:t>
            </a:r>
            <a:endParaRPr lang="en-US" sz="1600" dirty="0"/>
          </a:p>
        </p:txBody>
      </p:sp>
      <p:sp>
        <p:nvSpPr>
          <p:cNvPr id="9" name="Text 6"/>
          <p:cNvSpPr/>
          <p:nvPr/>
        </p:nvSpPr>
        <p:spPr>
          <a:xfrm>
            <a:off x="5257800" y="3566160"/>
            <a:ext cx="6309360" cy="868680"/>
          </a:xfrm>
          <a:prstGeom prst="rect">
            <a:avLst/>
          </a:prstGeom>
          <a:noFill/>
          <a:ln/>
        </p:spPr>
        <p:txBody>
          <a:bodyPr wrap="square" lIns="0" tIns="0" rIns="0" bIns="0" rtlCol="0" anchor="ctr"/>
          <a:lstStyle/>
          <a:p>
            <a:pPr marL="0" indent="0">
              <a:lnSpc>
                <a:spcPct val="120000"/>
              </a:lnSpc>
              <a:buNone/>
            </a:pPr>
            <a:r>
              <a:rPr lang="en-US" sz="1400" dirty="0">
                <a:solidFill>
                  <a:srgbClr val="40424D"/>
                </a:solidFill>
                <a:latin typeface="Manrope" pitchFamily="34" charset="0"/>
                <a:ea typeface="Manrope" pitchFamily="34" charset="-122"/>
                <a:cs typeface="Manrope" pitchFamily="34" charset="-120"/>
              </a:rPr>
              <a:t>Ut enim ad minim veniam, quis nostrud exercitation ullamco laboris nisi ut aliquip.</a:t>
            </a:r>
            <a:endParaRPr lang="en-US" sz="1400" dirty="0"/>
          </a:p>
        </p:txBody>
      </p:sp>
      <p:sp>
        <p:nvSpPr>
          <p:cNvPr id="10" name="Text 7"/>
          <p:cNvSpPr/>
          <p:nvPr/>
        </p:nvSpPr>
        <p:spPr>
          <a:xfrm>
            <a:off x="5257800" y="4480560"/>
            <a:ext cx="6263640" cy="411480"/>
          </a:xfrm>
          <a:prstGeom prst="rect">
            <a:avLst/>
          </a:prstGeom>
          <a:noFill/>
          <a:ln/>
        </p:spPr>
        <p:txBody>
          <a:bodyPr wrap="square" lIns="0" tIns="0" rIns="0" bIns="0" rtlCol="0" anchor="ctr"/>
          <a:lstStyle/>
          <a:p>
            <a:pPr marL="0" indent="0">
              <a:buNone/>
            </a:pPr>
            <a:r>
              <a:rPr lang="en-US" sz="1600" b="1" dirty="0">
                <a:solidFill>
                  <a:srgbClr val="00B6DB"/>
                </a:solidFill>
                <a:latin typeface="Manrope" pitchFamily="34" charset="0"/>
                <a:ea typeface="Manrope" pitchFamily="34" charset="-122"/>
                <a:cs typeface="Manrope" pitchFamily="34" charset="-120"/>
              </a:rPr>
              <a:t>Outcome</a:t>
            </a:r>
            <a:endParaRPr lang="en-US" sz="1600" dirty="0"/>
          </a:p>
        </p:txBody>
      </p:sp>
      <p:sp>
        <p:nvSpPr>
          <p:cNvPr id="11" name="Text 8"/>
          <p:cNvSpPr/>
          <p:nvPr/>
        </p:nvSpPr>
        <p:spPr>
          <a:xfrm>
            <a:off x="5257800" y="4892040"/>
            <a:ext cx="6309360" cy="868680"/>
          </a:xfrm>
          <a:prstGeom prst="rect">
            <a:avLst/>
          </a:prstGeom>
          <a:noFill/>
          <a:ln/>
        </p:spPr>
        <p:txBody>
          <a:bodyPr wrap="square" lIns="0" tIns="0" rIns="0" bIns="0" rtlCol="0" anchor="ctr"/>
          <a:lstStyle/>
          <a:p>
            <a:pPr marL="0" indent="0">
              <a:lnSpc>
                <a:spcPct val="120000"/>
              </a:lnSpc>
              <a:buNone/>
            </a:pPr>
            <a:r>
              <a:rPr lang="en-US" sz="1400" dirty="0">
                <a:solidFill>
                  <a:srgbClr val="40424D"/>
                </a:solidFill>
                <a:latin typeface="Manrope" pitchFamily="34" charset="0"/>
                <a:ea typeface="Manrope" pitchFamily="34" charset="-122"/>
                <a:cs typeface="Manrope" pitchFamily="34" charset="-120"/>
              </a:rPr>
              <a:t>Duis aute irure dolor in reprehenderit in voluptate velit esse cillum dolore eu.</a:t>
            </a:r>
            <a:endParaRPr lang="en-US" sz="1400" dirty="0"/>
          </a:p>
        </p:txBody>
      </p:sp>
      <p:pic>
        <p:nvPicPr>
          <p:cNvPr id="12" name="Image 1" descr="/home/claude/deck/img/mark.png"/>
          <p:cNvPicPr>
            <a:picLocks noChangeAspect="1"/>
          </p:cNvPicPr>
          <p:nvPr/>
        </p:nvPicPr>
        <p:blipFill>
          <a:blip r:embed="rId4"/>
          <a:stretch>
            <a:fillRect/>
          </a:stretch>
        </p:blipFill>
        <p:spPr>
          <a:xfrm>
            <a:off x="640080" y="6345936"/>
            <a:ext cx="292608" cy="292608"/>
          </a:xfrm>
          <a:prstGeom prst="rect">
            <a:avLst/>
          </a:prstGeom>
        </p:spPr>
      </p:pic>
      <p:sp>
        <p:nvSpPr>
          <p:cNvPr id="13" name="Text 9"/>
          <p:cNvSpPr/>
          <p:nvPr/>
        </p:nvSpPr>
        <p:spPr>
          <a:xfrm>
            <a:off x="11048695" y="6382512"/>
            <a:ext cx="548640" cy="274320"/>
          </a:xfrm>
          <a:prstGeom prst="rect">
            <a:avLst/>
          </a:prstGeom>
          <a:noFill/>
          <a:ln/>
        </p:spPr>
        <p:txBody>
          <a:bodyPr wrap="square" lIns="0" tIns="0" rIns="0" bIns="0" rtlCol="0" anchor="ctr"/>
          <a:lstStyle/>
          <a:p>
            <a:pPr marL="0" indent="0" algn="r">
              <a:buNone/>
            </a:pPr>
            <a:r>
              <a:rPr lang="en-US" sz="1000" dirty="0">
                <a:solidFill>
                  <a:srgbClr val="6E7180"/>
                </a:solidFill>
                <a:latin typeface="Manrope" pitchFamily="34" charset="0"/>
                <a:ea typeface="Manrope" pitchFamily="34" charset="-122"/>
                <a:cs typeface="Manrope"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2C3A"/>
        </a:solidFill>
        <a:effectLst/>
      </p:bgPr>
    </p:bg>
    <p:spTree>
      <p:nvGrpSpPr>
        <p:cNvPr id="1" name=""/>
        <p:cNvGrpSpPr/>
        <p:nvPr/>
      </p:nvGrpSpPr>
      <p:grpSpPr>
        <a:xfrm>
          <a:off x="0" y="0"/>
          <a:ext cx="0" cy="0"/>
          <a:chOff x="0" y="0"/>
          <a:chExt cx="0" cy="0"/>
        </a:xfrm>
      </p:grpSpPr>
      <p:pic>
        <p:nvPicPr>
          <p:cNvPr id="2" name="Image 0" descr="/home/claude/deck/img/detecting1.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C2C3A">
              <a:alpha val="26000"/>
            </a:srgbClr>
          </a:solidFill>
          <a:ln/>
        </p:spPr>
      </p:sp>
      <p:sp>
        <p:nvSpPr>
          <p:cNvPr id="4" name="Shape 1"/>
          <p:cNvSpPr/>
          <p:nvPr/>
        </p:nvSpPr>
        <p:spPr>
          <a:xfrm>
            <a:off x="640080" y="3657600"/>
            <a:ext cx="5943600" cy="2542032"/>
          </a:xfrm>
          <a:prstGeom prst="roundRect">
            <a:avLst>
              <a:gd name="adj" fmla="val 4317"/>
            </a:avLst>
          </a:prstGeom>
          <a:solidFill>
            <a:srgbClr val="0C2C3A"/>
          </a:solidFill>
          <a:ln/>
          <a:effectLst>
            <a:outerShdw blurRad="114300" dist="38100" dir="5400000" algn="bl" rotWithShape="0">
              <a:srgbClr val="0C2C3A">
                <a:alpha val="16000"/>
              </a:srgbClr>
            </a:outerShdw>
          </a:effectLst>
        </p:spPr>
      </p:sp>
      <p:pic>
        <p:nvPicPr>
          <p:cNvPr id="5" name="Image 1" descr="/home/claude/deck/img/mark.png"/>
          <p:cNvPicPr>
            <a:picLocks noChangeAspect="1"/>
          </p:cNvPicPr>
          <p:nvPr/>
        </p:nvPicPr>
        <p:blipFill>
          <a:blip r:embed="rId4"/>
          <a:stretch>
            <a:fillRect/>
          </a:stretch>
        </p:blipFill>
        <p:spPr>
          <a:xfrm>
            <a:off x="5907024" y="3895344"/>
            <a:ext cx="402336" cy="402336"/>
          </a:xfrm>
          <a:prstGeom prst="rect">
            <a:avLst/>
          </a:prstGeom>
        </p:spPr>
      </p:pic>
      <p:sp>
        <p:nvSpPr>
          <p:cNvPr id="6" name="Text 2"/>
          <p:cNvSpPr/>
          <p:nvPr/>
        </p:nvSpPr>
        <p:spPr>
          <a:xfrm>
            <a:off x="1005840" y="4005072"/>
            <a:ext cx="2743200" cy="274320"/>
          </a:xfrm>
          <a:prstGeom prst="rect">
            <a:avLst/>
          </a:prstGeom>
          <a:noFill/>
          <a:ln/>
        </p:spPr>
        <p:txBody>
          <a:bodyPr wrap="square" lIns="0" tIns="0" rIns="0" bIns="0" rtlCol="0" anchor="ctr"/>
          <a:lstStyle/>
          <a:p>
            <a:pPr marL="0" indent="0">
              <a:buNone/>
            </a:pPr>
            <a:r>
              <a:rPr lang="en-US" sz="1100" b="1" kern="0" spc="250" dirty="0">
                <a:solidFill>
                  <a:srgbClr val="00B6DB"/>
                </a:solidFill>
                <a:latin typeface="Manrope" pitchFamily="34" charset="0"/>
                <a:ea typeface="Manrope" pitchFamily="34" charset="-122"/>
                <a:cs typeface="Manrope" pitchFamily="34" charset="-120"/>
              </a:rPr>
              <a:t>FEATURE</a:t>
            </a:r>
            <a:endParaRPr lang="en-US" sz="1100" dirty="0"/>
          </a:p>
        </p:txBody>
      </p:sp>
      <p:sp>
        <p:nvSpPr>
          <p:cNvPr id="7" name="Text 3"/>
          <p:cNvSpPr/>
          <p:nvPr/>
        </p:nvSpPr>
        <p:spPr>
          <a:xfrm>
            <a:off x="1005840" y="4370832"/>
            <a:ext cx="5212080" cy="1005840"/>
          </a:xfrm>
          <a:prstGeom prst="rect">
            <a:avLst/>
          </a:prstGeom>
          <a:noFill/>
          <a:ln/>
        </p:spPr>
        <p:txBody>
          <a:bodyPr wrap="square" lIns="0" tIns="0" rIns="0" bIns="0" rtlCol="0" anchor="ctr"/>
          <a:lstStyle/>
          <a:p>
            <a:pPr marL="0" indent="0">
              <a:lnSpc>
                <a:spcPct val="104000"/>
              </a:lnSpc>
              <a:buNone/>
            </a:pPr>
            <a:r>
              <a:rPr lang="en-US" sz="2400" b="1" dirty="0">
                <a:solidFill>
                  <a:srgbClr val="FFFFFF"/>
                </a:solidFill>
                <a:latin typeface="Manrope" pitchFamily="34" charset="0"/>
                <a:ea typeface="Manrope" pitchFamily="34" charset="-122"/>
                <a:cs typeface="Manrope" pitchFamily="34" charset="-120"/>
              </a:rPr>
              <a:t>Practical delivery, </a:t>
            </a:r>
            <a:r>
              <a:rPr lang="en-US" sz="2400" b="1" dirty="0">
                <a:solidFill>
                  <a:srgbClr val="00B6DB"/>
                </a:solidFill>
                <a:latin typeface="Manrope" pitchFamily="34" charset="0"/>
                <a:ea typeface="Manrope" pitchFamily="34" charset="-122"/>
                <a:cs typeface="Manrope" pitchFamily="34" charset="-120"/>
              </a:rPr>
              <a:t>where it counts.</a:t>
            </a:r>
            <a:endParaRPr lang="en-US" sz="2400" dirty="0"/>
          </a:p>
        </p:txBody>
      </p:sp>
      <p:sp>
        <p:nvSpPr>
          <p:cNvPr id="8" name="Text 4"/>
          <p:cNvSpPr/>
          <p:nvPr/>
        </p:nvSpPr>
        <p:spPr>
          <a:xfrm>
            <a:off x="1005840" y="5440680"/>
            <a:ext cx="5257800" cy="685800"/>
          </a:xfrm>
          <a:prstGeom prst="rect">
            <a:avLst/>
          </a:prstGeom>
          <a:noFill/>
          <a:ln/>
        </p:spPr>
        <p:txBody>
          <a:bodyPr wrap="square" lIns="0" tIns="0" rIns="0" bIns="0" rtlCol="0" anchor="ctr"/>
          <a:lstStyle/>
          <a:p>
            <a:pPr marL="0" indent="0">
              <a:lnSpc>
                <a:spcPct val="118000"/>
              </a:lnSpc>
              <a:buNone/>
            </a:pPr>
            <a:r>
              <a:rPr lang="en-US" sz="1250" dirty="0">
                <a:solidFill>
                  <a:srgbClr val="EDEFF7"/>
                </a:solidFill>
                <a:latin typeface="Manrope" pitchFamily="34" charset="0"/>
                <a:ea typeface="Manrope" pitchFamily="34" charset="-122"/>
                <a:cs typeface="Manrope" pitchFamily="34" charset="-120"/>
              </a:rPr>
              <a:t>Lorem ipsum dolor sit amet, consectetur adipiscing elit sed do eiusmod tempor incididunt ut labore et dolore.</a:t>
            </a:r>
            <a:endParaRPr lang="en-US" sz="1250" dirty="0"/>
          </a:p>
        </p:txBody>
      </p:sp>
      <p:sp>
        <p:nvSpPr>
          <p:cNvPr id="9" name="Text 5"/>
          <p:cNvSpPr/>
          <p:nvPr/>
        </p:nvSpPr>
        <p:spPr>
          <a:xfrm>
            <a:off x="11048695" y="6382512"/>
            <a:ext cx="548640" cy="274320"/>
          </a:xfrm>
          <a:prstGeom prst="rect">
            <a:avLst/>
          </a:prstGeom>
          <a:noFill/>
          <a:ln/>
        </p:spPr>
        <p:txBody>
          <a:bodyPr wrap="square" lIns="0" tIns="0" rIns="0" bIns="0" rtlCol="0" anchor="ctr"/>
          <a:lstStyle/>
          <a:p>
            <a:pPr marL="0" indent="0" algn="r">
              <a:buNone/>
            </a:pPr>
            <a:r>
              <a:rPr lang="en-US" sz="1000" dirty="0">
                <a:solidFill>
                  <a:srgbClr val="BCBFCC"/>
                </a:solidFill>
                <a:latin typeface="Manrope" pitchFamily="34" charset="0"/>
                <a:ea typeface="Manrope" pitchFamily="34" charset="-122"/>
                <a:cs typeface="Manrope"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PEOPLE</a:t>
            </a:r>
            <a:endParaRPr lang="en-US" sz="11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marL="0" indent="0" algn="l">
              <a:buNone/>
            </a:pPr>
            <a:r>
              <a:rPr lang="en-US" sz="2900" b="1" dirty="0">
                <a:solidFill>
                  <a:srgbClr val="0C2C3A"/>
                </a:solidFill>
                <a:latin typeface="Manrope" pitchFamily="34" charset="0"/>
                <a:ea typeface="Manrope" pitchFamily="34" charset="-122"/>
                <a:cs typeface="Manrope" pitchFamily="34" charset="-120"/>
              </a:rPr>
              <a:t>Leadership team</a:t>
            </a:r>
            <a:endParaRPr lang="en-US" sz="2900" dirty="0"/>
          </a:p>
        </p:txBody>
      </p:sp>
      <p:sp>
        <p:nvSpPr>
          <p:cNvPr id="4" name="Shape 2"/>
          <p:cNvSpPr/>
          <p:nvPr/>
        </p:nvSpPr>
        <p:spPr>
          <a:xfrm>
            <a:off x="640080" y="1371600"/>
            <a:ext cx="5239512" cy="2331720"/>
          </a:xfrm>
          <a:prstGeom prst="roundRect">
            <a:avLst>
              <a:gd name="adj" fmla="val 3922"/>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sp>
      <p:sp>
        <p:nvSpPr>
          <p:cNvPr id="5" name="Shape 3"/>
          <p:cNvSpPr/>
          <p:nvPr/>
        </p:nvSpPr>
        <p:spPr>
          <a:xfrm>
            <a:off x="932688" y="1664208"/>
            <a:ext cx="914400" cy="914400"/>
          </a:xfrm>
          <a:prstGeom prst="ellipse">
            <a:avLst/>
          </a:prstGeom>
          <a:solidFill>
            <a:srgbClr val="EDEFF7"/>
          </a:solidFill>
          <a:ln/>
        </p:spPr>
      </p:sp>
      <p:pic>
        <p:nvPicPr>
          <p:cNvPr id="6" name="Image 0" descr="preencoded.png"/>
          <p:cNvPicPr>
            <a:picLocks noChangeAspect="1"/>
          </p:cNvPicPr>
          <p:nvPr/>
        </p:nvPicPr>
        <p:blipFill>
          <a:blip r:embed="rId3"/>
          <a:stretch>
            <a:fillRect/>
          </a:stretch>
        </p:blipFill>
        <p:spPr>
          <a:xfrm>
            <a:off x="1197864" y="1929384"/>
            <a:ext cx="384048" cy="384048"/>
          </a:xfrm>
          <a:prstGeom prst="rect">
            <a:avLst/>
          </a:prstGeom>
        </p:spPr>
      </p:pic>
      <p:sp>
        <p:nvSpPr>
          <p:cNvPr id="7" name="Text 4"/>
          <p:cNvSpPr/>
          <p:nvPr/>
        </p:nvSpPr>
        <p:spPr>
          <a:xfrm>
            <a:off x="2011680" y="1737360"/>
            <a:ext cx="3657600" cy="384048"/>
          </a:xfrm>
          <a:prstGeom prst="rect">
            <a:avLst/>
          </a:prstGeom>
          <a:noFill/>
          <a:ln/>
        </p:spPr>
        <p:txBody>
          <a:bodyPr wrap="square" lIns="0" tIns="0" rIns="0" bIns="0" rtlCol="0" anchor="ctr"/>
          <a:lstStyle/>
          <a:p>
            <a:pPr marL="0" indent="0">
              <a:buNone/>
            </a:pPr>
            <a:r>
              <a:rPr lang="en-US" sz="1600" b="1" dirty="0">
                <a:solidFill>
                  <a:srgbClr val="0C2C3A"/>
                </a:solidFill>
                <a:latin typeface="Manrope" pitchFamily="34" charset="0"/>
                <a:ea typeface="Manrope" pitchFamily="34" charset="-122"/>
                <a:cs typeface="Manrope" pitchFamily="34" charset="-120"/>
              </a:rPr>
              <a:t>Ben Rice</a:t>
            </a:r>
            <a:endParaRPr lang="en-US" sz="1600" dirty="0"/>
          </a:p>
        </p:txBody>
      </p:sp>
      <p:sp>
        <p:nvSpPr>
          <p:cNvPr id="8" name="Text 5"/>
          <p:cNvSpPr/>
          <p:nvPr/>
        </p:nvSpPr>
        <p:spPr>
          <a:xfrm>
            <a:off x="2011680" y="2139696"/>
            <a:ext cx="3657600" cy="274320"/>
          </a:xfrm>
          <a:prstGeom prst="rect">
            <a:avLst/>
          </a:prstGeom>
          <a:noFill/>
          <a:ln/>
        </p:spPr>
        <p:txBody>
          <a:bodyPr wrap="square" lIns="0" tIns="0" rIns="0" bIns="0" rtlCol="0" anchor="ctr"/>
          <a:lstStyle/>
          <a:p>
            <a:pPr marL="0" indent="0">
              <a:buNone/>
            </a:pPr>
            <a:r>
              <a:rPr lang="en-US" sz="1000" b="1" kern="0" spc="150" dirty="0">
                <a:solidFill>
                  <a:srgbClr val="00B6DB"/>
                </a:solidFill>
                <a:latin typeface="Manrope" pitchFamily="34" charset="0"/>
                <a:ea typeface="Manrope" pitchFamily="34" charset="-122"/>
                <a:cs typeface="Manrope" pitchFamily="34" charset="-120"/>
              </a:rPr>
              <a:t>CHIEF OPERATIONS OFFICER</a:t>
            </a:r>
            <a:endParaRPr lang="en-US" sz="1000" dirty="0"/>
          </a:p>
        </p:txBody>
      </p:sp>
      <p:sp>
        <p:nvSpPr>
          <p:cNvPr id="9" name="Text 6"/>
          <p:cNvSpPr/>
          <p:nvPr/>
        </p:nvSpPr>
        <p:spPr>
          <a:xfrm>
            <a:off x="960120" y="2697480"/>
            <a:ext cx="4617720" cy="914400"/>
          </a:xfrm>
          <a:prstGeom prst="rect">
            <a:avLst/>
          </a:prstGeom>
          <a:noFill/>
          <a:ln/>
        </p:spPr>
        <p:txBody>
          <a:bodyPr wrap="square" lIns="0" tIns="0" rIns="0" bIns="0" rtlCol="0" anchor="t"/>
          <a:lstStyle/>
          <a:p>
            <a:pPr marL="0" indent="0">
              <a:lnSpc>
                <a:spcPct val="116000"/>
              </a:lnSpc>
              <a:buNone/>
            </a:pPr>
            <a:r>
              <a:rPr lang="en-US" sz="1050" dirty="0">
                <a:solidFill>
                  <a:srgbClr val="40424D"/>
                </a:solidFill>
                <a:latin typeface="Manrope" pitchFamily="34" charset="0"/>
                <a:ea typeface="Manrope" pitchFamily="34" charset="-122"/>
                <a:cs typeface="Manrope" pitchFamily="34" charset="-120"/>
              </a:rPr>
              <a:t>Ben leads on operations and governance, helping Aqualogic deliver at pace and with confidence. With two decades guiding the business through growth and change, he focuses on building resilient operations and practical water conservation outcomes.</a:t>
            </a:r>
            <a:endParaRPr lang="en-US" sz="1050" dirty="0"/>
          </a:p>
        </p:txBody>
      </p:sp>
      <p:sp>
        <p:nvSpPr>
          <p:cNvPr id="10" name="Shape 7"/>
          <p:cNvSpPr/>
          <p:nvPr/>
        </p:nvSpPr>
        <p:spPr>
          <a:xfrm>
            <a:off x="6245352" y="1371600"/>
            <a:ext cx="5239512" cy="2331720"/>
          </a:xfrm>
          <a:prstGeom prst="roundRect">
            <a:avLst>
              <a:gd name="adj" fmla="val 3922"/>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sp>
      <p:sp>
        <p:nvSpPr>
          <p:cNvPr id="11" name="Shape 8"/>
          <p:cNvSpPr/>
          <p:nvPr/>
        </p:nvSpPr>
        <p:spPr>
          <a:xfrm>
            <a:off x="6537960" y="1664208"/>
            <a:ext cx="914400" cy="914400"/>
          </a:xfrm>
          <a:prstGeom prst="ellipse">
            <a:avLst/>
          </a:prstGeom>
          <a:solidFill>
            <a:srgbClr val="EDEFF7"/>
          </a:solidFill>
          <a:ln/>
        </p:spPr>
      </p:sp>
      <p:pic>
        <p:nvPicPr>
          <p:cNvPr id="12" name="Image 1" descr="preencoded.png"/>
          <p:cNvPicPr>
            <a:picLocks noChangeAspect="1"/>
          </p:cNvPicPr>
          <p:nvPr/>
        </p:nvPicPr>
        <p:blipFill>
          <a:blip r:embed="rId3"/>
          <a:stretch>
            <a:fillRect/>
          </a:stretch>
        </p:blipFill>
        <p:spPr>
          <a:xfrm>
            <a:off x="6803136" y="1929384"/>
            <a:ext cx="384048" cy="384048"/>
          </a:xfrm>
          <a:prstGeom prst="rect">
            <a:avLst/>
          </a:prstGeom>
        </p:spPr>
      </p:pic>
      <p:sp>
        <p:nvSpPr>
          <p:cNvPr id="13" name="Text 9"/>
          <p:cNvSpPr/>
          <p:nvPr/>
        </p:nvSpPr>
        <p:spPr>
          <a:xfrm>
            <a:off x="7616952" y="1737360"/>
            <a:ext cx="3657600" cy="384048"/>
          </a:xfrm>
          <a:prstGeom prst="rect">
            <a:avLst/>
          </a:prstGeom>
          <a:noFill/>
          <a:ln/>
        </p:spPr>
        <p:txBody>
          <a:bodyPr wrap="square" lIns="0" tIns="0" rIns="0" bIns="0" rtlCol="0" anchor="ctr"/>
          <a:lstStyle/>
          <a:p>
            <a:pPr marL="0" indent="0">
              <a:buNone/>
            </a:pPr>
            <a:r>
              <a:rPr lang="en-US" sz="1600" b="1" dirty="0">
                <a:solidFill>
                  <a:srgbClr val="0C2C3A"/>
                </a:solidFill>
                <a:latin typeface="Manrope" pitchFamily="34" charset="0"/>
                <a:ea typeface="Manrope" pitchFamily="34" charset="-122"/>
                <a:cs typeface="Manrope" pitchFamily="34" charset="-120"/>
              </a:rPr>
              <a:t>Ashley Williams</a:t>
            </a:r>
            <a:endParaRPr lang="en-US" sz="1600" dirty="0"/>
          </a:p>
        </p:txBody>
      </p:sp>
      <p:sp>
        <p:nvSpPr>
          <p:cNvPr id="14" name="Text 10"/>
          <p:cNvSpPr/>
          <p:nvPr/>
        </p:nvSpPr>
        <p:spPr>
          <a:xfrm>
            <a:off x="7616952" y="2139696"/>
            <a:ext cx="3657600" cy="274320"/>
          </a:xfrm>
          <a:prstGeom prst="rect">
            <a:avLst/>
          </a:prstGeom>
          <a:noFill/>
          <a:ln/>
        </p:spPr>
        <p:txBody>
          <a:bodyPr wrap="square" lIns="0" tIns="0" rIns="0" bIns="0" rtlCol="0" anchor="ctr"/>
          <a:lstStyle/>
          <a:p>
            <a:pPr marL="0" indent="0">
              <a:buNone/>
            </a:pPr>
            <a:r>
              <a:rPr lang="en-US" sz="1000" b="1" kern="0" spc="150" dirty="0">
                <a:solidFill>
                  <a:srgbClr val="00B6DB"/>
                </a:solidFill>
                <a:latin typeface="Manrope" pitchFamily="34" charset="0"/>
                <a:ea typeface="Manrope" pitchFamily="34" charset="-122"/>
                <a:cs typeface="Manrope" pitchFamily="34" charset="-120"/>
              </a:rPr>
              <a:t>CHIEF GROWTH OFFICER</a:t>
            </a:r>
            <a:endParaRPr lang="en-US" sz="1000" dirty="0"/>
          </a:p>
        </p:txBody>
      </p:sp>
      <p:sp>
        <p:nvSpPr>
          <p:cNvPr id="15" name="Text 11"/>
          <p:cNvSpPr/>
          <p:nvPr/>
        </p:nvSpPr>
        <p:spPr>
          <a:xfrm>
            <a:off x="6565392" y="2697480"/>
            <a:ext cx="4617720" cy="914400"/>
          </a:xfrm>
          <a:prstGeom prst="rect">
            <a:avLst/>
          </a:prstGeom>
          <a:noFill/>
          <a:ln/>
        </p:spPr>
        <p:txBody>
          <a:bodyPr wrap="square" lIns="0" tIns="0" rIns="0" bIns="0" rtlCol="0" anchor="t"/>
          <a:lstStyle/>
          <a:p>
            <a:pPr marL="0" indent="0">
              <a:lnSpc>
                <a:spcPct val="116000"/>
              </a:lnSpc>
              <a:buNone/>
            </a:pPr>
            <a:r>
              <a:rPr lang="en-US" sz="1050" dirty="0">
                <a:solidFill>
                  <a:srgbClr val="40424D"/>
                </a:solidFill>
                <a:latin typeface="Manrope" pitchFamily="34" charset="0"/>
                <a:ea typeface="Manrope" pitchFamily="34" charset="-122"/>
                <a:cs typeface="Manrope" pitchFamily="34" charset="-120"/>
              </a:rPr>
              <a:t>Ashley leads our growth, shaping how we expand our services and strengthen our work across the water sector. He joined Aqualogic in 2011 and has built much of the market and partnership activity behind that growth.</a:t>
            </a:r>
            <a:endParaRPr lang="en-US" sz="1050" dirty="0"/>
          </a:p>
        </p:txBody>
      </p:sp>
      <p:sp>
        <p:nvSpPr>
          <p:cNvPr id="16" name="Shape 12"/>
          <p:cNvSpPr/>
          <p:nvPr/>
        </p:nvSpPr>
        <p:spPr>
          <a:xfrm>
            <a:off x="640080" y="3858768"/>
            <a:ext cx="5239512" cy="2331720"/>
          </a:xfrm>
          <a:prstGeom prst="roundRect">
            <a:avLst>
              <a:gd name="adj" fmla="val 3922"/>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sp>
      <p:sp>
        <p:nvSpPr>
          <p:cNvPr id="17" name="Shape 13"/>
          <p:cNvSpPr/>
          <p:nvPr/>
        </p:nvSpPr>
        <p:spPr>
          <a:xfrm>
            <a:off x="932688" y="4151376"/>
            <a:ext cx="914400" cy="914400"/>
          </a:xfrm>
          <a:prstGeom prst="ellipse">
            <a:avLst/>
          </a:prstGeom>
          <a:solidFill>
            <a:srgbClr val="EDEFF7"/>
          </a:solidFill>
          <a:ln/>
        </p:spPr>
      </p:sp>
      <p:pic>
        <p:nvPicPr>
          <p:cNvPr id="18" name="Image 2" descr="preencoded.png"/>
          <p:cNvPicPr>
            <a:picLocks noChangeAspect="1"/>
          </p:cNvPicPr>
          <p:nvPr/>
        </p:nvPicPr>
        <p:blipFill>
          <a:blip r:embed="rId3"/>
          <a:stretch>
            <a:fillRect/>
          </a:stretch>
        </p:blipFill>
        <p:spPr>
          <a:xfrm>
            <a:off x="1197864" y="4416552"/>
            <a:ext cx="384048" cy="384048"/>
          </a:xfrm>
          <a:prstGeom prst="rect">
            <a:avLst/>
          </a:prstGeom>
        </p:spPr>
      </p:pic>
      <p:sp>
        <p:nvSpPr>
          <p:cNvPr id="19" name="Text 14"/>
          <p:cNvSpPr/>
          <p:nvPr/>
        </p:nvSpPr>
        <p:spPr>
          <a:xfrm>
            <a:off x="2011680" y="4224528"/>
            <a:ext cx="3657600" cy="384048"/>
          </a:xfrm>
          <a:prstGeom prst="rect">
            <a:avLst/>
          </a:prstGeom>
          <a:noFill/>
          <a:ln/>
        </p:spPr>
        <p:txBody>
          <a:bodyPr wrap="square" lIns="0" tIns="0" rIns="0" bIns="0" rtlCol="0" anchor="ctr"/>
          <a:lstStyle/>
          <a:p>
            <a:pPr marL="0" indent="0">
              <a:buNone/>
            </a:pPr>
            <a:r>
              <a:rPr lang="en-US" sz="1600" b="1" dirty="0">
                <a:solidFill>
                  <a:srgbClr val="0C2C3A"/>
                </a:solidFill>
                <a:latin typeface="Manrope" pitchFamily="34" charset="0"/>
                <a:ea typeface="Manrope" pitchFamily="34" charset="-122"/>
                <a:cs typeface="Manrope" pitchFamily="34" charset="-120"/>
              </a:rPr>
              <a:t>Jonathan Adler</a:t>
            </a:r>
            <a:endParaRPr lang="en-US" sz="1600" dirty="0"/>
          </a:p>
        </p:txBody>
      </p:sp>
      <p:sp>
        <p:nvSpPr>
          <p:cNvPr id="20" name="Text 15"/>
          <p:cNvSpPr/>
          <p:nvPr/>
        </p:nvSpPr>
        <p:spPr>
          <a:xfrm>
            <a:off x="2011680" y="4626864"/>
            <a:ext cx="3657600" cy="274320"/>
          </a:xfrm>
          <a:prstGeom prst="rect">
            <a:avLst/>
          </a:prstGeom>
          <a:noFill/>
          <a:ln/>
        </p:spPr>
        <p:txBody>
          <a:bodyPr wrap="square" lIns="0" tIns="0" rIns="0" bIns="0" rtlCol="0" anchor="ctr"/>
          <a:lstStyle/>
          <a:p>
            <a:pPr marL="0" indent="0">
              <a:buNone/>
            </a:pPr>
            <a:r>
              <a:rPr lang="en-US" sz="1000" b="1" kern="0" spc="150" dirty="0">
                <a:solidFill>
                  <a:srgbClr val="00B6DB"/>
                </a:solidFill>
                <a:latin typeface="Manrope" pitchFamily="34" charset="0"/>
                <a:ea typeface="Manrope" pitchFamily="34" charset="-122"/>
                <a:cs typeface="Manrope" pitchFamily="34" charset="-120"/>
              </a:rPr>
              <a:t>CLIENT SERVICES DIRECTOR</a:t>
            </a:r>
            <a:endParaRPr lang="en-US" sz="1000" dirty="0"/>
          </a:p>
        </p:txBody>
      </p:sp>
      <p:sp>
        <p:nvSpPr>
          <p:cNvPr id="21" name="Text 16"/>
          <p:cNvSpPr/>
          <p:nvPr/>
        </p:nvSpPr>
        <p:spPr>
          <a:xfrm>
            <a:off x="960120" y="5184648"/>
            <a:ext cx="4617720" cy="914400"/>
          </a:xfrm>
          <a:prstGeom prst="rect">
            <a:avLst/>
          </a:prstGeom>
          <a:noFill/>
          <a:ln/>
        </p:spPr>
        <p:txBody>
          <a:bodyPr wrap="square" lIns="0" tIns="0" rIns="0" bIns="0" rtlCol="0" anchor="t"/>
          <a:lstStyle/>
          <a:p>
            <a:pPr marL="0" indent="0">
              <a:lnSpc>
                <a:spcPct val="116000"/>
              </a:lnSpc>
              <a:buNone/>
            </a:pPr>
            <a:r>
              <a:rPr lang="en-US" sz="1050" dirty="0">
                <a:solidFill>
                  <a:srgbClr val="40424D"/>
                </a:solidFill>
                <a:latin typeface="Manrope" pitchFamily="34" charset="0"/>
                <a:ea typeface="Manrope" pitchFamily="34" charset="-122"/>
                <a:cs typeface="Manrope" pitchFamily="34" charset="-120"/>
              </a:rPr>
              <a:t>Jonathan leads Client Services, making sure customers get a consistent, high-quality experience from first contact through to ongoing support. He brings strong commercial insight and a deep understanding of the UK water sector.</a:t>
            </a:r>
            <a:endParaRPr lang="en-US" sz="1050" dirty="0"/>
          </a:p>
        </p:txBody>
      </p:sp>
      <p:sp>
        <p:nvSpPr>
          <p:cNvPr id="22" name="Shape 17"/>
          <p:cNvSpPr/>
          <p:nvPr/>
        </p:nvSpPr>
        <p:spPr>
          <a:xfrm>
            <a:off x="6245352" y="3858768"/>
            <a:ext cx="5239512" cy="2331720"/>
          </a:xfrm>
          <a:prstGeom prst="roundRect">
            <a:avLst>
              <a:gd name="adj" fmla="val 3922"/>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sp>
      <p:sp>
        <p:nvSpPr>
          <p:cNvPr id="23" name="Shape 18"/>
          <p:cNvSpPr/>
          <p:nvPr/>
        </p:nvSpPr>
        <p:spPr>
          <a:xfrm>
            <a:off x="6537960" y="4151376"/>
            <a:ext cx="914400" cy="914400"/>
          </a:xfrm>
          <a:prstGeom prst="ellipse">
            <a:avLst/>
          </a:prstGeom>
          <a:solidFill>
            <a:srgbClr val="EDEFF7"/>
          </a:solidFill>
          <a:ln/>
        </p:spPr>
      </p:sp>
      <p:pic>
        <p:nvPicPr>
          <p:cNvPr id="24" name="Image 3" descr="preencoded.png"/>
          <p:cNvPicPr>
            <a:picLocks noChangeAspect="1"/>
          </p:cNvPicPr>
          <p:nvPr/>
        </p:nvPicPr>
        <p:blipFill>
          <a:blip r:embed="rId3"/>
          <a:stretch>
            <a:fillRect/>
          </a:stretch>
        </p:blipFill>
        <p:spPr>
          <a:xfrm>
            <a:off x="6803136" y="4416552"/>
            <a:ext cx="384048" cy="384048"/>
          </a:xfrm>
          <a:prstGeom prst="rect">
            <a:avLst/>
          </a:prstGeom>
        </p:spPr>
      </p:pic>
      <p:sp>
        <p:nvSpPr>
          <p:cNvPr id="25" name="Text 19"/>
          <p:cNvSpPr/>
          <p:nvPr/>
        </p:nvSpPr>
        <p:spPr>
          <a:xfrm>
            <a:off x="7616952" y="4224528"/>
            <a:ext cx="3657600" cy="384048"/>
          </a:xfrm>
          <a:prstGeom prst="rect">
            <a:avLst/>
          </a:prstGeom>
          <a:noFill/>
          <a:ln/>
        </p:spPr>
        <p:txBody>
          <a:bodyPr wrap="square" lIns="0" tIns="0" rIns="0" bIns="0" rtlCol="0" anchor="ctr"/>
          <a:lstStyle/>
          <a:p>
            <a:pPr marL="0" indent="0">
              <a:buNone/>
            </a:pPr>
            <a:r>
              <a:rPr lang="en-US" sz="1600" b="1" dirty="0">
                <a:solidFill>
                  <a:srgbClr val="0C2C3A"/>
                </a:solidFill>
                <a:latin typeface="Manrope" pitchFamily="34" charset="0"/>
                <a:ea typeface="Manrope" pitchFamily="34" charset="-122"/>
                <a:cs typeface="Manrope" pitchFamily="34" charset="-120"/>
              </a:rPr>
              <a:t>Wayne Arscott</a:t>
            </a:r>
            <a:endParaRPr lang="en-US" sz="1600" dirty="0"/>
          </a:p>
        </p:txBody>
      </p:sp>
      <p:sp>
        <p:nvSpPr>
          <p:cNvPr id="26" name="Text 20"/>
          <p:cNvSpPr/>
          <p:nvPr/>
        </p:nvSpPr>
        <p:spPr>
          <a:xfrm>
            <a:off x="7616952" y="4626864"/>
            <a:ext cx="3657600" cy="274320"/>
          </a:xfrm>
          <a:prstGeom prst="rect">
            <a:avLst/>
          </a:prstGeom>
          <a:noFill/>
          <a:ln/>
        </p:spPr>
        <p:txBody>
          <a:bodyPr wrap="square" lIns="0" tIns="0" rIns="0" bIns="0" rtlCol="0" anchor="ctr"/>
          <a:lstStyle/>
          <a:p>
            <a:pPr marL="0" indent="0">
              <a:buNone/>
            </a:pPr>
            <a:r>
              <a:rPr lang="en-US" sz="1000" b="1" kern="0" spc="150" dirty="0">
                <a:solidFill>
                  <a:srgbClr val="00B6DB"/>
                </a:solidFill>
                <a:latin typeface="Manrope" pitchFamily="34" charset="0"/>
                <a:ea typeface="Manrope" pitchFamily="34" charset="-122"/>
                <a:cs typeface="Manrope" pitchFamily="34" charset="-120"/>
              </a:rPr>
              <a:t>WATER SERVICES DIRECTOR</a:t>
            </a:r>
            <a:endParaRPr lang="en-US" sz="1000" dirty="0"/>
          </a:p>
        </p:txBody>
      </p:sp>
      <p:sp>
        <p:nvSpPr>
          <p:cNvPr id="27" name="Text 21"/>
          <p:cNvSpPr/>
          <p:nvPr/>
        </p:nvSpPr>
        <p:spPr>
          <a:xfrm>
            <a:off x="6565392" y="5184648"/>
            <a:ext cx="4617720" cy="914400"/>
          </a:xfrm>
          <a:prstGeom prst="rect">
            <a:avLst/>
          </a:prstGeom>
          <a:noFill/>
          <a:ln/>
        </p:spPr>
        <p:txBody>
          <a:bodyPr wrap="square" lIns="0" tIns="0" rIns="0" bIns="0" rtlCol="0" anchor="t"/>
          <a:lstStyle/>
          <a:p>
            <a:pPr marL="0" indent="0">
              <a:lnSpc>
                <a:spcPct val="116000"/>
              </a:lnSpc>
              <a:buNone/>
            </a:pPr>
            <a:r>
              <a:rPr lang="en-US" sz="1050" dirty="0">
                <a:solidFill>
                  <a:srgbClr val="40424D"/>
                </a:solidFill>
                <a:latin typeface="Manrope" pitchFamily="34" charset="0"/>
                <a:ea typeface="Manrope" pitchFamily="34" charset="-122"/>
                <a:cs typeface="Manrope" pitchFamily="34" charset="-120"/>
              </a:rPr>
              <a:t>Wayne leads our Water Services Division, bringing extensive experience from senior roles across the UK water sector, including Dŵr Cymru Welsh Water, South West Water and Wessex Water. He joined the Aqualogic board in 2025 and is recognised for his expertise in leakage detection and frontline delivery.</a:t>
            </a:r>
            <a:endParaRPr lang="en-US" sz="1050" dirty="0"/>
          </a:p>
        </p:txBody>
      </p:sp>
      <p:pic>
        <p:nvPicPr>
          <p:cNvPr id="28" name="Image 4" descr="/home/claude/deck/img/mark.png"/>
          <p:cNvPicPr>
            <a:picLocks noChangeAspect="1"/>
          </p:cNvPicPr>
          <p:nvPr/>
        </p:nvPicPr>
        <p:blipFill>
          <a:blip r:embed="rId4"/>
          <a:stretch>
            <a:fillRect/>
          </a:stretch>
        </p:blipFill>
        <p:spPr>
          <a:xfrm>
            <a:off x="640080" y="6345936"/>
            <a:ext cx="292608" cy="292608"/>
          </a:xfrm>
          <a:prstGeom prst="rect">
            <a:avLst/>
          </a:prstGeom>
        </p:spPr>
      </p:pic>
      <p:sp>
        <p:nvSpPr>
          <p:cNvPr id="29" name="Text 22"/>
          <p:cNvSpPr/>
          <p:nvPr/>
        </p:nvSpPr>
        <p:spPr>
          <a:xfrm>
            <a:off x="11048695" y="6382512"/>
            <a:ext cx="548640" cy="274320"/>
          </a:xfrm>
          <a:prstGeom prst="rect">
            <a:avLst/>
          </a:prstGeom>
          <a:noFill/>
          <a:ln/>
        </p:spPr>
        <p:txBody>
          <a:bodyPr wrap="square" lIns="0" tIns="0" rIns="0" bIns="0" rtlCol="0" anchor="ctr"/>
          <a:lstStyle/>
          <a:p>
            <a:pPr marL="0" indent="0" algn="r">
              <a:buNone/>
            </a:pPr>
            <a:r>
              <a:rPr lang="en-US" sz="1000" dirty="0">
                <a:solidFill>
                  <a:srgbClr val="6E7180"/>
                </a:solidFill>
                <a:latin typeface="Manrope" pitchFamily="34" charset="0"/>
                <a:ea typeface="Manrope" pitchFamily="34" charset="-122"/>
                <a:cs typeface="Manrope"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DATA</a:t>
            </a:r>
            <a:endParaRPr lang="en-US" sz="11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marL="0" indent="0" algn="l">
              <a:buNone/>
            </a:pPr>
            <a:r>
              <a:rPr lang="en-US" sz="2900" b="1" dirty="0">
                <a:solidFill>
                  <a:srgbClr val="0C2C3A"/>
                </a:solidFill>
                <a:latin typeface="Manrope" pitchFamily="34" charset="0"/>
                <a:ea typeface="Manrope" pitchFamily="34" charset="-122"/>
                <a:cs typeface="Manrope" pitchFamily="34" charset="-120"/>
              </a:rPr>
              <a:t>Lorem ipsum data</a:t>
            </a:r>
            <a:endParaRPr lang="en-US" sz="2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743200">
                  <a:extLst>
                    <a:ext uri="{9D8B030D-6E8A-4147-A177-3AD203B41FA5}">
                      <a16:colId xmlns:a16="http://schemas.microsoft.com/office/drawing/2014/main" val="20000"/>
                    </a:ext>
                  </a:extLst>
                </a:gridCol>
                <a:gridCol w="2724912">
                  <a:extLst>
                    <a:ext uri="{9D8B030D-6E8A-4147-A177-3AD203B41FA5}">
                      <a16:colId xmlns:a16="http://schemas.microsoft.com/office/drawing/2014/main" val="20001"/>
                    </a:ext>
                  </a:extLst>
                </a:gridCol>
                <a:gridCol w="2724912">
                  <a:extLst>
                    <a:ext uri="{9D8B030D-6E8A-4147-A177-3AD203B41FA5}">
                      <a16:colId xmlns:a16="http://schemas.microsoft.com/office/drawing/2014/main" val="20002"/>
                    </a:ext>
                  </a:extLst>
                </a:gridCol>
                <a:gridCol w="2715768">
                  <a:extLst>
                    <a:ext uri="{9D8B030D-6E8A-4147-A177-3AD203B41FA5}">
                      <a16:colId xmlns:a16="http://schemas.microsoft.com/office/drawing/2014/main" val="20003"/>
                    </a:ext>
                  </a:extLst>
                </a:gridCol>
              </a:tblGrid>
              <a:tr h="548640">
                <a:tc>
                  <a:txBody>
                    <a:bodyPr/>
                    <a:lstStyle/>
                    <a:p>
                      <a:pPr marL="0" indent="0" algn="l">
                        <a:buNone/>
                      </a:pPr>
                      <a:r>
                        <a:rPr lang="en-US" sz="1300" b="1" dirty="0">
                          <a:solidFill>
                            <a:srgbClr val="FFFFFF"/>
                          </a:solidFill>
                          <a:latin typeface="Manrope" pitchFamily="34" charset="0"/>
                          <a:ea typeface="Manrope" pitchFamily="34" charset="-122"/>
                          <a:cs typeface="Manrope" pitchFamily="34" charset="-120"/>
                        </a:rPr>
                        <a:t>Lorem</a:t>
                      </a:r>
                      <a:endParaRPr lang="en-US" sz="1300" dirty="0">
                        <a:latin typeface="Manrope" charset="0"/>
                        <a:ea typeface="Manrope" charset="0"/>
                        <a:cs typeface="Manrope" charset="0"/>
                      </a:endParaRPr>
                    </a:p>
                  </a:txBody>
                  <a:tcPr marL="101600" marR="101600" marT="50800" marB="508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0C2C3A"/>
                    </a:solidFill>
                  </a:tcPr>
                </a:tc>
                <a:tc>
                  <a:txBody>
                    <a:bodyPr/>
                    <a:lstStyle/>
                    <a:p>
                      <a:pPr marL="0" indent="0" algn="l">
                        <a:buNone/>
                      </a:pPr>
                      <a:r>
                        <a:rPr lang="en-US" sz="1300" b="1" dirty="0">
                          <a:solidFill>
                            <a:srgbClr val="FFFFFF"/>
                          </a:solidFill>
                          <a:latin typeface="Manrope" pitchFamily="34" charset="0"/>
                          <a:ea typeface="Manrope" pitchFamily="34" charset="-122"/>
                          <a:cs typeface="Manrope" pitchFamily="34" charset="-120"/>
                        </a:rPr>
                        <a:t>Ipsum</a:t>
                      </a:r>
                      <a:endParaRPr lang="en-US" sz="1300" dirty="0">
                        <a:latin typeface="Manrope" charset="0"/>
                        <a:ea typeface="Manrope" charset="0"/>
                        <a:cs typeface="Manrope" charset="0"/>
                      </a:endParaRPr>
                    </a:p>
                  </a:txBody>
                  <a:tcPr marL="101600" marR="101600" marT="50800" marB="508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0C2C3A"/>
                    </a:solidFill>
                  </a:tcPr>
                </a:tc>
                <a:tc>
                  <a:txBody>
                    <a:bodyPr/>
                    <a:lstStyle/>
                    <a:p>
                      <a:pPr marL="0" indent="0" algn="l">
                        <a:buNone/>
                      </a:pPr>
                      <a:r>
                        <a:rPr lang="en-US" sz="1300" b="1" dirty="0">
                          <a:solidFill>
                            <a:srgbClr val="FFFFFF"/>
                          </a:solidFill>
                          <a:latin typeface="Manrope" pitchFamily="34" charset="0"/>
                          <a:ea typeface="Manrope" pitchFamily="34" charset="-122"/>
                          <a:cs typeface="Manrope" pitchFamily="34" charset="-120"/>
                        </a:rPr>
                        <a:t>Dolor</a:t>
                      </a:r>
                      <a:endParaRPr lang="en-US" sz="1300" dirty="0">
                        <a:latin typeface="Manrope" charset="0"/>
                        <a:ea typeface="Manrope" charset="0"/>
                        <a:cs typeface="Manrope" charset="0"/>
                      </a:endParaRPr>
                    </a:p>
                  </a:txBody>
                  <a:tcPr marL="101600" marR="101600" marT="50800" marB="508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0C2C3A"/>
                    </a:solidFill>
                  </a:tcPr>
                </a:tc>
                <a:tc>
                  <a:txBody>
                    <a:bodyPr/>
                    <a:lstStyle/>
                    <a:p>
                      <a:pPr marL="0" indent="0" algn="l">
                        <a:buNone/>
                      </a:pPr>
                      <a:r>
                        <a:rPr lang="en-US" sz="1300" b="1" dirty="0">
                          <a:solidFill>
                            <a:srgbClr val="FFFFFF"/>
                          </a:solidFill>
                          <a:latin typeface="Manrope" pitchFamily="34" charset="0"/>
                          <a:ea typeface="Manrope" pitchFamily="34" charset="-122"/>
                          <a:cs typeface="Manrope" pitchFamily="34" charset="-120"/>
                        </a:rPr>
                        <a:t>Amet</a:t>
                      </a:r>
                      <a:endParaRPr lang="en-US" sz="1300" dirty="0">
                        <a:latin typeface="Manrope" charset="0"/>
                        <a:ea typeface="Manrope" charset="0"/>
                        <a:cs typeface="Manrope" charset="0"/>
                      </a:endParaRPr>
                    </a:p>
                  </a:txBody>
                  <a:tcPr marL="101600" marR="101600" marT="50800" marB="508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0C2C3A"/>
                    </a:solidFill>
                  </a:tcPr>
                </a:tc>
                <a:extLst>
                  <a:ext uri="{0D108BD9-81ED-4DB2-BD59-A6C34878D82A}">
                    <a16:rowId xmlns:a16="http://schemas.microsoft.com/office/drawing/2014/main" val="10000"/>
                  </a:ext>
                </a:extLst>
              </a:tr>
              <a:tr h="548640">
                <a:tc>
                  <a:txBody>
                    <a:bodyPr/>
                    <a:lstStyle/>
                    <a:p>
                      <a:pPr marL="0" indent="0" algn="l">
                        <a:buNone/>
                      </a:pPr>
                      <a:r>
                        <a:rPr lang="en-US" sz="1250" dirty="0">
                          <a:solidFill>
                            <a:srgbClr val="40424D"/>
                          </a:solidFill>
                          <a:latin typeface="Manrope" pitchFamily="34" charset="0"/>
                          <a:ea typeface="Manrope" pitchFamily="34" charset="-122"/>
                          <a:cs typeface="Manrope" pitchFamily="34" charset="-120"/>
                        </a:rPr>
                        <a:t>Lorem ipsum</a:t>
                      </a:r>
                      <a:endParaRPr lang="en-US" sz="1250" dirty="0">
                        <a:latin typeface="Manrope" charset="0"/>
                        <a:ea typeface="Manrope" charset="0"/>
                        <a:cs typeface="Manrope" charset="0"/>
                      </a:endParaRPr>
                    </a:p>
                  </a:txBody>
                  <a:tcPr marL="101600" marR="101600" marT="50800" marB="508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0424D"/>
                          </a:solidFill>
                          <a:latin typeface="Manrope" pitchFamily="34" charset="0"/>
                          <a:ea typeface="Manrope" pitchFamily="34" charset="-122"/>
                          <a:cs typeface="Manrope" pitchFamily="34" charset="-120"/>
                        </a:rPr>
                        <a:t>Consectetur</a:t>
                      </a:r>
                      <a:endParaRPr lang="en-US" sz="1250" dirty="0">
                        <a:latin typeface="Manrope" charset="0"/>
                        <a:ea typeface="Manrope" charset="0"/>
                        <a:cs typeface="Manrope" charset="0"/>
                      </a:endParaRPr>
                    </a:p>
                  </a:txBody>
                  <a:tcPr marL="101600" marR="101600" marT="50800" marB="508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0424D"/>
                          </a:solidFill>
                          <a:latin typeface="Manrope" pitchFamily="34" charset="0"/>
                          <a:ea typeface="Manrope" pitchFamily="34" charset="-122"/>
                          <a:cs typeface="Manrope" pitchFamily="34" charset="-120"/>
                        </a:rPr>
                        <a:t>Adipiscing</a:t>
                      </a:r>
                      <a:endParaRPr lang="en-US" sz="1250" dirty="0">
                        <a:latin typeface="Manrope" charset="0"/>
                        <a:ea typeface="Manrope" charset="0"/>
                        <a:cs typeface="Manrope" charset="0"/>
                      </a:endParaRPr>
                    </a:p>
                  </a:txBody>
                  <a:tcPr marL="101600" marR="101600" marT="50800" marB="508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0424D"/>
                          </a:solidFill>
                          <a:latin typeface="Manrope" pitchFamily="34" charset="0"/>
                          <a:ea typeface="Manrope" pitchFamily="34" charset="-122"/>
                          <a:cs typeface="Manrope" pitchFamily="34" charset="-120"/>
                        </a:rPr>
                        <a:t>Elit 1</a:t>
                      </a:r>
                      <a:endParaRPr lang="en-US" sz="1250" dirty="0">
                        <a:latin typeface="Manrope" charset="0"/>
                        <a:ea typeface="Manrope" charset="0"/>
                        <a:cs typeface="Manrope" charset="0"/>
                      </a:endParaRPr>
                    </a:p>
                  </a:txBody>
                  <a:tcPr marL="101600" marR="101600" marT="50800" marB="508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250" dirty="0">
                          <a:solidFill>
                            <a:srgbClr val="40424D"/>
                          </a:solidFill>
                          <a:latin typeface="Manrope" pitchFamily="34" charset="0"/>
                          <a:ea typeface="Manrope" pitchFamily="34" charset="-122"/>
                          <a:cs typeface="Manrope" pitchFamily="34" charset="-120"/>
                        </a:rPr>
                        <a:t>Lorem ipsum</a:t>
                      </a:r>
                      <a:endParaRPr lang="en-US" sz="1250" dirty="0">
                        <a:latin typeface="Manrope" charset="0"/>
                        <a:ea typeface="Manrope" charset="0"/>
                        <a:cs typeface="Manrope" charset="0"/>
                      </a:endParaRPr>
                    </a:p>
                  </a:txBody>
                  <a:tcPr marL="101600" marR="101600" marT="50800" marB="508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EDEFF7"/>
                    </a:solidFill>
                  </a:tcPr>
                </a:tc>
                <a:tc>
                  <a:txBody>
                    <a:bodyPr/>
                    <a:lstStyle/>
                    <a:p>
                      <a:pPr marL="0" indent="0" algn="l">
                        <a:buNone/>
                      </a:pPr>
                      <a:r>
                        <a:rPr lang="en-US" sz="1250" dirty="0">
                          <a:solidFill>
                            <a:srgbClr val="40424D"/>
                          </a:solidFill>
                          <a:latin typeface="Manrope" pitchFamily="34" charset="0"/>
                          <a:ea typeface="Manrope" pitchFamily="34" charset="-122"/>
                          <a:cs typeface="Manrope" pitchFamily="34" charset="-120"/>
                        </a:rPr>
                        <a:t>Consectetur</a:t>
                      </a:r>
                      <a:endParaRPr lang="en-US" sz="1250" dirty="0">
                        <a:latin typeface="Manrope" charset="0"/>
                        <a:ea typeface="Manrope" charset="0"/>
                        <a:cs typeface="Manrope" charset="0"/>
                      </a:endParaRPr>
                    </a:p>
                  </a:txBody>
                  <a:tcPr marL="101600" marR="101600" marT="50800" marB="508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EDEFF7"/>
                    </a:solidFill>
                  </a:tcPr>
                </a:tc>
                <a:tc>
                  <a:txBody>
                    <a:bodyPr/>
                    <a:lstStyle/>
                    <a:p>
                      <a:pPr marL="0" indent="0" algn="l">
                        <a:buNone/>
                      </a:pPr>
                      <a:r>
                        <a:rPr lang="en-US" sz="1250" dirty="0">
                          <a:solidFill>
                            <a:srgbClr val="40424D"/>
                          </a:solidFill>
                          <a:latin typeface="Manrope" pitchFamily="34" charset="0"/>
                          <a:ea typeface="Manrope" pitchFamily="34" charset="-122"/>
                          <a:cs typeface="Manrope" pitchFamily="34" charset="-120"/>
                        </a:rPr>
                        <a:t>Adipiscing</a:t>
                      </a:r>
                      <a:endParaRPr lang="en-US" sz="1250" dirty="0">
                        <a:latin typeface="Manrope" charset="0"/>
                        <a:ea typeface="Manrope" charset="0"/>
                        <a:cs typeface="Manrope" charset="0"/>
                      </a:endParaRPr>
                    </a:p>
                  </a:txBody>
                  <a:tcPr marL="101600" marR="101600" marT="50800" marB="508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EDEFF7"/>
                    </a:solidFill>
                  </a:tcPr>
                </a:tc>
                <a:tc>
                  <a:txBody>
                    <a:bodyPr/>
                    <a:lstStyle/>
                    <a:p>
                      <a:pPr marL="0" indent="0" algn="l">
                        <a:buNone/>
                      </a:pPr>
                      <a:r>
                        <a:rPr lang="en-US" sz="1250" dirty="0">
                          <a:solidFill>
                            <a:srgbClr val="40424D"/>
                          </a:solidFill>
                          <a:latin typeface="Manrope" pitchFamily="34" charset="0"/>
                          <a:ea typeface="Manrope" pitchFamily="34" charset="-122"/>
                          <a:cs typeface="Manrope" pitchFamily="34" charset="-120"/>
                        </a:rPr>
                        <a:t>Elit 2</a:t>
                      </a:r>
                      <a:endParaRPr lang="en-US" sz="1250" dirty="0">
                        <a:latin typeface="Manrope" charset="0"/>
                        <a:ea typeface="Manrope" charset="0"/>
                        <a:cs typeface="Manrope" charset="0"/>
                      </a:endParaRPr>
                    </a:p>
                  </a:txBody>
                  <a:tcPr marL="101600" marR="101600" marT="50800" marB="508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EDEFF7"/>
                    </a:solidFill>
                  </a:tcPr>
                </a:tc>
                <a:extLst>
                  <a:ext uri="{0D108BD9-81ED-4DB2-BD59-A6C34878D82A}">
                    <a16:rowId xmlns:a16="http://schemas.microsoft.com/office/drawing/2014/main" val="10002"/>
                  </a:ext>
                </a:extLst>
              </a:tr>
              <a:tr h="548640">
                <a:tc>
                  <a:txBody>
                    <a:bodyPr/>
                    <a:lstStyle/>
                    <a:p>
                      <a:pPr marL="0" indent="0" algn="l">
                        <a:buNone/>
                      </a:pPr>
                      <a:r>
                        <a:rPr lang="en-US" sz="1250" dirty="0">
                          <a:solidFill>
                            <a:srgbClr val="40424D"/>
                          </a:solidFill>
                          <a:latin typeface="Manrope" pitchFamily="34" charset="0"/>
                          <a:ea typeface="Manrope" pitchFamily="34" charset="-122"/>
                          <a:cs typeface="Manrope" pitchFamily="34" charset="-120"/>
                        </a:rPr>
                        <a:t>Lorem ipsum</a:t>
                      </a:r>
                      <a:endParaRPr lang="en-US" sz="1250" dirty="0">
                        <a:latin typeface="Manrope" charset="0"/>
                        <a:ea typeface="Manrope" charset="0"/>
                        <a:cs typeface="Manrope" charset="0"/>
                      </a:endParaRPr>
                    </a:p>
                  </a:txBody>
                  <a:tcPr marL="101600" marR="101600" marT="50800" marB="508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0424D"/>
                          </a:solidFill>
                          <a:latin typeface="Manrope" pitchFamily="34" charset="0"/>
                          <a:ea typeface="Manrope" pitchFamily="34" charset="-122"/>
                          <a:cs typeface="Manrope" pitchFamily="34" charset="-120"/>
                        </a:rPr>
                        <a:t>Consectetur</a:t>
                      </a:r>
                      <a:endParaRPr lang="en-US" sz="1250" dirty="0">
                        <a:latin typeface="Manrope" charset="0"/>
                        <a:ea typeface="Manrope" charset="0"/>
                        <a:cs typeface="Manrope" charset="0"/>
                      </a:endParaRPr>
                    </a:p>
                  </a:txBody>
                  <a:tcPr marL="101600" marR="101600" marT="50800" marB="508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0424D"/>
                          </a:solidFill>
                          <a:latin typeface="Manrope" pitchFamily="34" charset="0"/>
                          <a:ea typeface="Manrope" pitchFamily="34" charset="-122"/>
                          <a:cs typeface="Manrope" pitchFamily="34" charset="-120"/>
                        </a:rPr>
                        <a:t>Adipiscing</a:t>
                      </a:r>
                      <a:endParaRPr lang="en-US" sz="1250" dirty="0">
                        <a:latin typeface="Manrope" charset="0"/>
                        <a:ea typeface="Manrope" charset="0"/>
                        <a:cs typeface="Manrope" charset="0"/>
                      </a:endParaRPr>
                    </a:p>
                  </a:txBody>
                  <a:tcPr marL="101600" marR="101600" marT="50800" marB="508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0424D"/>
                          </a:solidFill>
                          <a:latin typeface="Manrope" pitchFamily="34" charset="0"/>
                          <a:ea typeface="Manrope" pitchFamily="34" charset="-122"/>
                          <a:cs typeface="Manrope" pitchFamily="34" charset="-120"/>
                        </a:rPr>
                        <a:t>Elit 3</a:t>
                      </a:r>
                      <a:endParaRPr lang="en-US" sz="1250" dirty="0">
                        <a:latin typeface="Manrope" charset="0"/>
                        <a:ea typeface="Manrope" charset="0"/>
                        <a:cs typeface="Manrope" charset="0"/>
                      </a:endParaRPr>
                    </a:p>
                  </a:txBody>
                  <a:tcPr marL="101600" marR="101600" marT="50800" marB="508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250" dirty="0">
                          <a:solidFill>
                            <a:srgbClr val="40424D"/>
                          </a:solidFill>
                          <a:latin typeface="Manrope" pitchFamily="34" charset="0"/>
                          <a:ea typeface="Manrope" pitchFamily="34" charset="-122"/>
                          <a:cs typeface="Manrope" pitchFamily="34" charset="-120"/>
                        </a:rPr>
                        <a:t>Lorem ipsum</a:t>
                      </a:r>
                      <a:endParaRPr lang="en-US" sz="1250" dirty="0">
                        <a:latin typeface="Manrope" charset="0"/>
                        <a:ea typeface="Manrope" charset="0"/>
                        <a:cs typeface="Manrope" charset="0"/>
                      </a:endParaRPr>
                    </a:p>
                  </a:txBody>
                  <a:tcPr marL="101600" marR="101600" marT="50800" marB="508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EDEFF7"/>
                    </a:solidFill>
                  </a:tcPr>
                </a:tc>
                <a:tc>
                  <a:txBody>
                    <a:bodyPr/>
                    <a:lstStyle/>
                    <a:p>
                      <a:pPr marL="0" indent="0" algn="l">
                        <a:buNone/>
                      </a:pPr>
                      <a:r>
                        <a:rPr lang="en-US" sz="1250" dirty="0">
                          <a:solidFill>
                            <a:srgbClr val="40424D"/>
                          </a:solidFill>
                          <a:latin typeface="Manrope" pitchFamily="34" charset="0"/>
                          <a:ea typeface="Manrope" pitchFamily="34" charset="-122"/>
                          <a:cs typeface="Manrope" pitchFamily="34" charset="-120"/>
                        </a:rPr>
                        <a:t>Consectetur</a:t>
                      </a:r>
                      <a:endParaRPr lang="en-US" sz="1250" dirty="0">
                        <a:latin typeface="Manrope" charset="0"/>
                        <a:ea typeface="Manrope" charset="0"/>
                        <a:cs typeface="Manrope" charset="0"/>
                      </a:endParaRPr>
                    </a:p>
                  </a:txBody>
                  <a:tcPr marL="101600" marR="101600" marT="50800" marB="508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EDEFF7"/>
                    </a:solidFill>
                  </a:tcPr>
                </a:tc>
                <a:tc>
                  <a:txBody>
                    <a:bodyPr/>
                    <a:lstStyle/>
                    <a:p>
                      <a:pPr marL="0" indent="0" algn="l">
                        <a:buNone/>
                      </a:pPr>
                      <a:r>
                        <a:rPr lang="en-US" sz="1250" dirty="0">
                          <a:solidFill>
                            <a:srgbClr val="40424D"/>
                          </a:solidFill>
                          <a:latin typeface="Manrope" pitchFamily="34" charset="0"/>
                          <a:ea typeface="Manrope" pitchFamily="34" charset="-122"/>
                          <a:cs typeface="Manrope" pitchFamily="34" charset="-120"/>
                        </a:rPr>
                        <a:t>Adipiscing</a:t>
                      </a:r>
                      <a:endParaRPr lang="en-US" sz="1250" dirty="0">
                        <a:latin typeface="Manrope" charset="0"/>
                        <a:ea typeface="Manrope" charset="0"/>
                        <a:cs typeface="Manrope" charset="0"/>
                      </a:endParaRPr>
                    </a:p>
                  </a:txBody>
                  <a:tcPr marL="101600" marR="101600" marT="50800" marB="508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EDEFF7"/>
                    </a:solidFill>
                  </a:tcPr>
                </a:tc>
                <a:tc>
                  <a:txBody>
                    <a:bodyPr/>
                    <a:lstStyle/>
                    <a:p>
                      <a:pPr marL="0" indent="0" algn="l">
                        <a:buNone/>
                      </a:pPr>
                      <a:r>
                        <a:rPr lang="en-US" sz="1250" dirty="0">
                          <a:solidFill>
                            <a:srgbClr val="40424D"/>
                          </a:solidFill>
                          <a:latin typeface="Manrope" pitchFamily="34" charset="0"/>
                          <a:ea typeface="Manrope" pitchFamily="34" charset="-122"/>
                          <a:cs typeface="Manrope" pitchFamily="34" charset="-120"/>
                        </a:rPr>
                        <a:t>Elit 4</a:t>
                      </a:r>
                      <a:endParaRPr lang="en-US" sz="1250" dirty="0">
                        <a:latin typeface="Manrope" charset="0"/>
                        <a:ea typeface="Manrope" charset="0"/>
                        <a:cs typeface="Manrope" charset="0"/>
                      </a:endParaRPr>
                    </a:p>
                  </a:txBody>
                  <a:tcPr marL="101600" marR="101600" marT="50800" marB="508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EDEFF7"/>
                    </a:solidFill>
                  </a:tcPr>
                </a:tc>
                <a:extLst>
                  <a:ext uri="{0D108BD9-81ED-4DB2-BD59-A6C34878D82A}">
                    <a16:rowId xmlns:a16="http://schemas.microsoft.com/office/drawing/2014/main" val="10004"/>
                  </a:ext>
                </a:extLst>
              </a:tr>
            </a:tbl>
          </a:graphicData>
        </a:graphic>
      </p:graphicFrame>
      <p:pic>
        <p:nvPicPr>
          <p:cNvPr id="5" name="Image 0" descr="/home/claude/deck/img/mark.png"/>
          <p:cNvPicPr>
            <a:picLocks noChangeAspect="1"/>
          </p:cNvPicPr>
          <p:nvPr/>
        </p:nvPicPr>
        <p:blipFill>
          <a:blip r:embed="rId3"/>
          <a:stretch>
            <a:fillRect/>
          </a:stretch>
        </p:blipFill>
        <p:spPr>
          <a:xfrm>
            <a:off x="640080" y="6345936"/>
            <a:ext cx="292608" cy="292608"/>
          </a:xfrm>
          <a:prstGeom prst="rect">
            <a:avLst/>
          </a:prstGeom>
        </p:spPr>
      </p:pic>
      <p:sp>
        <p:nvSpPr>
          <p:cNvPr id="6" name="Text 2"/>
          <p:cNvSpPr/>
          <p:nvPr/>
        </p:nvSpPr>
        <p:spPr>
          <a:xfrm>
            <a:off x="11048695" y="6382512"/>
            <a:ext cx="548640" cy="274320"/>
          </a:xfrm>
          <a:prstGeom prst="rect">
            <a:avLst/>
          </a:prstGeom>
          <a:noFill/>
          <a:ln/>
        </p:spPr>
        <p:txBody>
          <a:bodyPr wrap="square" lIns="0" tIns="0" rIns="0" bIns="0" rtlCol="0" anchor="ctr"/>
          <a:lstStyle/>
          <a:p>
            <a:pPr marL="0" indent="0" algn="r">
              <a:buNone/>
            </a:pPr>
            <a:r>
              <a:rPr lang="en-US" sz="1000" dirty="0">
                <a:solidFill>
                  <a:srgbClr val="6E7180"/>
                </a:solidFill>
                <a:latin typeface="Manrope" pitchFamily="34" charset="0"/>
                <a:ea typeface="Manrope" pitchFamily="34" charset="-122"/>
                <a:cs typeface="Manrope"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2C3A"/>
        </a:solidFill>
        <a:effectLst/>
      </p:bgPr>
    </p:bg>
    <p:spTree>
      <p:nvGrpSpPr>
        <p:cNvPr id="1" name=""/>
        <p:cNvGrpSpPr/>
        <p:nvPr/>
      </p:nvGrpSpPr>
      <p:grpSpPr>
        <a:xfrm>
          <a:off x="0" y="0"/>
          <a:ext cx="0" cy="0"/>
          <a:chOff x="0" y="0"/>
          <a:chExt cx="0" cy="0"/>
        </a:xfrm>
      </p:grpSpPr>
      <p:pic>
        <p:nvPicPr>
          <p:cNvPr id="2" name="Image 0" descr="/home/claude/deck/img/mark.png"/>
          <p:cNvPicPr>
            <a:picLocks noChangeAspect="1"/>
          </p:cNvPicPr>
          <p:nvPr/>
        </p:nvPicPr>
        <p:blipFill>
          <a:blip r:embed="rId3">
            <a:alphaModFix amt="12000"/>
          </a:blip>
          <a:stretch>
            <a:fillRect/>
          </a:stretch>
        </p:blipFill>
        <p:spPr>
          <a:xfrm>
            <a:off x="8869680" y="3108960"/>
            <a:ext cx="5120640" cy="5120640"/>
          </a:xfrm>
          <a:prstGeom prst="rect">
            <a:avLst/>
          </a:prstGeom>
        </p:spPr>
      </p:pic>
      <p:pic>
        <p:nvPicPr>
          <p:cNvPr id="3" name="Image 1" descr="/home/claude/deck/img/logo_rev.png"/>
          <p:cNvPicPr>
            <a:picLocks noChangeAspect="1"/>
          </p:cNvPicPr>
          <p:nvPr/>
        </p:nvPicPr>
        <p:blipFill>
          <a:blip r:embed="rId4"/>
          <a:stretch>
            <a:fillRect/>
          </a:stretch>
        </p:blipFill>
        <p:spPr>
          <a:xfrm>
            <a:off x="640080" y="1417320"/>
            <a:ext cx="2286000" cy="751974"/>
          </a:xfrm>
          <a:prstGeom prst="rect">
            <a:avLst/>
          </a:prstGeom>
        </p:spPr>
      </p:pic>
      <p:sp>
        <p:nvSpPr>
          <p:cNvPr id="4" name="Text 0"/>
          <p:cNvSpPr/>
          <p:nvPr/>
        </p:nvSpPr>
        <p:spPr>
          <a:xfrm>
            <a:off x="640080" y="2286000"/>
            <a:ext cx="868680" cy="384048"/>
          </a:xfrm>
          <a:prstGeom prst="rect">
            <a:avLst/>
          </a:prstGeom>
          <a:noFill/>
          <a:ln/>
        </p:spPr>
        <p:txBody>
          <a:bodyPr wrap="square" lIns="0" tIns="0" rIns="0" bIns="0" rtlCol="0" anchor="ctr"/>
          <a:lstStyle/>
          <a:p>
            <a:pPr marL="0" indent="0">
              <a:buNone/>
            </a:pPr>
            <a:r>
              <a:rPr lang="en-US" sz="950" b="1" kern="0" spc="250" dirty="0">
                <a:solidFill>
                  <a:srgbClr val="6AC2D8"/>
                </a:solidFill>
                <a:latin typeface="Manrope" pitchFamily="34" charset="0"/>
                <a:ea typeface="Manrope" pitchFamily="34" charset="-122"/>
                <a:cs typeface="Manrope" pitchFamily="34" charset="-120"/>
              </a:rPr>
              <a:t>PART OF</a:t>
            </a:r>
            <a:endParaRPr lang="en-US" sz="950" dirty="0"/>
          </a:p>
        </p:txBody>
      </p:sp>
      <p:pic>
        <p:nvPicPr>
          <p:cNvPr id="5" name="Image 2" descr="/home/claude/deck/img/sustec_rev.png"/>
          <p:cNvPicPr>
            <a:picLocks noChangeAspect="1"/>
          </p:cNvPicPr>
          <p:nvPr/>
        </p:nvPicPr>
        <p:blipFill>
          <a:blip r:embed="rId5"/>
          <a:stretch>
            <a:fillRect/>
          </a:stretch>
        </p:blipFill>
        <p:spPr>
          <a:xfrm>
            <a:off x="1508760" y="2286000"/>
            <a:ext cx="1874520" cy="370239"/>
          </a:xfrm>
          <a:prstGeom prst="rect">
            <a:avLst/>
          </a:prstGeom>
        </p:spPr>
      </p:pic>
      <p:sp>
        <p:nvSpPr>
          <p:cNvPr id="6" name="Text 1"/>
          <p:cNvSpPr/>
          <p:nvPr/>
        </p:nvSpPr>
        <p:spPr>
          <a:xfrm>
            <a:off x="640080" y="2788920"/>
            <a:ext cx="8229600" cy="914400"/>
          </a:xfrm>
          <a:prstGeom prst="rect">
            <a:avLst/>
          </a:prstGeom>
          <a:noFill/>
          <a:ln/>
        </p:spPr>
        <p:txBody>
          <a:bodyPr wrap="square" lIns="0" tIns="0" rIns="0" bIns="0" rtlCol="0" anchor="ctr"/>
          <a:lstStyle/>
          <a:p>
            <a:pPr marL="0" indent="0">
              <a:buNone/>
            </a:pPr>
            <a:r>
              <a:rPr lang="en-US" sz="4400" b="1" dirty="0">
                <a:solidFill>
                  <a:srgbClr val="FFFFFF"/>
                </a:solidFill>
                <a:latin typeface="Manrope" pitchFamily="34" charset="0"/>
                <a:ea typeface="Manrope" pitchFamily="34" charset="-122"/>
                <a:cs typeface="Manrope" pitchFamily="34" charset="-120"/>
              </a:rPr>
              <a:t>Thank you</a:t>
            </a:r>
            <a:endParaRPr lang="en-US" sz="4400" dirty="0"/>
          </a:p>
        </p:txBody>
      </p:sp>
      <p:sp>
        <p:nvSpPr>
          <p:cNvPr id="7" name="Text 2"/>
          <p:cNvSpPr/>
          <p:nvPr/>
        </p:nvSpPr>
        <p:spPr>
          <a:xfrm>
            <a:off x="640080" y="3840480"/>
            <a:ext cx="8229600" cy="548640"/>
          </a:xfrm>
          <a:prstGeom prst="rect">
            <a:avLst/>
          </a:prstGeom>
          <a:noFill/>
          <a:ln/>
        </p:spPr>
        <p:txBody>
          <a:bodyPr wrap="square" lIns="0" tIns="0" rIns="0" bIns="0" rtlCol="0" anchor="ctr"/>
          <a:lstStyle/>
          <a:p>
            <a:pPr marL="0" indent="0">
              <a:buNone/>
            </a:pPr>
            <a:r>
              <a:rPr lang="en-US" sz="1800" dirty="0">
                <a:solidFill>
                  <a:srgbClr val="00B6DB"/>
                </a:solidFill>
                <a:latin typeface="Manrope" pitchFamily="34" charset="0"/>
                <a:ea typeface="Manrope" pitchFamily="34" charset="-122"/>
                <a:cs typeface="Manrope" pitchFamily="34" charset="-120"/>
              </a:rPr>
              <a:t>Intelligent water conservation.</a:t>
            </a:r>
            <a:endParaRPr lang="en-US" sz="1800" dirty="0"/>
          </a:p>
        </p:txBody>
      </p:sp>
      <p:sp>
        <p:nvSpPr>
          <p:cNvPr id="8" name="Text 3"/>
          <p:cNvSpPr/>
          <p:nvPr/>
        </p:nvSpPr>
        <p:spPr>
          <a:xfrm>
            <a:off x="640080" y="5074920"/>
            <a:ext cx="10515600" cy="457200"/>
          </a:xfrm>
          <a:prstGeom prst="rect">
            <a:avLst/>
          </a:prstGeom>
          <a:noFill/>
          <a:ln/>
        </p:spPr>
        <p:txBody>
          <a:bodyPr wrap="square" lIns="0" tIns="0" rIns="0" bIns="0" rtlCol="0" anchor="ctr"/>
          <a:lstStyle/>
          <a:p>
            <a:pPr marL="0" indent="0">
              <a:buNone/>
            </a:pPr>
            <a:r>
              <a:rPr lang="en-US" sz="1300" dirty="0">
                <a:solidFill>
                  <a:srgbClr val="EDEFF7"/>
                </a:solidFill>
                <a:latin typeface="Manrope" pitchFamily="34" charset="0"/>
                <a:ea typeface="Manrope" pitchFamily="34" charset="-122"/>
                <a:cs typeface="Manrope" pitchFamily="34" charset="-120"/>
              </a:rPr>
              <a:t>aqualogic-wc.com     0844 324 0844     12 Tower Quays, Birkenhead CH41 1BP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1178</Words>
  <Application>Microsoft Macintosh PowerPoint</Application>
  <PresentationFormat>Widescreen</PresentationFormat>
  <Paragraphs>206</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Arial</vt:lpstr>
      <vt:lpstr>Manrope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Aqualogic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Aqualogic presentation template</dc:title>
  <dc:subject>PptxGenJS Presentation</dc:subject>
  <dc:creator>Alchemy</dc:creator>
  <cp:lastModifiedBy>Jess Morgan</cp:lastModifiedBy>
  <cp:revision>2</cp:revision>
  <dcterms:created xsi:type="dcterms:W3CDTF">2026-06-11T14:11:06Z</dcterms:created>
  <dcterms:modified xsi:type="dcterms:W3CDTF">2026-06-22T09:51:08Z</dcterms:modified>
</cp:coreProperties>
</file>