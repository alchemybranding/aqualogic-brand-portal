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05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0C2C3A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AT A GLANCE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to use this template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57200" y="1956816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one-page summary of a policy or procedure: what to know and what to do. For the detail, it links back to the full policy.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505456"/>
            <a:ext cx="6647688" cy="603504"/>
          </a:xfrm>
          <a:prstGeom prst="roundRect">
            <a:avLst>
              <a:gd name="adj" fmla="val 12121"/>
            </a:avLst>
          </a:prstGeom>
          <a:solidFill>
            <a:srgbClr val="DBF5FA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00B6D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1576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505456"/>
            <a:ext cx="5687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 a copy to your folder before editing. Leave this master template intact.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331012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USING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639312"/>
            <a:ext cx="384048" cy="384048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87552" y="3639312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 to your area's colour group.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87552" y="4187952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Pick the page you need: a policy, flowchart or workflow.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4736592"/>
            <a:ext cx="384048" cy="384048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87552" y="4736592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Replace the placeholder text. Keep it to one page.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57200" y="5285232"/>
            <a:ext cx="384048" cy="384048"/>
          </a:xfrm>
          <a:prstGeom prst="ellipse">
            <a:avLst/>
          </a:prstGeom>
          <a:solidFill>
            <a:srgbClr val="00B6DB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87552" y="5285232"/>
            <a:ext cx="6117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Delete the pages you do not need, then export to PDF (File, Export).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57200" y="5943600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6D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COLOUR KEY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57200" y="6291072"/>
            <a:ext cx="6647688" cy="548640"/>
          </a:xfrm>
          <a:prstGeom prst="roundRect">
            <a:avLst>
              <a:gd name="adj" fmla="val 13333"/>
            </a:avLst>
          </a:prstGeom>
          <a:solidFill>
            <a:srgbClr val="FBECEC"/>
          </a:solidFill>
          <a:ln/>
        </p:spPr>
      </p:sp>
      <p:sp>
        <p:nvSpPr>
          <p:cNvPr id="26" name="Shape 22"/>
          <p:cNvSpPr/>
          <p:nvPr/>
        </p:nvSpPr>
        <p:spPr>
          <a:xfrm>
            <a:off x="621792" y="6382512"/>
            <a:ext cx="365760" cy="365760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6473952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70432" y="6291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&amp; Safety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733288" y="62910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#D6453D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57200" y="6949440"/>
            <a:ext cx="6647688" cy="548640"/>
          </a:xfrm>
          <a:prstGeom prst="roundRect">
            <a:avLst>
              <a:gd name="adj" fmla="val 13333"/>
            </a:avLst>
          </a:prstGeom>
          <a:solidFill>
            <a:srgbClr val="EAF5F2"/>
          </a:solidFill>
          <a:ln/>
        </p:spPr>
      </p:sp>
      <p:sp>
        <p:nvSpPr>
          <p:cNvPr id="31" name="Shape 26"/>
          <p:cNvSpPr/>
          <p:nvPr/>
        </p:nvSpPr>
        <p:spPr>
          <a:xfrm>
            <a:off x="621792" y="7040880"/>
            <a:ext cx="365760" cy="365760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7132320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70432" y="6949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HR &amp; People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733288" y="6949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#2E9E78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57200" y="7607808"/>
            <a:ext cx="6647688" cy="548640"/>
          </a:xfrm>
          <a:prstGeom prst="roundRect">
            <a:avLst>
              <a:gd name="adj" fmla="val 13333"/>
            </a:avLst>
          </a:prstGeom>
          <a:solidFill>
            <a:srgbClr val="FCF4EA"/>
          </a:solidFill>
          <a:ln/>
        </p:spPr>
      </p:sp>
      <p:sp>
        <p:nvSpPr>
          <p:cNvPr id="36" name="Shape 30"/>
          <p:cNvSpPr/>
          <p:nvPr/>
        </p:nvSpPr>
        <p:spPr>
          <a:xfrm>
            <a:off x="621792" y="7699248"/>
            <a:ext cx="365760" cy="36576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7790688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70432" y="7607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Fleet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5733288" y="7607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#E0922F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457200" y="8266176"/>
            <a:ext cx="6647688" cy="548640"/>
          </a:xfrm>
          <a:prstGeom prst="roundRect">
            <a:avLst>
              <a:gd name="adj" fmla="val 13333"/>
            </a:avLst>
          </a:prstGeom>
          <a:solidFill>
            <a:srgbClr val="EFEEFA"/>
          </a:solidFill>
          <a:ln/>
        </p:spPr>
      </p:sp>
      <p:sp>
        <p:nvSpPr>
          <p:cNvPr id="41" name="Shape 34"/>
          <p:cNvSpPr/>
          <p:nvPr/>
        </p:nvSpPr>
        <p:spPr>
          <a:xfrm>
            <a:off x="621792" y="8357616"/>
            <a:ext cx="365760" cy="365760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8449056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170432" y="82661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5733288" y="82661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#5A57C9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457200" y="8924544"/>
            <a:ext cx="6647688" cy="548640"/>
          </a:xfrm>
          <a:prstGeom prst="roundRect">
            <a:avLst>
              <a:gd name="adj" fmla="val 13333"/>
            </a:avLst>
          </a:prstGeom>
          <a:solidFill>
            <a:srgbClr val="EAF2F9"/>
          </a:solidFill>
          <a:ln/>
        </p:spPr>
      </p:sp>
      <p:sp>
        <p:nvSpPr>
          <p:cNvPr id="46" name="Shape 38"/>
          <p:cNvSpPr/>
          <p:nvPr/>
        </p:nvSpPr>
        <p:spPr>
          <a:xfrm>
            <a:off x="621792" y="9015984"/>
            <a:ext cx="365760" cy="365760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9107424"/>
            <a:ext cx="182880" cy="1828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170432" y="89245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Finance</a:t>
            </a:r>
            <a:endParaRPr lang="en-US" sz="1400" dirty="0"/>
          </a:p>
        </p:txBody>
      </p:sp>
      <p:sp>
        <p:nvSpPr>
          <p:cNvPr id="49" name="Text 40"/>
          <p:cNvSpPr/>
          <p:nvPr/>
        </p:nvSpPr>
        <p:spPr>
          <a:xfrm>
            <a:off x="5733288" y="89245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#2C7BC2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457200" y="9820656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&amp; Safety, HR and Fleet include a worked example. Colours are a proposal and can be adjusted. Built in the Aqualogic brand (Manrope); install Manrope for correct rendering.</a:t>
            </a:r>
            <a:endParaRPr lang="en-US" sz="950" dirty="0"/>
          </a:p>
        </p:txBody>
      </p:sp>
      <p:pic>
        <p:nvPicPr>
          <p:cNvPr id="51" name="Image 7" descr="/home/claude/deck/img/m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D6453D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&amp; SAFETY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AT A GLANCE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[Policy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30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9751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0704" y="24871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5021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0704" y="33467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60704" y="38587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873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0704" y="47183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0704" y="52303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612648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62453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60704" y="60899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60704" y="66019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749808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76169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0704" y="74615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60704" y="79735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26280" y="201168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EDEFF7"/>
          </a:solidFill>
          <a:ln/>
        </p:spPr>
      </p:sp>
      <p:sp>
        <p:nvSpPr>
          <p:cNvPr id="28" name="Text 20"/>
          <p:cNvSpPr/>
          <p:nvPr/>
        </p:nvSpPr>
        <p:spPr>
          <a:xfrm>
            <a:off x="4754880" y="2194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[Stages, process or key facts]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754880" y="2606040"/>
            <a:ext cx="21671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[Add the steps, stages or key facts here. Keep it short: this is the summary, not the full policy.]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26280" y="6355080"/>
            <a:ext cx="2578608" cy="2240280"/>
          </a:xfrm>
          <a:prstGeom prst="roundRect">
            <a:avLst>
              <a:gd name="adj" fmla="val 3265"/>
            </a:avLst>
          </a:prstGeom>
          <a:solidFill>
            <a:srgbClr val="FBECEC"/>
          </a:solidFill>
          <a:ln/>
        </p:spPr>
      </p:sp>
      <p:sp>
        <p:nvSpPr>
          <p:cNvPr id="31" name="Text 23"/>
          <p:cNvSpPr/>
          <p:nvPr/>
        </p:nvSpPr>
        <p:spPr>
          <a:xfrm>
            <a:off x="4754880" y="651052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[Support and contacts]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754880" y="68580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[Links, contacts or where to go for help.]</a:t>
            </a:r>
            <a:endParaRPr lang="en-US" sz="1050" dirty="0"/>
          </a:p>
        </p:txBody>
      </p:sp>
      <p:pic>
        <p:nvPicPr>
          <p:cNvPr id="33" name="Image 6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policy in the employee handbook.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D6453D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&amp; SAFETY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FLOWCHART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6647688" cy="658368"/>
          </a:xfrm>
          <a:prstGeom prst="roundRect">
            <a:avLst>
              <a:gd name="adj" fmla="val 11111"/>
            </a:avLst>
          </a:prstGeom>
          <a:solidFill>
            <a:srgbClr val="FAE9E8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2075688"/>
            <a:ext cx="347472" cy="347472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5798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920240"/>
            <a:ext cx="5824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[Critical safety or compliance note, if any.]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DABA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25880" y="306324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1]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931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29768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DAB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25880" y="448056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2]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5349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571500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DABA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603504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6035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25880" y="589788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3]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6766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713232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DAB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800" y="7452360"/>
            <a:ext cx="457200" cy="457200"/>
          </a:xfrm>
          <a:prstGeom prst="ellipse">
            <a:avLst/>
          </a:prstGeom>
          <a:solidFill>
            <a:srgbClr val="D6453D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7452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325880" y="731520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4]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pic>
        <p:nvPicPr>
          <p:cNvPr id="30" name="Image 2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D6453D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&amp; SAFETY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Accident or near miss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723644" y="21488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BECEC"/>
          </a:solidFill>
          <a:ln w="15875">
            <a:solidFill>
              <a:srgbClr val="D645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6524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1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  </a:t>
            </a:r>
            <a:r>
              <a:rPr lang="en-US" sz="12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 the area safe and check for danger.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98164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40764" y="3136392"/>
            <a:ext cx="4480560" cy="749808"/>
          </a:xfrm>
          <a:prstGeom prst="roundRect">
            <a:avLst>
              <a:gd name="adj" fmla="val 8537"/>
            </a:avLst>
          </a:prstGeom>
          <a:solidFill>
            <a:srgbClr val="D6453D"/>
          </a:solidFill>
          <a:ln/>
        </p:spPr>
      </p:sp>
      <p:sp>
        <p:nvSpPr>
          <p:cNvPr id="11" name="Text 8"/>
          <p:cNvSpPr/>
          <p:nvPr/>
        </p:nvSpPr>
        <p:spPr>
          <a:xfrm>
            <a:off x="1723644" y="313639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 anyone injured?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770071" y="3886200"/>
            <a:ext cx="21946" cy="201168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13" name="Shape 10"/>
          <p:cNvSpPr/>
          <p:nvPr/>
        </p:nvSpPr>
        <p:spPr>
          <a:xfrm>
            <a:off x="2057400" y="4078224"/>
            <a:ext cx="3447288" cy="21946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14" name="Shape 11"/>
          <p:cNvSpPr/>
          <p:nvPr/>
        </p:nvSpPr>
        <p:spPr>
          <a:xfrm>
            <a:off x="2046427" y="4078224"/>
            <a:ext cx="21946" cy="201168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15" name="Shape 12"/>
          <p:cNvSpPr/>
          <p:nvPr/>
        </p:nvSpPr>
        <p:spPr>
          <a:xfrm>
            <a:off x="5493715" y="4078224"/>
            <a:ext cx="21946" cy="201168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21808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yes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04488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no (near miss)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EBA2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a first aider, or 999 if it is serious.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74520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EBA29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Tell your line manager straight away.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04488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EBA29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87368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Tell your line manager.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21808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04488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EBA29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368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 it on the near-miss form.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46427" y="7050024"/>
            <a:ext cx="21946" cy="201168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31" name="Shape 28"/>
          <p:cNvSpPr/>
          <p:nvPr/>
        </p:nvSpPr>
        <p:spPr>
          <a:xfrm>
            <a:off x="5493715" y="7050024"/>
            <a:ext cx="21946" cy="201168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32" name="Shape 29"/>
          <p:cNvSpPr/>
          <p:nvPr/>
        </p:nvSpPr>
        <p:spPr>
          <a:xfrm>
            <a:off x="2057400" y="7242048"/>
            <a:ext cx="3447288" cy="21946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33" name="Shape 30"/>
          <p:cNvSpPr/>
          <p:nvPr/>
        </p:nvSpPr>
        <p:spPr>
          <a:xfrm>
            <a:off x="3770071" y="7242048"/>
            <a:ext cx="21946" cy="201168"/>
          </a:xfrm>
          <a:prstGeom prst="rect">
            <a:avLst/>
          </a:prstGeom>
          <a:solidFill>
            <a:srgbClr val="D6453D"/>
          </a:solidFill>
          <a:ln/>
        </p:spPr>
      </p:sp>
      <p:sp>
        <p:nvSpPr>
          <p:cNvPr id="34" name="Text 31"/>
          <p:cNvSpPr/>
          <p:nvPr/>
        </p:nvSpPr>
        <p:spPr>
          <a:xfrm>
            <a:off x="3598164" y="7415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540764" y="7653528"/>
            <a:ext cx="4480560" cy="768096"/>
          </a:xfrm>
          <a:prstGeom prst="roundRect">
            <a:avLst>
              <a:gd name="adj" fmla="val 8333"/>
            </a:avLst>
          </a:prstGeom>
          <a:solidFill>
            <a:srgbClr val="D6453D"/>
          </a:solidFill>
          <a:ln/>
        </p:spPr>
      </p:sp>
      <p:sp>
        <p:nvSpPr>
          <p:cNvPr id="36" name="Text 33"/>
          <p:cNvSpPr/>
          <p:nvPr/>
        </p:nvSpPr>
        <p:spPr>
          <a:xfrm>
            <a:off x="1769364" y="765352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line manager records it and completes the investigation form.</a:t>
            </a:r>
            <a:endParaRPr lang="en-US" sz="1250" dirty="0"/>
          </a:p>
        </p:txBody>
      </p:sp>
      <p:pic>
        <p:nvPicPr>
          <p:cNvPr id="37" name="Image 1" descr="/home/claude/deck/img/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2E9E78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HR &amp; PEOPLE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AT A GLANCE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Absence management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30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9751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Supporting your wellbeing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0704" y="24871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Promoting employee health while keeping operations running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Resources to help you through periods of illness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36499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0704" y="320954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Keeping connected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60704" y="372160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your line manager within 30 minutes of your shift start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 what helps us support you and manage workload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Regular check-ins so we give the right support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80060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491947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0704" y="476402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0704" y="527608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self-certification for all absences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a fit note for absences over 7 calendar days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603504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615391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60704" y="599846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Sick pay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60704" y="651052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Paid in line with your contract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Statutory Sick Pay applies where eligible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726948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73883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0704" y="72329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smooth return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60704" y="77449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welcoming conversation when you return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discussion about any support you need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phased return where it helps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26280" y="201168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EDEFF7"/>
          </a:solidFill>
          <a:ln/>
        </p:spPr>
      </p:sp>
      <p:sp>
        <p:nvSpPr>
          <p:cNvPr id="28" name="Text 20"/>
          <p:cNvSpPr/>
          <p:nvPr/>
        </p:nvSpPr>
        <p:spPr>
          <a:xfrm>
            <a:off x="4754880" y="217627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stages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754880" y="267004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1  </a:t>
            </a:r>
            <a:r>
              <a:rPr lang="en-US" sz="115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Verbal warning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754880" y="2916936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absences in 26 weeks or 4 in 12 months. Documented discussion. 6-month review.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4754880" y="352044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2  </a:t>
            </a:r>
            <a:r>
              <a:rPr lang="en-US" sz="115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Written warning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4880" y="376732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Further absence in the review period. Formal meeting. 12-month review.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754880" y="43708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3  </a:t>
            </a:r>
            <a:r>
              <a:rPr lang="en-US" sz="115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written warning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754880" y="461772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Further absence in the review period. Formal meeting. 12-month review.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754880" y="522122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Stage 4  </a:t>
            </a:r>
            <a:r>
              <a:rPr lang="en-US" sz="115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Potential dismissal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4754880" y="546811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Further absence in the review period. Formal meeting.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4526280" y="6355080"/>
            <a:ext cx="2578608" cy="2240280"/>
          </a:xfrm>
          <a:prstGeom prst="roundRect">
            <a:avLst>
              <a:gd name="adj" fmla="val 3265"/>
            </a:avLst>
          </a:prstGeom>
          <a:solidFill>
            <a:srgbClr val="EAF5F2"/>
          </a:solidFill>
          <a:ln/>
        </p:spPr>
      </p:sp>
      <p:sp>
        <p:nvSpPr>
          <p:cNvPr id="38" name="Text 30"/>
          <p:cNvSpPr/>
          <p:nvPr/>
        </p:nvSpPr>
        <p:spPr>
          <a:xfrm>
            <a:off x="4754880" y="651052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Additional support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754880" y="6858000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›"/>
            </a:pPr>
            <a:r>
              <a:rPr lang="en-US" sz="10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Enhanced provisions for specific circumstances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›"/>
            </a:pPr>
            <a:r>
              <a:rPr lang="en-US" sz="10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Private health insurance (Equipsme), GP 24/7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›"/>
            </a:pPr>
            <a:r>
              <a:rPr lang="en-US" sz="10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Employee Assistance Programme (EAP)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›"/>
            </a:pPr>
            <a:r>
              <a:rPr lang="en-US" sz="10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Mental Health First Aiders (see intranet)</a:t>
            </a:r>
            <a:endParaRPr lang="en-US" sz="1000" dirty="0"/>
          </a:p>
          <a:p>
            <a:pPr marL="152400" indent="-152400">
              <a:lnSpc>
                <a:spcPct val="108000"/>
              </a:lnSpc>
              <a:spcAft>
                <a:spcPts val="400"/>
              </a:spcAft>
              <a:buSzPct val="100000"/>
              <a:buChar char="›"/>
            </a:pPr>
            <a:r>
              <a:rPr lang="en-US" sz="100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0333 400 0545, quote PGHAPI</a:t>
            </a:r>
            <a:endParaRPr lang="en-US" sz="1000" dirty="0"/>
          </a:p>
        </p:txBody>
      </p:sp>
      <p:pic>
        <p:nvPicPr>
          <p:cNvPr id="40" name="Image 6" descr="/home/claude/deck/img/m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policy in the employee handbook.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2E9E78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HR &amp; PEOPLE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FLOWCHART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6647688" cy="658368"/>
          </a:xfrm>
          <a:prstGeom prst="roundRect">
            <a:avLst>
              <a:gd name="adj" fmla="val 11111"/>
            </a:avLst>
          </a:prstGeom>
          <a:solidFill>
            <a:srgbClr val="E6F3EF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2075688"/>
            <a:ext cx="347472" cy="347472"/>
          </a:xfrm>
          <a:prstGeom prst="ellipse">
            <a:avLst/>
          </a:prstGeom>
          <a:solidFill>
            <a:srgbClr val="2E9E7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5798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920240"/>
            <a:ext cx="5824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[Critical safety or compliance note, if any.]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1D3C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25880" y="306324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1]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931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29768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1D3C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25880" y="448056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2]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5349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571500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1D3C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603504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6035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25880" y="589788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3]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6766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713232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1D3C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800" y="7452360"/>
            <a:ext cx="457200" cy="457200"/>
          </a:xfrm>
          <a:prstGeom prst="ellipse">
            <a:avLst/>
          </a:prstGeom>
          <a:solidFill>
            <a:srgbClr val="2E9E78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7452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325880" y="731520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4]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pic>
        <p:nvPicPr>
          <p:cNvPr id="30" name="Image 2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2E9E78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HR &amp; PEOPLE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723644" y="21488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AF5F2"/>
          </a:solidFill>
          <a:ln w="15875">
            <a:solidFill>
              <a:srgbClr val="2E9E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6524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1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  </a:t>
            </a:r>
            <a:r>
              <a:rPr lang="en-US" sz="120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[Starting point]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98164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40764" y="3136392"/>
            <a:ext cx="4480560" cy="749808"/>
          </a:xfrm>
          <a:prstGeom prst="roundRect">
            <a:avLst>
              <a:gd name="adj" fmla="val 8537"/>
            </a:avLst>
          </a:prstGeom>
          <a:solidFill>
            <a:srgbClr val="2E9E78"/>
          </a:solidFill>
          <a:ln/>
        </p:spPr>
      </p:sp>
      <p:sp>
        <p:nvSpPr>
          <p:cNvPr id="11" name="Text 8"/>
          <p:cNvSpPr/>
          <p:nvPr/>
        </p:nvSpPr>
        <p:spPr>
          <a:xfrm>
            <a:off x="1723644" y="313639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[Decision or question?]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770071" y="3886200"/>
            <a:ext cx="21946" cy="201168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13" name="Shape 10"/>
          <p:cNvSpPr/>
          <p:nvPr/>
        </p:nvSpPr>
        <p:spPr>
          <a:xfrm>
            <a:off x="2057400" y="4078224"/>
            <a:ext cx="3447288" cy="21946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14" name="Shape 11"/>
          <p:cNvSpPr/>
          <p:nvPr/>
        </p:nvSpPr>
        <p:spPr>
          <a:xfrm>
            <a:off x="2046427" y="4078224"/>
            <a:ext cx="21946" cy="201168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15" name="Shape 12"/>
          <p:cNvSpPr/>
          <p:nvPr/>
        </p:nvSpPr>
        <p:spPr>
          <a:xfrm>
            <a:off x="5493715" y="4078224"/>
            <a:ext cx="21946" cy="201168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21808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yes]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04488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no]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7CFB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74520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7CF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04488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7CF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87368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21808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04488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7CFB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368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46427" y="7050024"/>
            <a:ext cx="21946" cy="201168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31" name="Shape 28"/>
          <p:cNvSpPr/>
          <p:nvPr/>
        </p:nvSpPr>
        <p:spPr>
          <a:xfrm>
            <a:off x="5493715" y="7050024"/>
            <a:ext cx="21946" cy="201168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32" name="Shape 29"/>
          <p:cNvSpPr/>
          <p:nvPr/>
        </p:nvSpPr>
        <p:spPr>
          <a:xfrm>
            <a:off x="2057400" y="7242048"/>
            <a:ext cx="3447288" cy="21946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33" name="Shape 30"/>
          <p:cNvSpPr/>
          <p:nvPr/>
        </p:nvSpPr>
        <p:spPr>
          <a:xfrm>
            <a:off x="3770071" y="7242048"/>
            <a:ext cx="21946" cy="201168"/>
          </a:xfrm>
          <a:prstGeom prst="rect">
            <a:avLst/>
          </a:prstGeom>
          <a:solidFill>
            <a:srgbClr val="2E9E78"/>
          </a:solidFill>
          <a:ln/>
        </p:spPr>
      </p:sp>
      <p:sp>
        <p:nvSpPr>
          <p:cNvPr id="34" name="Text 31"/>
          <p:cNvSpPr/>
          <p:nvPr/>
        </p:nvSpPr>
        <p:spPr>
          <a:xfrm>
            <a:off x="3598164" y="7415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9E7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540764" y="7653528"/>
            <a:ext cx="4480560" cy="768096"/>
          </a:xfrm>
          <a:prstGeom prst="roundRect">
            <a:avLst>
              <a:gd name="adj" fmla="val 8333"/>
            </a:avLst>
          </a:prstGeom>
          <a:solidFill>
            <a:srgbClr val="2E9E78"/>
          </a:solidFill>
          <a:ln/>
        </p:spPr>
      </p:sp>
      <p:sp>
        <p:nvSpPr>
          <p:cNvPr id="36" name="Text 33"/>
          <p:cNvSpPr/>
          <p:nvPr/>
        </p:nvSpPr>
        <p:spPr>
          <a:xfrm>
            <a:off x="1769364" y="765352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[Outcome or next step]</a:t>
            </a:r>
            <a:endParaRPr lang="en-US" sz="1250" dirty="0"/>
          </a:p>
        </p:txBody>
      </p:sp>
      <p:pic>
        <p:nvPicPr>
          <p:cNvPr id="37" name="Image 1" descr="/home/claude/deck/img/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E0922F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AT A GLANCE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[Policy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30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9751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0704" y="24871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5021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0704" y="33467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60704" y="38587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873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0704" y="47183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0704" y="52303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6126480"/>
            <a:ext cx="457200" cy="45720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62453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60704" y="60899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60704" y="66019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7498080"/>
            <a:ext cx="457200" cy="457200"/>
          </a:xfrm>
          <a:prstGeom prst="ellipse">
            <a:avLst/>
          </a:prstGeom>
          <a:solidFill>
            <a:srgbClr val="E0922F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76169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0704" y="74615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60704" y="79735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26280" y="201168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EDEFF7"/>
          </a:solidFill>
          <a:ln/>
        </p:spPr>
      </p:sp>
      <p:sp>
        <p:nvSpPr>
          <p:cNvPr id="28" name="Text 20"/>
          <p:cNvSpPr/>
          <p:nvPr/>
        </p:nvSpPr>
        <p:spPr>
          <a:xfrm>
            <a:off x="4754880" y="2194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[Stages, process or key facts]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754880" y="2606040"/>
            <a:ext cx="21671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[Add the steps, stages or key facts here. Keep it short: this is the summary, not the full policy.]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26280" y="6355080"/>
            <a:ext cx="2578608" cy="2240280"/>
          </a:xfrm>
          <a:prstGeom prst="roundRect">
            <a:avLst>
              <a:gd name="adj" fmla="val 3265"/>
            </a:avLst>
          </a:prstGeom>
          <a:solidFill>
            <a:srgbClr val="FCF4EA"/>
          </a:solidFill>
          <a:ln/>
        </p:spPr>
      </p:sp>
      <p:sp>
        <p:nvSpPr>
          <p:cNvPr id="31" name="Text 23"/>
          <p:cNvSpPr/>
          <p:nvPr/>
        </p:nvSpPr>
        <p:spPr>
          <a:xfrm>
            <a:off x="4754880" y="651052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[Support and contacts]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754880" y="68580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[Links, contacts or where to go for help.]</a:t>
            </a:r>
            <a:endParaRPr lang="en-US" sz="1050" dirty="0"/>
          </a:p>
        </p:txBody>
      </p:sp>
      <p:pic>
        <p:nvPicPr>
          <p:cNvPr id="33" name="Image 6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policy in the employee handbook.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E0922F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FLOWCHART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Road traffic collision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6647688" cy="658368"/>
          </a:xfrm>
          <a:prstGeom prst="roundRect">
            <a:avLst>
              <a:gd name="adj" fmla="val 11111"/>
            </a:avLst>
          </a:prstGeom>
          <a:solidFill>
            <a:srgbClr val="F9E5E4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2075688"/>
            <a:ext cx="347472" cy="347472"/>
          </a:xfrm>
          <a:prstGeom prst="ellipse">
            <a:avLst/>
          </a:prstGeom>
          <a:solidFill>
            <a:srgbClr val="D6453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5798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920240"/>
            <a:ext cx="5824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645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 and third-party safety is paramount.  </a:t>
            </a:r>
            <a:r>
              <a:rPr lang="en-US" sz="1150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emergency services if needed. Do not admit liability.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788920"/>
            <a:ext cx="37947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1CEA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" y="3044952"/>
            <a:ext cx="438912" cy="438912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234440" y="291693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Stop when safe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234440" y="320954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Switch off the engine and turn on hazard lights.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94944" y="3703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4014216"/>
            <a:ext cx="37947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1CEA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8368" y="4270248"/>
            <a:ext cx="438912" cy="438912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234440" y="414223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 the scene safe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234440" y="443484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emergency services if anyone is hurt or there is danger.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94944" y="4928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7200" y="5239512"/>
            <a:ext cx="37947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1CEA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8368" y="5495544"/>
            <a:ext cx="438912" cy="438912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5" name="Text 21"/>
          <p:cNvSpPr/>
          <p:nvPr/>
        </p:nvSpPr>
        <p:spPr>
          <a:xfrm>
            <a:off x="658368" y="5495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234440" y="53675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Gather details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234440" y="566013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Third party and any witnesses. Note a police crime reference if police attend.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94944" y="61539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7200" y="6464808"/>
            <a:ext cx="37947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1CEA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58368" y="6720840"/>
            <a:ext cx="438912" cy="438912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31" name="Text 27"/>
          <p:cNvSpPr/>
          <p:nvPr/>
        </p:nvSpPr>
        <p:spPr>
          <a:xfrm>
            <a:off x="658368" y="6720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234440" y="659282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Take photos, if safe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234440" y="688543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location, and the damage to all vehicles.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94944" y="73792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57200" y="7690104"/>
            <a:ext cx="379476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1CEA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58368" y="7946136"/>
            <a:ext cx="438912" cy="438912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37" name="Text 33"/>
          <p:cNvSpPr/>
          <p:nvPr/>
        </p:nvSpPr>
        <p:spPr>
          <a:xfrm>
            <a:off x="658368" y="7946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1234440" y="781812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Tell your line manager asap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1234440" y="811072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complete the Incident Investigation Form with Fleet and Assets.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526280" y="2788920"/>
            <a:ext cx="2578608" cy="4617720"/>
          </a:xfrm>
          <a:prstGeom prst="roundRect">
            <a:avLst>
              <a:gd name="adj" fmla="val 2837"/>
            </a:avLst>
          </a:prstGeom>
          <a:solidFill>
            <a:srgbClr val="EDEFF7"/>
          </a:solidFill>
          <a:ln/>
        </p:spPr>
      </p:sp>
      <p:sp>
        <p:nvSpPr>
          <p:cNvPr id="41" name="Text 37"/>
          <p:cNvSpPr/>
          <p:nvPr/>
        </p:nvSpPr>
        <p:spPr>
          <a:xfrm>
            <a:off x="4745736" y="292608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Details to obtain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4745736" y="3218688"/>
            <a:ext cx="2157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Third party: name, address, mobile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Make, model and registration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Damage, and number of passengers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Insurer and policy number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Witnesses: name, address, mobile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4745736" y="50292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Information to provide</a:t>
            </a:r>
            <a:endParaRPr lang="en-US" sz="1250" dirty="0"/>
          </a:p>
        </p:txBody>
      </p:sp>
      <p:sp>
        <p:nvSpPr>
          <p:cNvPr id="44" name="Text 40"/>
          <p:cNvSpPr/>
          <p:nvPr/>
        </p:nvSpPr>
        <p:spPr>
          <a:xfrm>
            <a:off x="4745736" y="5321808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name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 vehicle registration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Date, time and location</a:t>
            </a:r>
            <a:endParaRPr lang="en-US" sz="950" dirty="0"/>
          </a:p>
          <a:p>
            <a:pPr marL="139700" indent="-139700">
              <a:lnSpc>
                <a:spcPct val="105000"/>
              </a:lnSpc>
              <a:spcAft>
                <a:spcPts val="300"/>
              </a:spcAft>
              <a:buSzPct val="100000"/>
              <a:buChar char="›"/>
            </a:pPr>
            <a:r>
              <a:rPr lang="en-US" sz="950" dirty="0">
                <a:solidFill>
                  <a:srgbClr val="40424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Insurance details (below)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4745736" y="6547104"/>
            <a:ext cx="2139696" cy="804672"/>
          </a:xfrm>
          <a:prstGeom prst="roundRect">
            <a:avLst>
              <a:gd name="adj" fmla="val 9091"/>
            </a:avLst>
          </a:prstGeom>
          <a:solidFill>
            <a:srgbClr val="E0922F"/>
          </a:solidFill>
          <a:ln/>
        </p:spPr>
      </p:sp>
      <p:sp>
        <p:nvSpPr>
          <p:cNvPr id="46" name="Text 42"/>
          <p:cNvSpPr/>
          <p:nvPr/>
        </p:nvSpPr>
        <p:spPr>
          <a:xfrm>
            <a:off x="4745736" y="6547104"/>
            <a:ext cx="21396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Zurich Insurance</a:t>
            </a:r>
            <a:endParaRPr lang="en-US" sz="12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AQ 403066</a:t>
            </a:r>
            <a:endParaRPr lang="en-US" sz="1250" dirty="0"/>
          </a:p>
        </p:txBody>
      </p:sp>
      <p:pic>
        <p:nvPicPr>
          <p:cNvPr id="47" name="Image 2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E0922F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723644" y="21488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CF4EA"/>
          </a:solidFill>
          <a:ln w="15875">
            <a:solidFill>
              <a:srgbClr val="E092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6524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1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  </a:t>
            </a:r>
            <a:r>
              <a:rPr lang="en-US" sz="120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[Starting point]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98164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40764" y="3136392"/>
            <a:ext cx="4480560" cy="749808"/>
          </a:xfrm>
          <a:prstGeom prst="roundRect">
            <a:avLst>
              <a:gd name="adj" fmla="val 8537"/>
            </a:avLst>
          </a:prstGeom>
          <a:solidFill>
            <a:srgbClr val="E0922F"/>
          </a:solidFill>
          <a:ln/>
        </p:spPr>
      </p:sp>
      <p:sp>
        <p:nvSpPr>
          <p:cNvPr id="11" name="Text 8"/>
          <p:cNvSpPr/>
          <p:nvPr/>
        </p:nvSpPr>
        <p:spPr>
          <a:xfrm>
            <a:off x="1723644" y="313639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[Decision or question?]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770071" y="3886200"/>
            <a:ext cx="21946" cy="2011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3" name="Shape 10"/>
          <p:cNvSpPr/>
          <p:nvPr/>
        </p:nvSpPr>
        <p:spPr>
          <a:xfrm>
            <a:off x="2057400" y="4078224"/>
            <a:ext cx="3447288" cy="21946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4" name="Shape 11"/>
          <p:cNvSpPr/>
          <p:nvPr/>
        </p:nvSpPr>
        <p:spPr>
          <a:xfrm>
            <a:off x="2046427" y="4078224"/>
            <a:ext cx="21946" cy="2011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93715" y="4078224"/>
            <a:ext cx="21946" cy="2011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21808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yes]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04488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no]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F0C9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74520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F0C99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04488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F0C99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87368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21808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04488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F0C99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368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46427" y="7050024"/>
            <a:ext cx="21946" cy="2011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31" name="Shape 28"/>
          <p:cNvSpPr/>
          <p:nvPr/>
        </p:nvSpPr>
        <p:spPr>
          <a:xfrm>
            <a:off x="5493715" y="7050024"/>
            <a:ext cx="21946" cy="2011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32" name="Shape 29"/>
          <p:cNvSpPr/>
          <p:nvPr/>
        </p:nvSpPr>
        <p:spPr>
          <a:xfrm>
            <a:off x="2057400" y="7242048"/>
            <a:ext cx="3447288" cy="21946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33" name="Shape 30"/>
          <p:cNvSpPr/>
          <p:nvPr/>
        </p:nvSpPr>
        <p:spPr>
          <a:xfrm>
            <a:off x="3770071" y="7242048"/>
            <a:ext cx="21946" cy="20116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34" name="Text 31"/>
          <p:cNvSpPr/>
          <p:nvPr/>
        </p:nvSpPr>
        <p:spPr>
          <a:xfrm>
            <a:off x="3598164" y="7415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2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540764" y="7653528"/>
            <a:ext cx="4480560" cy="768096"/>
          </a:xfrm>
          <a:prstGeom prst="roundRect">
            <a:avLst>
              <a:gd name="adj" fmla="val 8333"/>
            </a:avLst>
          </a:prstGeom>
          <a:solidFill>
            <a:srgbClr val="E0922F"/>
          </a:solidFill>
          <a:ln/>
        </p:spPr>
      </p:sp>
      <p:sp>
        <p:nvSpPr>
          <p:cNvPr id="36" name="Text 33"/>
          <p:cNvSpPr/>
          <p:nvPr/>
        </p:nvSpPr>
        <p:spPr>
          <a:xfrm>
            <a:off x="1769364" y="765352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[Outcome or next step]</a:t>
            </a:r>
            <a:endParaRPr lang="en-US" sz="1250" dirty="0"/>
          </a:p>
        </p:txBody>
      </p:sp>
      <p:pic>
        <p:nvPicPr>
          <p:cNvPr id="37" name="Image 1" descr="/home/claude/deck/img/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5A57C9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AT A GLANCE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[Policy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30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9751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0704" y="24871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5021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0704" y="33467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60704" y="38587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873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0704" y="47183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0704" y="52303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612648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62453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60704" y="60899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60704" y="66019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749808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76169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0704" y="74615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60704" y="79735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26280" y="201168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EDEFF7"/>
          </a:solidFill>
          <a:ln/>
        </p:spPr>
      </p:sp>
      <p:sp>
        <p:nvSpPr>
          <p:cNvPr id="28" name="Text 20"/>
          <p:cNvSpPr/>
          <p:nvPr/>
        </p:nvSpPr>
        <p:spPr>
          <a:xfrm>
            <a:off x="4754880" y="2194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[Stages, process or key facts]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754880" y="2606040"/>
            <a:ext cx="21671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[Add the steps, stages or key facts here. Keep it short: this is the summary, not the full policy.]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26280" y="6355080"/>
            <a:ext cx="2578608" cy="2240280"/>
          </a:xfrm>
          <a:prstGeom prst="roundRect">
            <a:avLst>
              <a:gd name="adj" fmla="val 3265"/>
            </a:avLst>
          </a:prstGeom>
          <a:solidFill>
            <a:srgbClr val="EFEEFA"/>
          </a:solidFill>
          <a:ln/>
        </p:spPr>
      </p:sp>
      <p:sp>
        <p:nvSpPr>
          <p:cNvPr id="31" name="Text 23"/>
          <p:cNvSpPr/>
          <p:nvPr/>
        </p:nvSpPr>
        <p:spPr>
          <a:xfrm>
            <a:off x="4754880" y="651052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[Support and contacts]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754880" y="68580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[Links, contacts or where to go for help.]</a:t>
            </a:r>
            <a:endParaRPr lang="en-US" sz="1050" dirty="0"/>
          </a:p>
        </p:txBody>
      </p:sp>
      <p:pic>
        <p:nvPicPr>
          <p:cNvPr id="33" name="Image 6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policy in the employee handbook.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5A57C9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FLOWCHART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6647688" cy="658368"/>
          </a:xfrm>
          <a:prstGeom prst="roundRect">
            <a:avLst>
              <a:gd name="adj" fmla="val 11111"/>
            </a:avLst>
          </a:prstGeom>
          <a:solidFill>
            <a:srgbClr val="EBEBF9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2075688"/>
            <a:ext cx="347472" cy="347472"/>
          </a:xfrm>
          <a:prstGeom prst="ellipse">
            <a:avLst/>
          </a:prstGeom>
          <a:solidFill>
            <a:srgbClr val="5A57C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5798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920240"/>
            <a:ext cx="5824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[Critical safety or compliance note, if any.]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B5B3E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25880" y="306324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1]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931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29768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B5B3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25880" y="448056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2]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5349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571500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B5B3E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603504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6035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25880" y="589788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3]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6766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713232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B5B3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800" y="7452360"/>
            <a:ext cx="457200" cy="457200"/>
          </a:xfrm>
          <a:prstGeom prst="ellipse">
            <a:avLst/>
          </a:prstGeom>
          <a:solidFill>
            <a:srgbClr val="5A57C9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7452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325880" y="731520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4]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pic>
        <p:nvPicPr>
          <p:cNvPr id="30" name="Image 2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5A57C9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723644" y="21488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FEEFA"/>
          </a:solidFill>
          <a:ln w="15875">
            <a:solidFill>
              <a:srgbClr val="5A57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6524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1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  </a:t>
            </a:r>
            <a:r>
              <a:rPr lang="en-US" sz="120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[Starting point]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98164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40764" y="3136392"/>
            <a:ext cx="4480560" cy="749808"/>
          </a:xfrm>
          <a:prstGeom prst="roundRect">
            <a:avLst>
              <a:gd name="adj" fmla="val 8537"/>
            </a:avLst>
          </a:prstGeom>
          <a:solidFill>
            <a:srgbClr val="5A57C9"/>
          </a:solidFill>
          <a:ln/>
        </p:spPr>
      </p:sp>
      <p:sp>
        <p:nvSpPr>
          <p:cNvPr id="11" name="Text 8"/>
          <p:cNvSpPr/>
          <p:nvPr/>
        </p:nvSpPr>
        <p:spPr>
          <a:xfrm>
            <a:off x="1723644" y="313639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[Decision or question?]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770071" y="3886200"/>
            <a:ext cx="21946" cy="201168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13" name="Shape 10"/>
          <p:cNvSpPr/>
          <p:nvPr/>
        </p:nvSpPr>
        <p:spPr>
          <a:xfrm>
            <a:off x="2057400" y="4078224"/>
            <a:ext cx="3447288" cy="21946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14" name="Shape 11"/>
          <p:cNvSpPr/>
          <p:nvPr/>
        </p:nvSpPr>
        <p:spPr>
          <a:xfrm>
            <a:off x="2046427" y="4078224"/>
            <a:ext cx="21946" cy="201168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15" name="Shape 12"/>
          <p:cNvSpPr/>
          <p:nvPr/>
        </p:nvSpPr>
        <p:spPr>
          <a:xfrm>
            <a:off x="5493715" y="4078224"/>
            <a:ext cx="21946" cy="201168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21808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yes]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04488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no]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ADAB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74520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ADAB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04488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ADABE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87368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21808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04488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ADABE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368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46427" y="7050024"/>
            <a:ext cx="21946" cy="201168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31" name="Shape 28"/>
          <p:cNvSpPr/>
          <p:nvPr/>
        </p:nvSpPr>
        <p:spPr>
          <a:xfrm>
            <a:off x="5493715" y="7050024"/>
            <a:ext cx="21946" cy="201168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32" name="Shape 29"/>
          <p:cNvSpPr/>
          <p:nvPr/>
        </p:nvSpPr>
        <p:spPr>
          <a:xfrm>
            <a:off x="2057400" y="7242048"/>
            <a:ext cx="3447288" cy="21946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33" name="Shape 30"/>
          <p:cNvSpPr/>
          <p:nvPr/>
        </p:nvSpPr>
        <p:spPr>
          <a:xfrm>
            <a:off x="3770071" y="7242048"/>
            <a:ext cx="21946" cy="201168"/>
          </a:xfrm>
          <a:prstGeom prst="rect">
            <a:avLst/>
          </a:prstGeom>
          <a:solidFill>
            <a:srgbClr val="5A57C9"/>
          </a:solidFill>
          <a:ln/>
        </p:spPr>
      </p:sp>
      <p:sp>
        <p:nvSpPr>
          <p:cNvPr id="34" name="Text 31"/>
          <p:cNvSpPr/>
          <p:nvPr/>
        </p:nvSpPr>
        <p:spPr>
          <a:xfrm>
            <a:off x="3598164" y="7415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7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540764" y="7653528"/>
            <a:ext cx="4480560" cy="768096"/>
          </a:xfrm>
          <a:prstGeom prst="roundRect">
            <a:avLst>
              <a:gd name="adj" fmla="val 8333"/>
            </a:avLst>
          </a:prstGeom>
          <a:solidFill>
            <a:srgbClr val="5A57C9"/>
          </a:solidFill>
          <a:ln/>
        </p:spPr>
      </p:sp>
      <p:sp>
        <p:nvSpPr>
          <p:cNvPr id="36" name="Text 33"/>
          <p:cNvSpPr/>
          <p:nvPr/>
        </p:nvSpPr>
        <p:spPr>
          <a:xfrm>
            <a:off x="1769364" y="765352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[Outcome or next step]</a:t>
            </a:r>
            <a:endParaRPr lang="en-US" sz="1250" dirty="0"/>
          </a:p>
        </p:txBody>
      </p:sp>
      <p:pic>
        <p:nvPicPr>
          <p:cNvPr id="37" name="Image 1" descr="/home/claude/deck/img/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2C7BC2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POLICY AT A GLANCE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[Policy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130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704" y="19751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60704" y="24871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5021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0704" y="33467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60704" y="38587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475488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8737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60704" y="47183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0704" y="52303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57200" y="612648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62453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60704" y="60899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060704" y="66019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749808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761695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0704" y="7461504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[Section heading]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060704" y="7973568"/>
            <a:ext cx="31912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employees need to know]</a:t>
            </a:r>
            <a:endParaRPr lang="en-US" sz="1050" dirty="0"/>
          </a:p>
          <a:p>
            <a:pPr marL="165100" indent="-165100">
              <a:lnSpc>
                <a:spcPct val="106000"/>
              </a:lnSpc>
              <a:spcAft>
                <a:spcPts val="300"/>
              </a:spcAft>
              <a:buSzPct val="100000"/>
              <a:buChar char="›"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[Key point or action]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4526280" y="2011680"/>
            <a:ext cx="2578608" cy="4160520"/>
          </a:xfrm>
          <a:prstGeom prst="roundRect">
            <a:avLst>
              <a:gd name="adj" fmla="val 2837"/>
            </a:avLst>
          </a:prstGeom>
          <a:solidFill>
            <a:srgbClr val="EDEFF7"/>
          </a:solidFill>
          <a:ln/>
        </p:spPr>
      </p:sp>
      <p:sp>
        <p:nvSpPr>
          <p:cNvPr id="28" name="Text 20"/>
          <p:cNvSpPr/>
          <p:nvPr/>
        </p:nvSpPr>
        <p:spPr>
          <a:xfrm>
            <a:off x="4754880" y="2194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[Stages, process or key facts]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754880" y="2606040"/>
            <a:ext cx="21671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[Add the steps, stages or key facts here. Keep it short: this is the summary, not the full policy.]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26280" y="6355080"/>
            <a:ext cx="2578608" cy="2240280"/>
          </a:xfrm>
          <a:prstGeom prst="roundRect">
            <a:avLst>
              <a:gd name="adj" fmla="val 3265"/>
            </a:avLst>
          </a:prstGeom>
          <a:solidFill>
            <a:srgbClr val="EAF2F9"/>
          </a:solidFill>
          <a:ln/>
        </p:spPr>
      </p:sp>
      <p:sp>
        <p:nvSpPr>
          <p:cNvPr id="31" name="Text 23"/>
          <p:cNvSpPr/>
          <p:nvPr/>
        </p:nvSpPr>
        <p:spPr>
          <a:xfrm>
            <a:off x="4754880" y="651052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[Support and contacts]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754880" y="685800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[Links, contacts or where to go for help.]</a:t>
            </a:r>
            <a:endParaRPr lang="en-US" sz="1050" dirty="0"/>
          </a:p>
        </p:txBody>
      </p:sp>
      <p:pic>
        <p:nvPicPr>
          <p:cNvPr id="33" name="Image 6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policy in the employee handbook.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2C7BC2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FLOWCHART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6647688" cy="658368"/>
          </a:xfrm>
          <a:prstGeom prst="roundRect">
            <a:avLst>
              <a:gd name="adj" fmla="val 11111"/>
            </a:avLst>
          </a:prstGeom>
          <a:solidFill>
            <a:srgbClr val="E6EFF8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2075688"/>
            <a:ext cx="347472" cy="347472"/>
          </a:xfrm>
          <a:prstGeom prst="ellipse">
            <a:avLst/>
          </a:prstGeom>
          <a:solidFill>
            <a:srgbClr val="2C7BC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157984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1920240"/>
            <a:ext cx="5824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[Critical safety or compliance note, if any.]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0C4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25880" y="306324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1]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3931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29768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0C4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25880" y="448056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2]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" y="5349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571500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0C4E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85800" y="603504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6035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325880" y="589788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3]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31520" y="6766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7132320"/>
            <a:ext cx="66476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A0C4E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800" y="7452360"/>
            <a:ext cx="457200" cy="457200"/>
          </a:xfrm>
          <a:prstGeom prst="ellipse">
            <a:avLst/>
          </a:prstGeom>
          <a:solidFill>
            <a:srgbClr val="2C7BC2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7452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325880" y="7315200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2C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 4]  </a:t>
            </a: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[What to do, and any key detail.]</a:t>
            </a:r>
            <a:endParaRPr lang="en-US" sz="1300" dirty="0"/>
          </a:p>
        </p:txBody>
      </p:sp>
      <p:pic>
        <p:nvPicPr>
          <p:cNvPr id="30" name="Image 2" descr="/home/claude/deck/img/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801368"/>
          </a:xfrm>
          <a:prstGeom prst="rect">
            <a:avLst/>
          </a:prstGeom>
          <a:solidFill>
            <a:srgbClr val="2C7BC2"/>
          </a:solidFill>
          <a:ln/>
        </p:spPr>
      </p:sp>
      <p:pic>
        <p:nvPicPr>
          <p:cNvPr id="3" name="Image 0" descr="/home/claude/deck/img/logo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1371600" cy="451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53128" y="365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8412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60704"/>
            <a:ext cx="6647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[Procedure name]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723644" y="21488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EAF2F9"/>
          </a:solidFill>
          <a:ln w="15875">
            <a:solidFill>
              <a:srgbClr val="2C7B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6524" y="21488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kern="0" spc="1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START   </a:t>
            </a:r>
            <a:r>
              <a:rPr lang="en-US" sz="120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[Starting point]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98164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40764" y="3136392"/>
            <a:ext cx="4480560" cy="749808"/>
          </a:xfrm>
          <a:prstGeom prst="roundRect">
            <a:avLst>
              <a:gd name="adj" fmla="val 8537"/>
            </a:avLst>
          </a:prstGeom>
          <a:solidFill>
            <a:srgbClr val="2C7BC2"/>
          </a:solidFill>
          <a:ln/>
        </p:spPr>
      </p:sp>
      <p:sp>
        <p:nvSpPr>
          <p:cNvPr id="11" name="Text 8"/>
          <p:cNvSpPr/>
          <p:nvPr/>
        </p:nvSpPr>
        <p:spPr>
          <a:xfrm>
            <a:off x="1723644" y="313639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[Decision or question?]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770071" y="3886200"/>
            <a:ext cx="21946" cy="201168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13" name="Shape 10"/>
          <p:cNvSpPr/>
          <p:nvPr/>
        </p:nvSpPr>
        <p:spPr>
          <a:xfrm>
            <a:off x="2057400" y="4078224"/>
            <a:ext cx="3447288" cy="21946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14" name="Shape 11"/>
          <p:cNvSpPr/>
          <p:nvPr/>
        </p:nvSpPr>
        <p:spPr>
          <a:xfrm>
            <a:off x="2046427" y="4078224"/>
            <a:ext cx="21946" cy="201168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15" name="Shape 12"/>
          <p:cNvSpPr/>
          <p:nvPr/>
        </p:nvSpPr>
        <p:spPr>
          <a:xfrm>
            <a:off x="5493715" y="4078224"/>
            <a:ext cx="21946" cy="201168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16" name="Text 13"/>
          <p:cNvSpPr/>
          <p:nvPr/>
        </p:nvSpPr>
        <p:spPr>
          <a:xfrm>
            <a:off x="187452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21808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yes]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904488" y="4489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[If no]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6BD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874520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6BD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04488" y="4818888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6BD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87368" y="4818888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21808" y="5769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04488" y="6080760"/>
            <a:ext cx="32004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3970">
            <a:solidFill>
              <a:srgbClr val="96BD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368" y="6080760"/>
            <a:ext cx="2834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00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[Step]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46427" y="7050024"/>
            <a:ext cx="21946" cy="201168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31" name="Shape 28"/>
          <p:cNvSpPr/>
          <p:nvPr/>
        </p:nvSpPr>
        <p:spPr>
          <a:xfrm>
            <a:off x="5493715" y="7050024"/>
            <a:ext cx="21946" cy="201168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32" name="Shape 29"/>
          <p:cNvSpPr/>
          <p:nvPr/>
        </p:nvSpPr>
        <p:spPr>
          <a:xfrm>
            <a:off x="2057400" y="7242048"/>
            <a:ext cx="3447288" cy="21946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33" name="Shape 30"/>
          <p:cNvSpPr/>
          <p:nvPr/>
        </p:nvSpPr>
        <p:spPr>
          <a:xfrm>
            <a:off x="3770071" y="7242048"/>
            <a:ext cx="21946" cy="201168"/>
          </a:xfrm>
          <a:prstGeom prst="rect">
            <a:avLst/>
          </a:prstGeom>
          <a:solidFill>
            <a:srgbClr val="2C7BC2"/>
          </a:solidFill>
          <a:ln/>
        </p:spPr>
      </p:sp>
      <p:sp>
        <p:nvSpPr>
          <p:cNvPr id="34" name="Text 31"/>
          <p:cNvSpPr/>
          <p:nvPr/>
        </p:nvSpPr>
        <p:spPr>
          <a:xfrm>
            <a:off x="3598164" y="7415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7B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▼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540764" y="7653528"/>
            <a:ext cx="4480560" cy="768096"/>
          </a:xfrm>
          <a:prstGeom prst="roundRect">
            <a:avLst>
              <a:gd name="adj" fmla="val 8333"/>
            </a:avLst>
          </a:prstGeom>
          <a:solidFill>
            <a:srgbClr val="2C7BC2"/>
          </a:solidFill>
          <a:ln/>
        </p:spPr>
      </p:sp>
      <p:sp>
        <p:nvSpPr>
          <p:cNvPr id="36" name="Text 33"/>
          <p:cNvSpPr/>
          <p:nvPr/>
        </p:nvSpPr>
        <p:spPr>
          <a:xfrm>
            <a:off x="1769364" y="7653528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[Outcome or next step]</a:t>
            </a:r>
            <a:endParaRPr lang="en-US" sz="1250" dirty="0"/>
          </a:p>
        </p:txBody>
      </p:sp>
      <p:pic>
        <p:nvPicPr>
          <p:cNvPr id="37" name="Image 1" descr="/home/claude/deck/img/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68712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" y="102595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1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Aqualogic, a Sustec company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55848" y="10259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BCBF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detail, see the full procedure in the IMS.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2013</Words>
  <Application>Microsoft Macintosh PowerPoint</Application>
  <PresentationFormat>Custom</PresentationFormat>
  <Paragraphs>381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Aqualogic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Aqualogic policy at a glance template</dc:title>
  <dc:subject>PptxGenJS Presentation</dc:subject>
  <dc:creator>Alchemy</dc:creator>
  <cp:lastModifiedBy>Jess Morgan</cp:lastModifiedBy>
  <cp:revision>2</cp:revision>
  <dcterms:created xsi:type="dcterms:W3CDTF">2026-06-18T10:55:52Z</dcterms:created>
  <dcterms:modified xsi:type="dcterms:W3CDTF">2026-06-18T10:57:56Z</dcterms:modified>
</cp:coreProperties>
</file>