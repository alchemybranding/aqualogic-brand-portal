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346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0C2C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AT A GLANCE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How to use this template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457200" y="1956816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one-page summary of a policy or procedure: what to know and what to do. For the detail, it links back to the full policy.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505456"/>
            <a:ext cx="6647688" cy="603504"/>
          </a:xfrm>
          <a:prstGeom prst="roundRect">
            <a:avLst>
              <a:gd name="adj" fmla="val 12121"/>
            </a:avLst>
          </a:prstGeom>
          <a:solidFill>
            <a:srgbClr val="DBF5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40080" y="2624328"/>
            <a:ext cx="365760" cy="365760"/>
          </a:xfrm>
          <a:prstGeom prst="ellipse">
            <a:avLst/>
          </a:prstGeom>
          <a:solidFill>
            <a:srgbClr val="00B6D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715768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07008" y="2505456"/>
            <a:ext cx="5687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Save a copy to your folder before editing. Leave this master template intact.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457200" y="3310128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USING IT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57200" y="3639312"/>
            <a:ext cx="384048" cy="384048"/>
          </a:xfrm>
          <a:prstGeom prst="ellipse">
            <a:avLst/>
          </a:prstGeom>
          <a:solidFill>
            <a:srgbClr val="00B6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45720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87552" y="3639312"/>
            <a:ext cx="6117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 to your area's colour group.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187952"/>
            <a:ext cx="384048" cy="384048"/>
          </a:xfrm>
          <a:prstGeom prst="ellipse">
            <a:avLst/>
          </a:prstGeom>
          <a:solidFill>
            <a:srgbClr val="00B6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45720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987552" y="4187952"/>
            <a:ext cx="6117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Pick the page you need: a policy, flowchart or workflow.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57200" y="4736592"/>
            <a:ext cx="384048" cy="384048"/>
          </a:xfrm>
          <a:prstGeom prst="ellipse">
            <a:avLst/>
          </a:prstGeom>
          <a:solidFill>
            <a:srgbClr val="00B6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457200" y="4736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987552" y="4736592"/>
            <a:ext cx="6117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Replace the placeholder text. Keep it to one page.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457200" y="5285232"/>
            <a:ext cx="384048" cy="384048"/>
          </a:xfrm>
          <a:prstGeom prst="ellipse">
            <a:avLst/>
          </a:prstGeom>
          <a:solidFill>
            <a:srgbClr val="00B6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45720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987552" y="5285232"/>
            <a:ext cx="6117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Delete the pages you do not need, then export to PDF (File, Export).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457200" y="5943600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6D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COLOUR KEY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457200" y="6291072"/>
            <a:ext cx="6647688" cy="548640"/>
          </a:xfrm>
          <a:prstGeom prst="roundRect">
            <a:avLst>
              <a:gd name="adj" fmla="val 13333"/>
            </a:avLst>
          </a:prstGeom>
          <a:solidFill>
            <a:srgbClr val="FBEC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621792" y="6382512"/>
            <a:ext cx="365760" cy="365760"/>
          </a:xfrm>
          <a:prstGeom prst="ellipse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6473952"/>
            <a:ext cx="182880" cy="18288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1170432" y="6291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Health &amp; Safety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5733288" y="62910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#D6453D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457200" y="6851072"/>
            <a:ext cx="6647688" cy="548640"/>
          </a:xfrm>
          <a:prstGeom prst="roundRect">
            <a:avLst>
              <a:gd name="adj" fmla="val 13333"/>
            </a:avLst>
          </a:prstGeom>
          <a:solidFill>
            <a:srgbClr val="EAF5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621792" y="6942512"/>
            <a:ext cx="365760" cy="365760"/>
          </a:xfrm>
          <a:prstGeom prst="ellipse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7033952"/>
            <a:ext cx="182880" cy="18288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170432" y="6851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HR &amp; People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5733288" y="68510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#2E9E78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457200" y="7411072"/>
            <a:ext cx="6647688" cy="548640"/>
          </a:xfrm>
          <a:prstGeom prst="roundRect">
            <a:avLst>
              <a:gd name="adj" fmla="val 13333"/>
            </a:avLst>
          </a:prstGeom>
          <a:solidFill>
            <a:srgbClr val="FCF4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621792" y="7502512"/>
            <a:ext cx="365760" cy="365760"/>
          </a:xfrm>
          <a:prstGeom prst="ellipse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7593952"/>
            <a:ext cx="182880" cy="182880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170432" y="7411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Fleet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5733288" y="74110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#E0922F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457200" y="7971072"/>
            <a:ext cx="6647688" cy="548640"/>
          </a:xfrm>
          <a:prstGeom prst="roundRect">
            <a:avLst>
              <a:gd name="adj" fmla="val 13333"/>
            </a:avLst>
          </a:prstGeom>
          <a:solidFill>
            <a:srgbClr val="EFEE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4"/>
          <p:cNvSpPr/>
          <p:nvPr/>
        </p:nvSpPr>
        <p:spPr>
          <a:xfrm>
            <a:off x="621792" y="8062512"/>
            <a:ext cx="365760" cy="365760"/>
          </a:xfrm>
          <a:prstGeom prst="ellipse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8153952"/>
            <a:ext cx="182880" cy="18288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1170432" y="7971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Compliance</a:t>
            </a:r>
            <a:endParaRPr lang="en-US" sz="1400" dirty="0"/>
          </a:p>
        </p:txBody>
      </p:sp>
      <p:sp>
        <p:nvSpPr>
          <p:cNvPr id="44" name="Text 36"/>
          <p:cNvSpPr/>
          <p:nvPr/>
        </p:nvSpPr>
        <p:spPr>
          <a:xfrm>
            <a:off x="5733288" y="79710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#5A57C9</a:t>
            </a:r>
            <a:endParaRPr lang="en-US" sz="1100" dirty="0"/>
          </a:p>
        </p:txBody>
      </p:sp>
      <p:sp>
        <p:nvSpPr>
          <p:cNvPr id="45" name="Shape 37"/>
          <p:cNvSpPr/>
          <p:nvPr/>
        </p:nvSpPr>
        <p:spPr>
          <a:xfrm>
            <a:off x="457200" y="8531072"/>
            <a:ext cx="6647688" cy="548640"/>
          </a:xfrm>
          <a:prstGeom prst="roundRect">
            <a:avLst>
              <a:gd name="adj" fmla="val 13333"/>
            </a:avLst>
          </a:prstGeom>
          <a:solidFill>
            <a:srgbClr val="EAF2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38"/>
          <p:cNvSpPr/>
          <p:nvPr/>
        </p:nvSpPr>
        <p:spPr>
          <a:xfrm>
            <a:off x="621792" y="8622512"/>
            <a:ext cx="365760" cy="365760"/>
          </a:xfrm>
          <a:prstGeom prst="ellipse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" y="8713952"/>
            <a:ext cx="182880" cy="182880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1170432" y="8531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Finance</a:t>
            </a:r>
            <a:endParaRPr lang="en-US" sz="1400" dirty="0"/>
          </a:p>
        </p:txBody>
      </p:sp>
      <p:sp>
        <p:nvSpPr>
          <p:cNvPr id="49" name="Text 40"/>
          <p:cNvSpPr/>
          <p:nvPr/>
        </p:nvSpPr>
        <p:spPr>
          <a:xfrm>
            <a:off x="5733288" y="85310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#2C7BC2</a:t>
            </a:r>
            <a:endParaRPr lang="en-US" sz="1100" dirty="0"/>
          </a:p>
        </p:txBody>
      </p:sp>
      <p:sp>
        <p:nvSpPr>
          <p:cNvPr id="54" name="Shape 37"/>
          <p:cNvSpPr/>
          <p:nvPr/>
        </p:nvSpPr>
        <p:spPr>
          <a:xfrm>
            <a:off x="457200" y="9091072"/>
            <a:ext cx="6647688" cy="548640"/>
          </a:xfrm>
          <a:prstGeom prst="roundRect">
            <a:avLst>
              <a:gd name="adj" fmla="val 13333"/>
            </a:avLst>
          </a:prstGeom>
          <a:solidFill>
            <a:srgbClr val="E7F3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38"/>
          <p:cNvSpPr/>
          <p:nvPr/>
        </p:nvSpPr>
        <p:spPr>
          <a:xfrm>
            <a:off x="621792" y="9182512"/>
            <a:ext cx="365760" cy="36576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6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9273952"/>
            <a:ext cx="182880" cy="182880"/>
          </a:xfrm>
          <a:prstGeom prst="rect">
            <a:avLst/>
          </a:prstGeom>
        </p:spPr>
      </p:pic>
      <p:sp>
        <p:nvSpPr>
          <p:cNvPr id="57" name="Text 39"/>
          <p:cNvSpPr/>
          <p:nvPr/>
        </p:nvSpPr>
        <p:spPr>
          <a:xfrm>
            <a:off x="1170432" y="9091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Digital Infrastructure</a:t>
            </a:r>
            <a:endParaRPr lang="en-US" sz="1400" dirty="0"/>
          </a:p>
        </p:txBody>
      </p:sp>
      <p:sp>
        <p:nvSpPr>
          <p:cNvPr id="58" name="Text 40"/>
          <p:cNvSpPr/>
          <p:nvPr/>
        </p:nvSpPr>
        <p:spPr>
          <a:xfrm>
            <a:off x="5733288" y="90910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#0F8B8D</a:t>
            </a:r>
            <a:endParaRPr lang="en-US" sz="1100" dirty="0"/>
          </a:p>
        </p:txBody>
      </p:sp>
      <p:sp>
        <p:nvSpPr>
          <p:cNvPr id="50" name="Text 41"/>
          <p:cNvSpPr/>
          <p:nvPr/>
        </p:nvSpPr>
        <p:spPr>
          <a:xfrm>
            <a:off x="457200" y="9820656"/>
            <a:ext cx="6647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Health &amp; Safety, HR and Fleet include a worked, illustrative example. Colours are a proposal and can be adjusted. Built in the Aqualogic brand (Manrope); install Manrope for correct rendering.</a:t>
            </a:r>
            <a:endParaRPr lang="en-US" sz="950" dirty="0"/>
          </a:p>
        </p:txBody>
      </p:sp>
      <p:pic>
        <p:nvPicPr>
          <p:cNvPr id="51" name="Image 7" descr="/home/claude/deck/img/m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53" name="Text 43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HEALTH &amp; SAFETY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AT A GLANCE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[Policy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13055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0704" y="19751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060704" y="24871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338328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350215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60704" y="33467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60704" y="38587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475488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487375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60704" y="47183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1060704" y="52303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612648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6245352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60704" y="60899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060704" y="66019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457200" y="749808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7616952"/>
            <a:ext cx="219456" cy="21945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60704" y="74615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1060704" y="79735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4526280" y="201168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EDEF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0"/>
          <p:cNvSpPr/>
          <p:nvPr/>
        </p:nvSpPr>
        <p:spPr>
          <a:xfrm>
            <a:off x="4754880" y="21945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[Stages, process or key facts]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754880" y="2606040"/>
            <a:ext cx="216712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[Add the steps, stages or key facts here. Keep it short: this is the summary, not the full policy.]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526280" y="6355080"/>
            <a:ext cx="2578608" cy="2240280"/>
          </a:xfrm>
          <a:prstGeom prst="roundRect">
            <a:avLst>
              <a:gd name="adj" fmla="val 3265"/>
            </a:avLst>
          </a:prstGeom>
          <a:solidFill>
            <a:srgbClr val="FBEC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3"/>
          <p:cNvSpPr/>
          <p:nvPr/>
        </p:nvSpPr>
        <p:spPr>
          <a:xfrm>
            <a:off x="4754880" y="6510528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[Support and contacts]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4754880" y="6858000"/>
            <a:ext cx="21671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[Links, contacts or where to go for help.]</a:t>
            </a:r>
            <a:endParaRPr lang="en-US" sz="1050" dirty="0"/>
          </a:p>
        </p:txBody>
      </p:sp>
      <p:pic>
        <p:nvPicPr>
          <p:cNvPr id="33" name="Image 6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policy in the employee handbook.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HEALTH &amp; SAFETY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FLOWCHART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6647688" cy="658368"/>
          </a:xfrm>
          <a:prstGeom prst="roundRect">
            <a:avLst>
              <a:gd name="adj" fmla="val 11111"/>
            </a:avLst>
          </a:prstGeom>
          <a:solidFill>
            <a:srgbClr val="FAE9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21792" y="2075688"/>
            <a:ext cx="347472" cy="347472"/>
          </a:xfrm>
          <a:prstGeom prst="ellipse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2157984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1920240"/>
            <a:ext cx="5824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[Critical safety or compliance note, if any.]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DA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685800" y="320040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85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325880" y="306324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1]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39319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7200" y="429768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DA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85800" y="461772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68580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325880" y="448056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2]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31520" y="5349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57200" y="571500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DA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685800" y="603504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685800" y="6035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1325880" y="589788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3]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67665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713232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DAB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685800" y="7452360"/>
            <a:ext cx="457200" cy="457200"/>
          </a:xfrm>
          <a:prstGeom prst="ellipse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85800" y="7452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1325880" y="731520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4]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pic>
        <p:nvPicPr>
          <p:cNvPr id="30" name="Image 2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HEALTH &amp; SAFETY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13248" y="74980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13248" y="749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EXAMPLE ONLY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WORKFLOW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Accident or near miss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1723644" y="2148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BECEC"/>
          </a:solidFill>
          <a:ln w="15875">
            <a:solidFill>
              <a:srgbClr val="D645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906524" y="21488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b="1" kern="0" spc="1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  </a:t>
            </a:r>
            <a:r>
              <a:rPr lang="en-US" sz="12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Make the area safe and check for danger.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98164" y="2843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540764" y="3136392"/>
            <a:ext cx="4480560" cy="749808"/>
          </a:xfrm>
          <a:prstGeom prst="roundRect">
            <a:avLst>
              <a:gd name="adj" fmla="val 8537"/>
            </a:avLst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723644" y="313639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 anyone injured?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3770071" y="3886200"/>
            <a:ext cx="21946" cy="201168"/>
          </a:xfrm>
          <a:prstGeom prst="rect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2057400" y="4078224"/>
            <a:ext cx="3447288" cy="21946"/>
          </a:xfrm>
          <a:prstGeom prst="rect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2046427" y="4078224"/>
            <a:ext cx="21946" cy="201168"/>
          </a:xfrm>
          <a:prstGeom prst="rect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5493715" y="4078224"/>
            <a:ext cx="21946" cy="201168"/>
          </a:xfrm>
          <a:prstGeom prst="rect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1874520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321808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If yes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3904488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If no (near miss)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7200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EBA2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40080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a first aider, or 999 if it is serious.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874520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EBA2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0080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Tell your line manager straight away.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904488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EBA2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087368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Tell your line manager.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321808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3904488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EBA2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4087368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Log it on the near-miss form.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046427" y="7050024"/>
            <a:ext cx="21946" cy="201168"/>
          </a:xfrm>
          <a:prstGeom prst="rect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493715" y="7050024"/>
            <a:ext cx="21946" cy="201168"/>
          </a:xfrm>
          <a:prstGeom prst="rect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2057400" y="7242048"/>
            <a:ext cx="3447288" cy="21946"/>
          </a:xfrm>
          <a:prstGeom prst="rect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3770071" y="7242048"/>
            <a:ext cx="21946" cy="201168"/>
          </a:xfrm>
          <a:prstGeom prst="rect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3598164" y="7415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1540764" y="7653528"/>
            <a:ext cx="4480560" cy="768096"/>
          </a:xfrm>
          <a:prstGeom prst="roundRect">
            <a:avLst>
              <a:gd name="adj" fmla="val 8333"/>
            </a:avLst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769364" y="7653528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line manager records it and completes the investigation form.</a:t>
            </a:r>
            <a:endParaRPr lang="en-US" sz="1250" dirty="0"/>
          </a:p>
        </p:txBody>
      </p:sp>
      <p:pic>
        <p:nvPicPr>
          <p:cNvPr id="39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41" name="Text 37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Example content. Replace with your own.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HR &amp; PEOPLE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13248" y="74980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13248" y="749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EXAMPLE ONLY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AT A GLANCE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Absence management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13055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60704" y="19751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Supporting your wellbeing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60704" y="24871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Promoting employee health while keeping operations running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Resources to help you through periods of illness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36499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60704" y="320954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Keeping connected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060704" y="372160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your line manager within 30 minutes of your shift start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Share what helps us support you and manage workload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Regular check-ins so we give the right support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457200" y="480060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491947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60704" y="476402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Documentation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060704" y="527608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Complete self-certification for all absences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Provide a fit note for absences over 7 calendar days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457200" y="603504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615391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060704" y="599846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Sick pay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1060704" y="651052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Paid in line with your contract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Statutory Sick Pay applies where eligible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457200" y="726948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7388352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60704" y="72329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smooth return</a:t>
            </a:r>
            <a:endParaRPr lang="en-US" sz="1400" dirty="0"/>
          </a:p>
        </p:txBody>
      </p:sp>
      <p:sp>
        <p:nvSpPr>
          <p:cNvPr id="28" name="Text 20"/>
          <p:cNvSpPr/>
          <p:nvPr/>
        </p:nvSpPr>
        <p:spPr>
          <a:xfrm>
            <a:off x="1060704" y="77449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welcoming conversation when you return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discussion about any support you need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phased return where it helps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4526280" y="201168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EDEF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2"/>
          <p:cNvSpPr/>
          <p:nvPr/>
        </p:nvSpPr>
        <p:spPr>
          <a:xfrm>
            <a:off x="4754880" y="2176272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stages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4754880" y="267004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Stage 1  </a:t>
            </a:r>
            <a:r>
              <a:rPr lang="en-US" sz="115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Verbal warning</a:t>
            </a:r>
            <a:endParaRPr lang="en-US" sz="1150" dirty="0"/>
          </a:p>
        </p:txBody>
      </p:sp>
      <p:sp>
        <p:nvSpPr>
          <p:cNvPr id="32" name="Text 24"/>
          <p:cNvSpPr/>
          <p:nvPr/>
        </p:nvSpPr>
        <p:spPr>
          <a:xfrm>
            <a:off x="4754880" y="291693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 absences in Y weeks, or X in Y months. Documented discussion. Y-month review.</a:t>
            </a:r>
            <a:endParaRPr lang="en-US" sz="950" dirty="0"/>
          </a:p>
        </p:txBody>
      </p:sp>
      <p:sp>
        <p:nvSpPr>
          <p:cNvPr id="33" name="Text 25"/>
          <p:cNvSpPr/>
          <p:nvPr/>
        </p:nvSpPr>
        <p:spPr>
          <a:xfrm>
            <a:off x="4754880" y="3520440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Stage 2  </a:t>
            </a:r>
            <a:r>
              <a:rPr lang="en-US" sz="115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Written warning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4754880" y="3767328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Further absence in the review period. Formal meeting. Y-month review.</a:t>
            </a:r>
            <a:endParaRPr lang="en-US" sz="950" dirty="0"/>
          </a:p>
        </p:txBody>
      </p:sp>
      <p:sp>
        <p:nvSpPr>
          <p:cNvPr id="35" name="Text 27"/>
          <p:cNvSpPr/>
          <p:nvPr/>
        </p:nvSpPr>
        <p:spPr>
          <a:xfrm>
            <a:off x="4754880" y="437083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Stage 3  </a:t>
            </a:r>
            <a:r>
              <a:rPr lang="en-US" sz="115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Final written warning</a:t>
            </a:r>
            <a:endParaRPr lang="en-US" sz="1150" dirty="0"/>
          </a:p>
        </p:txBody>
      </p:sp>
      <p:sp>
        <p:nvSpPr>
          <p:cNvPr id="36" name="Text 28"/>
          <p:cNvSpPr/>
          <p:nvPr/>
        </p:nvSpPr>
        <p:spPr>
          <a:xfrm>
            <a:off x="4754880" y="4617720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Further absence in the review period. Formal meeting. Y-month review.</a:t>
            </a:r>
            <a:endParaRPr lang="en-US" sz="950" dirty="0"/>
          </a:p>
        </p:txBody>
      </p:sp>
      <p:sp>
        <p:nvSpPr>
          <p:cNvPr id="37" name="Text 29"/>
          <p:cNvSpPr/>
          <p:nvPr/>
        </p:nvSpPr>
        <p:spPr>
          <a:xfrm>
            <a:off x="4754880" y="522122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Stage 4  </a:t>
            </a:r>
            <a:r>
              <a:rPr lang="en-US" sz="115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Potential dismissal</a:t>
            </a:r>
            <a:endParaRPr lang="en-US" sz="1150" dirty="0"/>
          </a:p>
        </p:txBody>
      </p:sp>
      <p:sp>
        <p:nvSpPr>
          <p:cNvPr id="38" name="Text 30"/>
          <p:cNvSpPr/>
          <p:nvPr/>
        </p:nvSpPr>
        <p:spPr>
          <a:xfrm>
            <a:off x="4754880" y="546811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Further absence in the review period. Formal meeting.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4526280" y="6355080"/>
            <a:ext cx="2578608" cy="2240280"/>
          </a:xfrm>
          <a:prstGeom prst="roundRect">
            <a:avLst>
              <a:gd name="adj" fmla="val 3265"/>
            </a:avLst>
          </a:prstGeom>
          <a:solidFill>
            <a:srgbClr val="EAF5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2"/>
          <p:cNvSpPr/>
          <p:nvPr/>
        </p:nvSpPr>
        <p:spPr>
          <a:xfrm>
            <a:off x="4754880" y="651052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Additional support</a:t>
            </a:r>
            <a:endParaRPr lang="en-US" sz="1300" dirty="0"/>
          </a:p>
        </p:txBody>
      </p:sp>
      <p:sp>
        <p:nvSpPr>
          <p:cNvPr id="41" name="Text 33"/>
          <p:cNvSpPr/>
          <p:nvPr/>
        </p:nvSpPr>
        <p:spPr>
          <a:xfrm>
            <a:off x="4754880" y="68580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›"/>
            </a:pPr>
            <a:r>
              <a:rPr lang="en-US" sz="10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Enhanced provisions for specific circumstances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›"/>
            </a:pPr>
            <a:r>
              <a:rPr lang="en-US" sz="10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Private health insurance (Equipsme), GP 24/7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›"/>
            </a:pPr>
            <a:r>
              <a:rPr lang="en-US" sz="10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Employee Assistance Programme (EAP)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›"/>
            </a:pPr>
            <a:r>
              <a:rPr lang="en-US" sz="10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Mental Health First Aiders (see intranet)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›"/>
            </a:pPr>
            <a:r>
              <a:rPr lang="en-US" sz="100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0333 400 0545, quote PGHAPI</a:t>
            </a:r>
            <a:endParaRPr lang="en-US" sz="1000" dirty="0"/>
          </a:p>
        </p:txBody>
      </p:sp>
      <p:pic>
        <p:nvPicPr>
          <p:cNvPr id="42" name="Image 6" descr="/home/claude/deck/img/m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44" name="Text 35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Example content. Replace with your own.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HR &amp; PEOPLE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FLOWCHART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6647688" cy="658368"/>
          </a:xfrm>
          <a:prstGeom prst="roundRect">
            <a:avLst>
              <a:gd name="adj" fmla="val 11111"/>
            </a:avLst>
          </a:prstGeom>
          <a:solidFill>
            <a:srgbClr val="E6F3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21792" y="2075688"/>
            <a:ext cx="347472" cy="347472"/>
          </a:xfrm>
          <a:prstGeom prst="ellipse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2157984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1920240"/>
            <a:ext cx="5824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[Critical safety or compliance note, if any.]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1D3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685800" y="320040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85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325880" y="306324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1]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39319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7200" y="429768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1D3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85800" y="461772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68580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325880" y="448056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2]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31520" y="5349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57200" y="571500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1D3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685800" y="603504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685800" y="6035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1325880" y="589788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3]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67665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713232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1D3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685800" y="7452360"/>
            <a:ext cx="457200" cy="457200"/>
          </a:xfrm>
          <a:prstGeom prst="ellipse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85800" y="7452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1325880" y="731520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4]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pic>
        <p:nvPicPr>
          <p:cNvPr id="30" name="Image 2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HR &amp; PEOPLE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WORKFLOW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1723644" y="2148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AF5F2"/>
          </a:solidFill>
          <a:ln w="15875">
            <a:solidFill>
              <a:srgbClr val="2E9E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906524" y="21488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b="1" kern="0" spc="1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  </a:t>
            </a:r>
            <a:r>
              <a:rPr lang="en-US" sz="120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[Starting point]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598164" y="2843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540764" y="3136392"/>
            <a:ext cx="4480560" cy="749808"/>
          </a:xfrm>
          <a:prstGeom prst="roundRect">
            <a:avLst>
              <a:gd name="adj" fmla="val 8537"/>
            </a:avLst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723644" y="313639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[Decision or question?]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770071" y="3886200"/>
            <a:ext cx="21946" cy="201168"/>
          </a:xfrm>
          <a:prstGeom prst="rect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057400" y="4078224"/>
            <a:ext cx="3447288" cy="21946"/>
          </a:xfrm>
          <a:prstGeom prst="rect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046427" y="4078224"/>
            <a:ext cx="21946" cy="201168"/>
          </a:xfrm>
          <a:prstGeom prst="rect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5493715" y="4078224"/>
            <a:ext cx="21946" cy="201168"/>
          </a:xfrm>
          <a:prstGeom prst="rect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874520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321808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yes]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904488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no]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7C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0080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874520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7C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904488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7C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087368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21808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3904488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7C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087368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046427" y="7050024"/>
            <a:ext cx="21946" cy="201168"/>
          </a:xfrm>
          <a:prstGeom prst="rect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5493715" y="7050024"/>
            <a:ext cx="21946" cy="201168"/>
          </a:xfrm>
          <a:prstGeom prst="rect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2057400" y="7242048"/>
            <a:ext cx="3447288" cy="21946"/>
          </a:xfrm>
          <a:prstGeom prst="rect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3770071" y="7242048"/>
            <a:ext cx="21946" cy="201168"/>
          </a:xfrm>
          <a:prstGeom prst="rect">
            <a:avLst/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3598164" y="7415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E9E7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1540764" y="7653528"/>
            <a:ext cx="4480560" cy="768096"/>
          </a:xfrm>
          <a:prstGeom prst="roundRect">
            <a:avLst>
              <a:gd name="adj" fmla="val 8333"/>
            </a:avLst>
          </a:prstGeom>
          <a:solidFill>
            <a:srgbClr val="2E9E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1769364" y="7653528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[Outcome or next step]</a:t>
            </a:r>
            <a:endParaRPr lang="en-US" sz="1250" dirty="0"/>
          </a:p>
        </p:txBody>
      </p:sp>
      <p:pic>
        <p:nvPicPr>
          <p:cNvPr id="37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FLEET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AT A GLANCE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[Policy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13055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0704" y="19751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060704" y="24871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3383280"/>
            <a:ext cx="457200" cy="457200"/>
          </a:xfrm>
          <a:prstGeom prst="ellipse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350215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60704" y="33467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60704" y="38587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4754880"/>
            <a:ext cx="457200" cy="457200"/>
          </a:xfrm>
          <a:prstGeom prst="ellipse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487375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60704" y="47183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1060704" y="52303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6126480"/>
            <a:ext cx="457200" cy="457200"/>
          </a:xfrm>
          <a:prstGeom prst="ellipse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6245352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60704" y="60899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060704" y="66019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457200" y="7498080"/>
            <a:ext cx="457200" cy="457200"/>
          </a:xfrm>
          <a:prstGeom prst="ellipse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7616952"/>
            <a:ext cx="219456" cy="21945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60704" y="74615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1060704" y="79735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4526280" y="201168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EDEF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0"/>
          <p:cNvSpPr/>
          <p:nvPr/>
        </p:nvSpPr>
        <p:spPr>
          <a:xfrm>
            <a:off x="4754880" y="21945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[Stages, process or key facts]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754880" y="2606040"/>
            <a:ext cx="216712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[Add the steps, stages or key facts here. Keep it short: this is the summary, not the full policy.]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526280" y="6355080"/>
            <a:ext cx="2578608" cy="2240280"/>
          </a:xfrm>
          <a:prstGeom prst="roundRect">
            <a:avLst>
              <a:gd name="adj" fmla="val 3265"/>
            </a:avLst>
          </a:prstGeom>
          <a:solidFill>
            <a:srgbClr val="FCF4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3"/>
          <p:cNvSpPr/>
          <p:nvPr/>
        </p:nvSpPr>
        <p:spPr>
          <a:xfrm>
            <a:off x="4754880" y="6510528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[Support and contacts]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4754880" y="6858000"/>
            <a:ext cx="21671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[Links, contacts or where to go for help.]</a:t>
            </a:r>
            <a:endParaRPr lang="en-US" sz="1050" dirty="0"/>
          </a:p>
        </p:txBody>
      </p:sp>
      <p:pic>
        <p:nvPicPr>
          <p:cNvPr id="33" name="Image 6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policy in the employee handbook.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FLEET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13248" y="74980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13248" y="749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EXAMPLE ONLY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FLOWCHART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Road traffic collision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457200" y="1920240"/>
            <a:ext cx="6647688" cy="658368"/>
          </a:xfrm>
          <a:prstGeom prst="roundRect">
            <a:avLst>
              <a:gd name="adj" fmla="val 11111"/>
            </a:avLst>
          </a:prstGeom>
          <a:solidFill>
            <a:srgbClr val="F9E5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21792" y="2075688"/>
            <a:ext cx="347472" cy="347472"/>
          </a:xfrm>
          <a:prstGeom prst="ellipse">
            <a:avLst/>
          </a:prstGeom>
          <a:solidFill>
            <a:srgbClr val="D6453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215798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15568" y="1920240"/>
            <a:ext cx="5824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D6453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Driver and third-party safety is paramount.  </a:t>
            </a:r>
            <a:r>
              <a:rPr lang="en-US" sz="1150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emergency services if needed. Do not admit liability.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2788920"/>
            <a:ext cx="3794760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F1CE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658368" y="3044952"/>
            <a:ext cx="438912" cy="438912"/>
          </a:xfrm>
          <a:prstGeom prst="ellipse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658368" y="3044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234440" y="291693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Stop when safe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234440" y="3209544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Switch off the engine and turn on hazard lights.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94944" y="37033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57200" y="4014216"/>
            <a:ext cx="3794760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F1CE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58368" y="4270248"/>
            <a:ext cx="438912" cy="438912"/>
          </a:xfrm>
          <a:prstGeom prst="ellipse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658368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234440" y="414223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Make the scene safe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1234440" y="443484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emergency services if anyone is hurt or there is danger.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94944" y="4928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457200" y="5239512"/>
            <a:ext cx="3794760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F1CE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658368" y="5495544"/>
            <a:ext cx="438912" cy="438912"/>
          </a:xfrm>
          <a:prstGeom prst="ellipse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658368" y="5495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1234440" y="53675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Gather details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1234440" y="5660136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Third party and any witnesses. Note a police crime reference if police attend.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94944" y="615391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6464808"/>
            <a:ext cx="3794760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F1CE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58368" y="6720840"/>
            <a:ext cx="438912" cy="438912"/>
          </a:xfrm>
          <a:prstGeom prst="ellipse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9"/>
          <p:cNvSpPr/>
          <p:nvPr/>
        </p:nvSpPr>
        <p:spPr>
          <a:xfrm>
            <a:off x="658368" y="6720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1234440" y="659282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Take photos, if safe</a:t>
            </a:r>
            <a:endParaRPr lang="en-US" sz="1300" dirty="0"/>
          </a:p>
        </p:txBody>
      </p:sp>
      <p:sp>
        <p:nvSpPr>
          <p:cNvPr id="35" name="Text 31"/>
          <p:cNvSpPr/>
          <p:nvPr/>
        </p:nvSpPr>
        <p:spPr>
          <a:xfrm>
            <a:off x="1234440" y="6885432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location, and the damage to all vehicles.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94944" y="737920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457200" y="7690104"/>
            <a:ext cx="3794760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F1CE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58368" y="7946136"/>
            <a:ext cx="438912" cy="438912"/>
          </a:xfrm>
          <a:prstGeom prst="ellipse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5"/>
          <p:cNvSpPr/>
          <p:nvPr/>
        </p:nvSpPr>
        <p:spPr>
          <a:xfrm>
            <a:off x="658368" y="79461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600" dirty="0"/>
          </a:p>
        </p:txBody>
      </p:sp>
      <p:sp>
        <p:nvSpPr>
          <p:cNvPr id="40" name="Text 36"/>
          <p:cNvSpPr/>
          <p:nvPr/>
        </p:nvSpPr>
        <p:spPr>
          <a:xfrm>
            <a:off x="1234440" y="78181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Tell your line manager asap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1234440" y="811072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They complete the Incident Investigation Form with Fleet and Assets.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26280" y="2788920"/>
            <a:ext cx="2578608" cy="4617720"/>
          </a:xfrm>
          <a:prstGeom prst="roundRect">
            <a:avLst>
              <a:gd name="adj" fmla="val 2837"/>
            </a:avLst>
          </a:prstGeom>
          <a:solidFill>
            <a:srgbClr val="EDEF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9"/>
          <p:cNvSpPr/>
          <p:nvPr/>
        </p:nvSpPr>
        <p:spPr>
          <a:xfrm>
            <a:off x="4745736" y="292608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Details to obtain</a:t>
            </a:r>
            <a:endParaRPr lang="en-US" sz="1250" dirty="0"/>
          </a:p>
        </p:txBody>
      </p:sp>
      <p:sp>
        <p:nvSpPr>
          <p:cNvPr id="44" name="Text 40"/>
          <p:cNvSpPr/>
          <p:nvPr/>
        </p:nvSpPr>
        <p:spPr>
          <a:xfrm>
            <a:off x="4745736" y="3218688"/>
            <a:ext cx="21579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Third party: name, address, mobile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Make, model and registration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Damage, and number of passengers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Insurer and policy number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Witnesses: name, address, mobile</a:t>
            </a:r>
            <a:endParaRPr lang="en-US" sz="950" dirty="0"/>
          </a:p>
        </p:txBody>
      </p:sp>
      <p:sp>
        <p:nvSpPr>
          <p:cNvPr id="45" name="Text 41"/>
          <p:cNvSpPr/>
          <p:nvPr/>
        </p:nvSpPr>
        <p:spPr>
          <a:xfrm>
            <a:off x="4745736" y="5029200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Information to provide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4745736" y="5321808"/>
            <a:ext cx="21579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name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Company vehicle registration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Date, time and location</a:t>
            </a:r>
            <a:endParaRPr lang="en-US" sz="950" dirty="0"/>
          </a:p>
          <a:p>
            <a:pPr marL="139700" indent="-139700">
              <a:lnSpc>
                <a:spcPct val="105000"/>
              </a:lnSpc>
              <a:spcAft>
                <a:spcPts val="300"/>
              </a:spcAft>
              <a:buSzPct val="100000"/>
              <a:buChar char="›"/>
            </a:pPr>
            <a:r>
              <a:rPr lang="en-US" sz="950" dirty="0">
                <a:solidFill>
                  <a:srgbClr val="4042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Insurance details (below)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4745736" y="6547104"/>
            <a:ext cx="2139696" cy="804672"/>
          </a:xfrm>
          <a:prstGeom prst="roundRect">
            <a:avLst>
              <a:gd name="adj" fmla="val 9091"/>
            </a:avLst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4745736" y="6547104"/>
            <a:ext cx="21396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Zurich Insurance</a:t>
            </a:r>
            <a:endParaRPr lang="en-US" sz="125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AQ 403066</a:t>
            </a:r>
            <a:endParaRPr lang="en-US" sz="1250" dirty="0"/>
          </a:p>
        </p:txBody>
      </p:sp>
      <p:pic>
        <p:nvPicPr>
          <p:cNvPr id="49" name="Image 2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50" name="Text 45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Example content. Replace with your own.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FLEET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WORKFLOW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1723644" y="2148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CF4EA"/>
          </a:solidFill>
          <a:ln w="15875">
            <a:solidFill>
              <a:srgbClr val="E092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906524" y="21488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b="1" kern="0" spc="1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  </a:t>
            </a:r>
            <a:r>
              <a:rPr lang="en-US" sz="120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[Starting point]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598164" y="2843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540764" y="3136392"/>
            <a:ext cx="4480560" cy="749808"/>
          </a:xfrm>
          <a:prstGeom prst="roundRect">
            <a:avLst>
              <a:gd name="adj" fmla="val 8537"/>
            </a:avLst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723644" y="313639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[Decision or question?]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770071" y="3886200"/>
            <a:ext cx="21946" cy="201168"/>
          </a:xfrm>
          <a:prstGeom prst="rect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057400" y="4078224"/>
            <a:ext cx="3447288" cy="21946"/>
          </a:xfrm>
          <a:prstGeom prst="rect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046427" y="4078224"/>
            <a:ext cx="21946" cy="201168"/>
          </a:xfrm>
          <a:prstGeom prst="rect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5493715" y="4078224"/>
            <a:ext cx="21946" cy="201168"/>
          </a:xfrm>
          <a:prstGeom prst="rect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874520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321808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yes]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904488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no]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F0C99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0080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874520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F0C99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904488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F0C99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087368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21808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3904488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F0C99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087368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046427" y="7050024"/>
            <a:ext cx="21946" cy="201168"/>
          </a:xfrm>
          <a:prstGeom prst="rect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5493715" y="7050024"/>
            <a:ext cx="21946" cy="201168"/>
          </a:xfrm>
          <a:prstGeom prst="rect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2057400" y="7242048"/>
            <a:ext cx="3447288" cy="21946"/>
          </a:xfrm>
          <a:prstGeom prst="rect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3770071" y="7242048"/>
            <a:ext cx="21946" cy="201168"/>
          </a:xfrm>
          <a:prstGeom prst="rect">
            <a:avLst/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3598164" y="7415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0922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1540764" y="7653528"/>
            <a:ext cx="4480560" cy="768096"/>
          </a:xfrm>
          <a:prstGeom prst="roundRect">
            <a:avLst>
              <a:gd name="adj" fmla="val 8333"/>
            </a:avLst>
          </a:prstGeom>
          <a:solidFill>
            <a:srgbClr val="E09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1769364" y="7653528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[Outcome or next step]</a:t>
            </a:r>
            <a:endParaRPr lang="en-US" sz="1250" dirty="0"/>
          </a:p>
        </p:txBody>
      </p:sp>
      <p:pic>
        <p:nvPicPr>
          <p:cNvPr id="37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COMPLIANCE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AT A GLANCE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[Policy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13055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0704" y="19751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060704" y="24871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338328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350215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60704" y="33467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60704" y="38587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475488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487375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60704" y="47183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1060704" y="52303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612648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6245352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60704" y="60899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060704" y="66019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457200" y="749808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7616952"/>
            <a:ext cx="219456" cy="21945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60704" y="74615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1060704" y="79735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4526280" y="201168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EDEF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0"/>
          <p:cNvSpPr/>
          <p:nvPr/>
        </p:nvSpPr>
        <p:spPr>
          <a:xfrm>
            <a:off x="4754880" y="21945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[Stages, process or key facts]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754880" y="2606040"/>
            <a:ext cx="216712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[Add the steps, stages or key facts here. Keep it short: this is the summary, not the full policy.]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526280" y="6355080"/>
            <a:ext cx="2578608" cy="2240280"/>
          </a:xfrm>
          <a:prstGeom prst="roundRect">
            <a:avLst>
              <a:gd name="adj" fmla="val 3265"/>
            </a:avLst>
          </a:prstGeom>
          <a:solidFill>
            <a:srgbClr val="EFEE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3"/>
          <p:cNvSpPr/>
          <p:nvPr/>
        </p:nvSpPr>
        <p:spPr>
          <a:xfrm>
            <a:off x="4754880" y="6510528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[Support and contacts]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4754880" y="6858000"/>
            <a:ext cx="21671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[Links, contacts or where to go for help.]</a:t>
            </a:r>
            <a:endParaRPr lang="en-US" sz="1050" dirty="0"/>
          </a:p>
        </p:txBody>
      </p:sp>
      <p:pic>
        <p:nvPicPr>
          <p:cNvPr id="33" name="Image 6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policy in the employee handbook.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COMPLIANCE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FLOWCHART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6647688" cy="658368"/>
          </a:xfrm>
          <a:prstGeom prst="roundRect">
            <a:avLst>
              <a:gd name="adj" fmla="val 11111"/>
            </a:avLst>
          </a:prstGeom>
          <a:solidFill>
            <a:srgbClr val="EBEB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21792" y="2075688"/>
            <a:ext cx="347472" cy="347472"/>
          </a:xfrm>
          <a:prstGeom prst="ellipse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2157984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1920240"/>
            <a:ext cx="5824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[Critical safety or compliance note, if any.]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B5B3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685800" y="320040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85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325880" y="306324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1]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39319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7200" y="429768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B5B3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85800" y="461772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68580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325880" y="448056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2]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31520" y="5349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57200" y="571500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B5B3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685800" y="603504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685800" y="6035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1325880" y="589788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3]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67665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713232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B5B3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685800" y="7452360"/>
            <a:ext cx="457200" cy="457200"/>
          </a:xfrm>
          <a:prstGeom prst="ellipse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85800" y="7452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1325880" y="731520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4]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pic>
        <p:nvPicPr>
          <p:cNvPr id="30" name="Image 2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COMPLIANCE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WORKFLOW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1723644" y="2148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FEEFA"/>
          </a:solidFill>
          <a:ln w="15875">
            <a:solidFill>
              <a:srgbClr val="5A5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906524" y="21488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b="1" kern="0" spc="1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  </a:t>
            </a:r>
            <a:r>
              <a:rPr lang="en-US" sz="120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[Starting point]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598164" y="2843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540764" y="3136392"/>
            <a:ext cx="4480560" cy="749808"/>
          </a:xfrm>
          <a:prstGeom prst="roundRect">
            <a:avLst>
              <a:gd name="adj" fmla="val 8537"/>
            </a:avLst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723644" y="313639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[Decision or question?]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770071" y="3886200"/>
            <a:ext cx="21946" cy="201168"/>
          </a:xfrm>
          <a:prstGeom prst="rect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057400" y="4078224"/>
            <a:ext cx="3447288" cy="21946"/>
          </a:xfrm>
          <a:prstGeom prst="rect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046427" y="4078224"/>
            <a:ext cx="21946" cy="201168"/>
          </a:xfrm>
          <a:prstGeom prst="rect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5493715" y="4078224"/>
            <a:ext cx="21946" cy="201168"/>
          </a:xfrm>
          <a:prstGeom prst="rect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874520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321808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yes]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904488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no]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ADAB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0080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874520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ADAB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904488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ADAB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087368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21808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3904488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ADAB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087368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046427" y="7050024"/>
            <a:ext cx="21946" cy="201168"/>
          </a:xfrm>
          <a:prstGeom prst="rect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5493715" y="7050024"/>
            <a:ext cx="21946" cy="201168"/>
          </a:xfrm>
          <a:prstGeom prst="rect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2057400" y="7242048"/>
            <a:ext cx="3447288" cy="21946"/>
          </a:xfrm>
          <a:prstGeom prst="rect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3770071" y="7242048"/>
            <a:ext cx="21946" cy="201168"/>
          </a:xfrm>
          <a:prstGeom prst="rect">
            <a:avLst/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3598164" y="7415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57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1540764" y="7653528"/>
            <a:ext cx="4480560" cy="768096"/>
          </a:xfrm>
          <a:prstGeom prst="roundRect">
            <a:avLst>
              <a:gd name="adj" fmla="val 8333"/>
            </a:avLst>
          </a:prstGeom>
          <a:solidFill>
            <a:srgbClr val="5A57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1769364" y="7653528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[Outcome or next step]</a:t>
            </a:r>
            <a:endParaRPr lang="en-US" sz="1250" dirty="0"/>
          </a:p>
        </p:txBody>
      </p:sp>
      <p:pic>
        <p:nvPicPr>
          <p:cNvPr id="37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AT A GLANCE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[Policy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13055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0704" y="19751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060704" y="24871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338328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350215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60704" y="33467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60704" y="38587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475488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487375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60704" y="47183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1060704" y="52303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612648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6245352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60704" y="60899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060704" y="66019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457200" y="749808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7616952"/>
            <a:ext cx="219456" cy="21945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60704" y="74615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1060704" y="79735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4526280" y="201168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EDEF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0"/>
          <p:cNvSpPr/>
          <p:nvPr/>
        </p:nvSpPr>
        <p:spPr>
          <a:xfrm>
            <a:off x="4754880" y="21945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[Stages, process or key facts]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754880" y="2606040"/>
            <a:ext cx="216712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[Add the steps, stages or key facts here. Keep it short: this is the summary, not the full policy.]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526280" y="6355080"/>
            <a:ext cx="2578608" cy="2240280"/>
          </a:xfrm>
          <a:prstGeom prst="roundRect">
            <a:avLst>
              <a:gd name="adj" fmla="val 3265"/>
            </a:avLst>
          </a:prstGeom>
          <a:solidFill>
            <a:srgbClr val="EAF2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3"/>
          <p:cNvSpPr/>
          <p:nvPr/>
        </p:nvSpPr>
        <p:spPr>
          <a:xfrm>
            <a:off x="4754880" y="6510528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[Support and contacts]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4754880" y="6858000"/>
            <a:ext cx="21671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[Links, contacts or where to go for help.]</a:t>
            </a:r>
            <a:endParaRPr lang="en-US" sz="1050" dirty="0"/>
          </a:p>
        </p:txBody>
      </p:sp>
      <p:pic>
        <p:nvPicPr>
          <p:cNvPr id="33" name="Image 6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policy in the employee handbook.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FLOWCHART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6647688" cy="658368"/>
          </a:xfrm>
          <a:prstGeom prst="roundRect">
            <a:avLst>
              <a:gd name="adj" fmla="val 11111"/>
            </a:avLst>
          </a:prstGeom>
          <a:solidFill>
            <a:srgbClr val="E6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21792" y="2075688"/>
            <a:ext cx="347472" cy="347472"/>
          </a:xfrm>
          <a:prstGeom prst="ellipse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2157984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1920240"/>
            <a:ext cx="5824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[Critical safety or compliance note, if any.]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0C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685800" y="320040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85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325880" y="306324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1]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39319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7200" y="429768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0C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85800" y="461772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68580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325880" y="448056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2]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31520" y="5349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57200" y="571500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0C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685800" y="603504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685800" y="6035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1325880" y="589788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3]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67665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713232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A0C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685800" y="7452360"/>
            <a:ext cx="457200" cy="457200"/>
          </a:xfrm>
          <a:prstGeom prst="ellipse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85800" y="7452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1325880" y="731520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4]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pic>
        <p:nvPicPr>
          <p:cNvPr id="30" name="Image 2" descr="/home/claude/deck/img/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FINANCE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WORKFLOW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1723644" y="2148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AF2F9"/>
          </a:solidFill>
          <a:ln w="15875">
            <a:solidFill>
              <a:srgbClr val="2C7B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906524" y="21488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b="1" kern="0" spc="1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  </a:t>
            </a:r>
            <a:r>
              <a:rPr lang="en-US" sz="120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[Starting point]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598164" y="2843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540764" y="3136392"/>
            <a:ext cx="4480560" cy="749808"/>
          </a:xfrm>
          <a:prstGeom prst="roundRect">
            <a:avLst>
              <a:gd name="adj" fmla="val 8537"/>
            </a:avLst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723644" y="313639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[Decision or question?]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770071" y="3886200"/>
            <a:ext cx="21946" cy="201168"/>
          </a:xfrm>
          <a:prstGeom prst="rect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057400" y="4078224"/>
            <a:ext cx="3447288" cy="21946"/>
          </a:xfrm>
          <a:prstGeom prst="rect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046427" y="4078224"/>
            <a:ext cx="21946" cy="201168"/>
          </a:xfrm>
          <a:prstGeom prst="rect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5493715" y="4078224"/>
            <a:ext cx="21946" cy="201168"/>
          </a:xfrm>
          <a:prstGeom prst="rect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874520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321808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yes]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904488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no]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6BD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0080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874520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6BD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904488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6BD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087368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21808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3904488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96BD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087368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046427" y="7050024"/>
            <a:ext cx="21946" cy="201168"/>
          </a:xfrm>
          <a:prstGeom prst="rect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5493715" y="7050024"/>
            <a:ext cx="21946" cy="201168"/>
          </a:xfrm>
          <a:prstGeom prst="rect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2057400" y="7242048"/>
            <a:ext cx="3447288" cy="21946"/>
          </a:xfrm>
          <a:prstGeom prst="rect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3770071" y="7242048"/>
            <a:ext cx="21946" cy="201168"/>
          </a:xfrm>
          <a:prstGeom prst="rect">
            <a:avLst/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3598164" y="7415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7B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1540764" y="7653528"/>
            <a:ext cx="4480560" cy="768096"/>
          </a:xfrm>
          <a:prstGeom prst="roundRect">
            <a:avLst>
              <a:gd name="adj" fmla="val 8333"/>
            </a:avLst>
          </a:prstGeom>
          <a:solidFill>
            <a:srgbClr val="2C7BC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1769364" y="7653528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[Outcome or next step]</a:t>
            </a:r>
            <a:endParaRPr lang="en-US" sz="1250" dirty="0"/>
          </a:p>
        </p:txBody>
      </p:sp>
      <p:pic>
        <p:nvPicPr>
          <p:cNvPr id="37" name="Image 1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DIGITAL INFRASTRUCTURE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AT A GLANCE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[Policy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13055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0704" y="19751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060704" y="24871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338328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350215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60704" y="33467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60704" y="38587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475488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487375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60704" y="47183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1060704" y="52303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612648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6245352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60704" y="60899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060704" y="66019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457200" y="749808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7616952"/>
            <a:ext cx="219456" cy="21945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60704" y="7461504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[Section heading]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1060704" y="7973568"/>
            <a:ext cx="31912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employees need to know]</a:t>
            </a:r>
            <a:endParaRPr lang="en-US" sz="1050" dirty="0"/>
          </a:p>
          <a:p>
            <a:pPr marL="165100" indent="-165100">
              <a:lnSpc>
                <a:spcPct val="106000"/>
              </a:lnSpc>
              <a:spcAft>
                <a:spcPts val="300"/>
              </a:spcAft>
              <a:buSzPct val="100000"/>
              <a:buChar char="›"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[Key point or action]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4526280" y="201168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EDEF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0"/>
          <p:cNvSpPr/>
          <p:nvPr/>
        </p:nvSpPr>
        <p:spPr>
          <a:xfrm>
            <a:off x="4754880" y="21945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8B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[Stages, process or key facts]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754880" y="2606040"/>
            <a:ext cx="216712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[Add the steps, stages or key facts here. Keep it short: this is the summary, not the full policy.]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526280" y="6355080"/>
            <a:ext cx="2578608" cy="2240280"/>
          </a:xfrm>
          <a:prstGeom prst="roundRect">
            <a:avLst>
              <a:gd name="adj" fmla="val 3265"/>
            </a:avLst>
          </a:prstGeom>
          <a:solidFill>
            <a:srgbClr val="E7F3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3"/>
          <p:cNvSpPr/>
          <p:nvPr/>
        </p:nvSpPr>
        <p:spPr>
          <a:xfrm>
            <a:off x="4754880" y="6510528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8B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[Support and contacts]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4754880" y="6858000"/>
            <a:ext cx="21671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[Links, contacts or where to go for help.]</a:t>
            </a:r>
            <a:endParaRPr lang="en-US" sz="1050" dirty="0"/>
          </a:p>
        </p:txBody>
      </p:sp>
      <p:pic>
        <p:nvPicPr>
          <p:cNvPr id="33" name="Image 6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5" name="Text 26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policy in the employee handbook.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DIGITAL INFRASTRUCTURE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FLOWCHART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6647688" cy="658368"/>
          </a:xfrm>
          <a:prstGeom prst="roundRect">
            <a:avLst>
              <a:gd name="adj" fmla="val 11111"/>
            </a:avLst>
          </a:prstGeom>
          <a:solidFill>
            <a:srgbClr val="E2F1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21792" y="2075688"/>
            <a:ext cx="347472" cy="347472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157984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1920240"/>
            <a:ext cx="5824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[Critical safety or compliance note, if any.]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93C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685800" y="320040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85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325880" y="306324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1]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39319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F8B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7200" y="429768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93C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85800" y="461772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68580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325880" y="448056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2]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31520" y="5349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F8B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57200" y="571500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93C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685800" y="603504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685800" y="6035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1325880" y="589788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3]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67665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F8B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7132320"/>
            <a:ext cx="66476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93C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685800" y="745236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85800" y="7452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1325880" y="7315200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C2C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 4]  </a:t>
            </a: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[What to do, and any key detail.]</a:t>
            </a:r>
            <a:endParaRPr lang="en-US" sz="1300" dirty="0"/>
          </a:p>
        </p:txBody>
      </p:sp>
      <p:pic>
        <p:nvPicPr>
          <p:cNvPr id="30" name="Image 2" descr="/home/claude/deck/img/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801368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deck/img/logo_r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"/>
            <a:ext cx="1371600" cy="4513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53128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DIGITAL INFRASTRUCTURE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8412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WORKFLOW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60704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[Procedure name]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1723644" y="2148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7F3F4"/>
          </a:solidFill>
          <a:ln w="15875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906524" y="21488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b="1" kern="0" spc="100" dirty="0">
                <a:solidFill>
                  <a:srgbClr val="0F8B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  </a:t>
            </a:r>
            <a:r>
              <a:rPr lang="en-US" sz="120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[Starting point]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598164" y="2843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F8B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540764" y="3136392"/>
            <a:ext cx="4480560" cy="749808"/>
          </a:xfrm>
          <a:prstGeom prst="roundRect">
            <a:avLst>
              <a:gd name="adj" fmla="val 8537"/>
            </a:avLst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723644" y="313639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[Decision or question?]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770071" y="3886200"/>
            <a:ext cx="21946" cy="201168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057400" y="4078224"/>
            <a:ext cx="3447288" cy="21946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046427" y="4078224"/>
            <a:ext cx="21946" cy="201168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5493715" y="4078224"/>
            <a:ext cx="21946" cy="201168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874520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F8B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321808" y="42519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F8B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yes]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904488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[If no]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87C5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0080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874520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F8B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87C5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904488" y="4818888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87C5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087368" y="4818888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21808" y="5769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F8B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3904488" y="6080760"/>
            <a:ext cx="32004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87C5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087368" y="6080760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00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[Step]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046427" y="7050024"/>
            <a:ext cx="21946" cy="201168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5493715" y="7050024"/>
            <a:ext cx="21946" cy="201168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2057400" y="7242048"/>
            <a:ext cx="3447288" cy="21946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3770071" y="7242048"/>
            <a:ext cx="21946" cy="201168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3598164" y="7415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F8B8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▼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1540764" y="7653528"/>
            <a:ext cx="4480560" cy="768096"/>
          </a:xfrm>
          <a:prstGeom prst="roundRect">
            <a:avLst>
              <a:gd name="adj" fmla="val 8333"/>
            </a:avLst>
          </a:prstGeom>
          <a:solidFill>
            <a:srgbClr val="0F8B8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1769364" y="7653528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[Outcome or next step]</a:t>
            </a:r>
            <a:endParaRPr lang="en-US" sz="1250" dirty="0"/>
          </a:p>
        </p:txBody>
      </p:sp>
      <p:pic>
        <p:nvPicPr>
          <p:cNvPr id="37" name="Image 1" descr="/home/claude/deck/img/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268712"/>
            <a:ext cx="201168" cy="201168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731520" y="102595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1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Aqualogic, a Sustec company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3355848" y="102595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BCBFC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the detail, see the full procedure in the IMS.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2343</Words>
  <Application>Microsoft Macintosh PowerPoint</Application>
  <PresentationFormat>Custom</PresentationFormat>
  <Paragraphs>447</Paragraphs>
  <Slides>19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Arial</vt:lpstr>
      <vt:lpstr>Manrope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Aqualogic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Aqualogic policy at a glance template</dc:title>
  <dc:subject>PptxGenJS Presentation</dc:subject>
  <dc:creator>Alchemy</dc:creator>
  <cp:lastModifiedBy>Jess Morgan</cp:lastModifiedBy>
  <cp:revision>2</cp:revision>
  <dcterms:created xsi:type="dcterms:W3CDTF">2026-06-19T08:48:13Z</dcterms:created>
  <dcterms:modified xsi:type="dcterms:W3CDTF">2026-07-06T10:25:28Z</dcterms:modified>
</cp:coreProperties>
</file>