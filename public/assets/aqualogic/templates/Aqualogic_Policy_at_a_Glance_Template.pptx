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34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0C2C3A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to use this template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57200" y="1956816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one-page summary of a policy or procedure: what to know and what to do. For the detail, it links back to the full policy.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505456"/>
            <a:ext cx="6647688" cy="603504"/>
          </a:xfrm>
          <a:prstGeom prst="roundRect">
            <a:avLst>
              <a:gd name="adj" fmla="val 12121"/>
            </a:avLst>
          </a:prstGeom>
          <a:solidFill>
            <a:srgbClr val="DBF5FA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2624328"/>
            <a:ext cx="365760" cy="365760"/>
          </a:xfrm>
          <a:prstGeom prst="ellipse">
            <a:avLst/>
          </a:prstGeom>
          <a:solidFill>
            <a:srgbClr val="00B6DB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715768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07008" y="2505456"/>
            <a:ext cx="5687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Save a copy to your folder before editing. Leave this master template intact.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457200" y="3310128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USING IT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57200" y="363931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87552" y="363931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 to your area's colour group.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18795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16" name="Text 12"/>
          <p:cNvSpPr/>
          <p:nvPr/>
        </p:nvSpPr>
        <p:spPr>
          <a:xfrm>
            <a:off x="45720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987552" y="418795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Pick the page you need: a policy, flowchart or workflow.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57200" y="473659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19" name="Text 15"/>
          <p:cNvSpPr/>
          <p:nvPr/>
        </p:nvSpPr>
        <p:spPr>
          <a:xfrm>
            <a:off x="45720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987552" y="473659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Replace the placeholder text. Keep it to one page.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457200" y="528523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</p:sp>
      <p:sp>
        <p:nvSpPr>
          <p:cNvPr id="22" name="Text 18"/>
          <p:cNvSpPr/>
          <p:nvPr/>
        </p:nvSpPr>
        <p:spPr>
          <a:xfrm>
            <a:off x="45720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987552" y="528523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Delete the pages you do not need, then export to PDF (File, Export).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457200" y="5943600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COLOUR KEY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457200" y="6291072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FBECEC"/>
          </a:solidFill>
          <a:ln/>
        </p:spPr>
      </p:sp>
      <p:sp>
        <p:nvSpPr>
          <p:cNvPr id="26" name="Shape 22"/>
          <p:cNvSpPr/>
          <p:nvPr/>
        </p:nvSpPr>
        <p:spPr>
          <a:xfrm>
            <a:off x="621792" y="6382512"/>
            <a:ext cx="365760" cy="365760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647395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170432" y="6291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733288" y="62910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#D6453D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457200" y="6949440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EAF5F2"/>
          </a:solidFill>
          <a:ln/>
        </p:spPr>
      </p:sp>
      <p:sp>
        <p:nvSpPr>
          <p:cNvPr id="31" name="Shape 26"/>
          <p:cNvSpPr/>
          <p:nvPr/>
        </p:nvSpPr>
        <p:spPr>
          <a:xfrm>
            <a:off x="621792" y="7040880"/>
            <a:ext cx="365760" cy="365760"/>
          </a:xfrm>
          <a:prstGeom prst="ellipse">
            <a:avLst/>
          </a:prstGeom>
          <a:solidFill>
            <a:srgbClr val="2E9E78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7132320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170432" y="6949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5733288" y="6949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#2E9E78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457200" y="7607808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FCF4EA"/>
          </a:solidFill>
          <a:ln/>
        </p:spPr>
      </p:sp>
      <p:sp>
        <p:nvSpPr>
          <p:cNvPr id="36" name="Shape 30"/>
          <p:cNvSpPr/>
          <p:nvPr/>
        </p:nvSpPr>
        <p:spPr>
          <a:xfrm>
            <a:off x="621792" y="7699248"/>
            <a:ext cx="365760" cy="365760"/>
          </a:xfrm>
          <a:prstGeom prst="ellipse">
            <a:avLst/>
          </a:prstGeom>
          <a:solidFill>
            <a:srgbClr val="E0922F"/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7790688"/>
            <a:ext cx="182880" cy="18288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170432" y="76078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5733288" y="76078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#E0922F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457200" y="8266176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EFEEFA"/>
          </a:solidFill>
          <a:ln/>
        </p:spPr>
      </p:sp>
      <p:sp>
        <p:nvSpPr>
          <p:cNvPr id="41" name="Shape 34"/>
          <p:cNvSpPr/>
          <p:nvPr/>
        </p:nvSpPr>
        <p:spPr>
          <a:xfrm>
            <a:off x="621792" y="8357616"/>
            <a:ext cx="365760" cy="365760"/>
          </a:xfrm>
          <a:prstGeom prst="ellipse">
            <a:avLst/>
          </a:prstGeom>
          <a:solidFill>
            <a:srgbClr val="5A57C9"/>
          </a:solidFill>
          <a:ln/>
        </p:spPr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8449056"/>
            <a:ext cx="182880" cy="1828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1170432" y="82661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5733288" y="82661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#5A57C9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457200" y="8924544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EAF2F9"/>
          </a:solidFill>
          <a:ln/>
        </p:spPr>
      </p:sp>
      <p:sp>
        <p:nvSpPr>
          <p:cNvPr id="46" name="Shape 38"/>
          <p:cNvSpPr/>
          <p:nvPr/>
        </p:nvSpPr>
        <p:spPr>
          <a:xfrm>
            <a:off x="621792" y="9015984"/>
            <a:ext cx="365760" cy="365760"/>
          </a:xfrm>
          <a:prstGeom prst="ellipse">
            <a:avLst/>
          </a:prstGeom>
          <a:solidFill>
            <a:srgbClr val="2C7BC2"/>
          </a:solidFill>
          <a:ln/>
        </p:spPr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9107424"/>
            <a:ext cx="182880" cy="18288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170432" y="89245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400" dirty="0"/>
          </a:p>
        </p:txBody>
      </p:sp>
      <p:sp>
        <p:nvSpPr>
          <p:cNvPr id="49" name="Text 40"/>
          <p:cNvSpPr/>
          <p:nvPr/>
        </p:nvSpPr>
        <p:spPr>
          <a:xfrm>
            <a:off x="5733288" y="89245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#2C7BC2</a:t>
            </a:r>
            <a:endParaRPr lang="en-US" sz="1100" dirty="0"/>
          </a:p>
        </p:txBody>
      </p:sp>
      <p:sp>
        <p:nvSpPr>
          <p:cNvPr id="50" name="Text 41"/>
          <p:cNvSpPr/>
          <p:nvPr/>
        </p:nvSpPr>
        <p:spPr>
          <a:xfrm>
            <a:off x="457200" y="9820656"/>
            <a:ext cx="6647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Safety, HR and Fleet include a worked, illustrative example. Colours are a proposal and can be adjusted. Built in the Aqualogic brand (Manrope); install Manrope for correct rendering.</a:t>
            </a:r>
            <a:endParaRPr lang="en-US" sz="950" dirty="0"/>
          </a:p>
        </p:txBody>
      </p:sp>
      <p:pic>
        <p:nvPicPr>
          <p:cNvPr id="51" name="Image 7" descr="/home/claude/deck/img/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53" name="Text 43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D6453D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FBECEC"/>
          </a:solidFill>
          <a:ln/>
        </p:spPr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D6453D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FAE9E8"/>
          </a:solidFill>
          <a:ln/>
        </p:spPr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D6453D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13248" y="7498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5413248" y="749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ONLY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Accident or near miss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BECEC"/>
          </a:solidFill>
          <a:ln w="15875">
            <a:solidFill>
              <a:srgbClr val="D645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Make the area safe and check for danger.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D6453D"/>
          </a:solidFill>
          <a:ln/>
        </p:spPr>
      </p:sp>
      <p:sp>
        <p:nvSpPr>
          <p:cNvPr id="13" name="Text 10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 anyone injured?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15" name="Shape 12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16" name="Shape 13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17" name="Shape 14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18" name="Text 15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yes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no (near miss)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a first aider, or 999 if it is serious.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Tell your line manager straight away.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Tell your line manager.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 it on the near-miss form.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33" name="Shape 30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34" name="Shape 31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35" name="Shape 32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D6453D"/>
          </a:solidFill>
          <a:ln/>
        </p:spPr>
      </p:sp>
      <p:sp>
        <p:nvSpPr>
          <p:cNvPr id="36" name="Text 33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D6453D"/>
          </a:solidFill>
          <a:ln/>
        </p:spPr>
      </p:sp>
      <p:sp>
        <p:nvSpPr>
          <p:cNvPr id="38" name="Text 35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line manager records it and completes the investigation form.</a:t>
            </a:r>
            <a:endParaRPr lang="en-US" sz="1250" dirty="0"/>
          </a:p>
        </p:txBody>
      </p:sp>
      <p:pic>
        <p:nvPicPr>
          <p:cNvPr id="39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content. Replace with your own.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E9E78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13248" y="7498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5413248" y="749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ONLY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Absence management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Supporting your wellbeing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Promoting employee health while keeping operations running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Resources to help you through periods of illness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36499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60704" y="320954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connected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060704" y="372160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your line manager within 30 minutes of your shift start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Share what helps us support you and manage workload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Regular check-ins so we give the right support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457200" y="480060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491947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60704" y="476402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060704" y="527608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Complete self-certification for all absences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Provide a fit note for absences over 7 calendar days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57200" y="603504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615391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060704" y="59984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Sick pay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060704" y="651052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Paid in line with your contract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Statutory Sick Pay applies where eligible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57200" y="726948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7388352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60704" y="7232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smooth return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1060704" y="7744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welcoming conversation when you return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discussion about any support you need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phased return where it helps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</p:sp>
      <p:sp>
        <p:nvSpPr>
          <p:cNvPr id="30" name="Text 22"/>
          <p:cNvSpPr/>
          <p:nvPr/>
        </p:nvSpPr>
        <p:spPr>
          <a:xfrm>
            <a:off x="4754880" y="217627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stages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4754880" y="267004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1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Verbal warning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4754880" y="291693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absences in Y weeks, or X in Y months. Documented discussion. Y-month review.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4754880" y="35204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2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Written warning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4754880" y="3767328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Further absence in the review period. Formal meeting. Y-month review.</a:t>
            </a:r>
            <a:endParaRPr lang="en-US" sz="950" dirty="0"/>
          </a:p>
        </p:txBody>
      </p:sp>
      <p:sp>
        <p:nvSpPr>
          <p:cNvPr id="35" name="Text 27"/>
          <p:cNvSpPr/>
          <p:nvPr/>
        </p:nvSpPr>
        <p:spPr>
          <a:xfrm>
            <a:off x="4754880" y="437083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3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written warning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4754880" y="461772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Further absence in the review period. Formal meeting. Y-month review.</a:t>
            </a:r>
            <a:endParaRPr lang="en-US" sz="950" dirty="0"/>
          </a:p>
        </p:txBody>
      </p:sp>
      <p:sp>
        <p:nvSpPr>
          <p:cNvPr id="37" name="Text 29"/>
          <p:cNvSpPr/>
          <p:nvPr/>
        </p:nvSpPr>
        <p:spPr>
          <a:xfrm>
            <a:off x="4754880" y="522122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4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Potential dismissal</a:t>
            </a:r>
            <a:endParaRPr lang="en-US" sz="1150" dirty="0"/>
          </a:p>
        </p:txBody>
      </p:sp>
      <p:sp>
        <p:nvSpPr>
          <p:cNvPr id="38" name="Text 30"/>
          <p:cNvSpPr/>
          <p:nvPr/>
        </p:nvSpPr>
        <p:spPr>
          <a:xfrm>
            <a:off x="4754880" y="546811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Further absence in the review period. Formal meeting.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EAF5F2"/>
          </a:solidFill>
          <a:ln/>
        </p:spPr>
      </p:sp>
      <p:sp>
        <p:nvSpPr>
          <p:cNvPr id="40" name="Text 32"/>
          <p:cNvSpPr/>
          <p:nvPr/>
        </p:nvSpPr>
        <p:spPr>
          <a:xfrm>
            <a:off x="4754880" y="651052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Additional support</a:t>
            </a:r>
            <a:endParaRPr lang="en-US" sz="1300" dirty="0"/>
          </a:p>
        </p:txBody>
      </p:sp>
      <p:sp>
        <p:nvSpPr>
          <p:cNvPr id="41" name="Text 33"/>
          <p:cNvSpPr/>
          <p:nvPr/>
        </p:nvSpPr>
        <p:spPr>
          <a:xfrm>
            <a:off x="4754880" y="68580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Enhanced provisions for specific circumstances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Private health insurance (Equipsme), GP 24/7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Employee Assistance Programme (EAP)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Mental Health First Aiders (see intranet)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0333 400 0545, quote PGHAPI</a:t>
            </a:r>
            <a:endParaRPr lang="en-US" sz="1000" dirty="0"/>
          </a:p>
        </p:txBody>
      </p:sp>
      <p:pic>
        <p:nvPicPr>
          <p:cNvPr id="42" name="Image 6" descr="/home/claude/deck/img/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content. Replace with your own.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E9E78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E6F3EF"/>
          </a:solidFill>
          <a:ln/>
        </p:spPr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2E9E78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E9E78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AF5F2"/>
          </a:solidFill>
          <a:ln w="15875">
            <a:solidFill>
              <a:srgbClr val="2E9E7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2E9E78"/>
          </a:solidFill>
          <a:ln/>
        </p:spPr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2E9E78"/>
          </a:solidFill>
          <a:ln/>
        </p:spPr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2E9E78"/>
          </a:solidFill>
          <a:ln/>
        </p:spPr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E0922F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FCF4EA"/>
          </a:solidFill>
          <a:ln/>
        </p:spPr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E0922F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13248" y="7498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5413248" y="749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ONLY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Road traffic collision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F9E5E4"/>
          </a:solidFill>
          <a:ln/>
        </p:spPr>
      </p:sp>
      <p:sp>
        <p:nvSpPr>
          <p:cNvPr id="10" name="Shape 7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D6453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Driver and third-party safety is paramount.  </a:t>
            </a:r>
            <a:r>
              <a:rPr lang="en-US" sz="11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emergency services if needed. Do not admit liability.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2788920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8368" y="3044952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15" name="Text 11"/>
          <p:cNvSpPr/>
          <p:nvPr/>
        </p:nvSpPr>
        <p:spPr>
          <a:xfrm>
            <a:off x="658368" y="3044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234440" y="29169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Stop when safe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234440" y="3209544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Switch off the engine and turn on hazard lights.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94944" y="37033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57200" y="4014216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8368" y="4270248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1" name="Text 17"/>
          <p:cNvSpPr/>
          <p:nvPr/>
        </p:nvSpPr>
        <p:spPr>
          <a:xfrm>
            <a:off x="658368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234440" y="414223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Make the scene safe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234440" y="443484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emergency services if anyone is hurt or there is danger.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94944" y="4928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57200" y="5239512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58368" y="5495544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7" name="Text 23"/>
          <p:cNvSpPr/>
          <p:nvPr/>
        </p:nvSpPr>
        <p:spPr>
          <a:xfrm>
            <a:off x="658368" y="5495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1234440" y="53675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Gather details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1234440" y="5660136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Third party and any witnesses. Note a police crime reference if police attend.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94944" y="61539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6464808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58368" y="6720840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33" name="Text 29"/>
          <p:cNvSpPr/>
          <p:nvPr/>
        </p:nvSpPr>
        <p:spPr>
          <a:xfrm>
            <a:off x="658368" y="6720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1234440" y="65928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Take photos, if safe</a:t>
            </a:r>
            <a:endParaRPr lang="en-US" sz="1300" dirty="0"/>
          </a:p>
        </p:txBody>
      </p:sp>
      <p:sp>
        <p:nvSpPr>
          <p:cNvPr id="35" name="Text 31"/>
          <p:cNvSpPr/>
          <p:nvPr/>
        </p:nvSpPr>
        <p:spPr>
          <a:xfrm>
            <a:off x="1234440" y="6885432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location, and the damage to all vehicles.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94944" y="73792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457200" y="7690104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58368" y="7946136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39" name="Text 35"/>
          <p:cNvSpPr/>
          <p:nvPr/>
        </p:nvSpPr>
        <p:spPr>
          <a:xfrm>
            <a:off x="658368" y="79461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1234440" y="78181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Tell your line manager asap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1234440" y="811072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They complete the Incident Investigation Form with Fleet and Assets.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26280" y="2788920"/>
            <a:ext cx="2578608" cy="46177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</p:sp>
      <p:sp>
        <p:nvSpPr>
          <p:cNvPr id="43" name="Text 39"/>
          <p:cNvSpPr/>
          <p:nvPr/>
        </p:nvSpPr>
        <p:spPr>
          <a:xfrm>
            <a:off x="4745736" y="29260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Details to obtain</a:t>
            </a:r>
            <a:endParaRPr lang="en-US" sz="1250" dirty="0"/>
          </a:p>
        </p:txBody>
      </p:sp>
      <p:sp>
        <p:nvSpPr>
          <p:cNvPr id="44" name="Text 40"/>
          <p:cNvSpPr/>
          <p:nvPr/>
        </p:nvSpPr>
        <p:spPr>
          <a:xfrm>
            <a:off x="4745736" y="3218688"/>
            <a:ext cx="21579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Third party: name, address, mobile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Make, model and registration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Damage, and number of passengers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Insurer and policy number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Witnesses: name, address, mobile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4745736" y="50292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Information to provide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4745736" y="5321808"/>
            <a:ext cx="2157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name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Company vehicle registration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Date, time and location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Insurance details (below)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4745736" y="6547104"/>
            <a:ext cx="2139696" cy="804672"/>
          </a:xfrm>
          <a:prstGeom prst="roundRect">
            <a:avLst>
              <a:gd name="adj" fmla="val 9091"/>
            </a:avLst>
          </a:prstGeom>
          <a:solidFill>
            <a:srgbClr val="E0922F"/>
          </a:solidFill>
          <a:ln/>
        </p:spPr>
      </p:sp>
      <p:sp>
        <p:nvSpPr>
          <p:cNvPr id="48" name="Text 44"/>
          <p:cNvSpPr/>
          <p:nvPr/>
        </p:nvSpPr>
        <p:spPr>
          <a:xfrm>
            <a:off x="4745736" y="6547104"/>
            <a:ext cx="21396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Zurich Insurance</a:t>
            </a:r>
            <a:endParaRPr lang="en-US" sz="125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AQ 403066</a:t>
            </a:r>
            <a:endParaRPr lang="en-US" sz="1250" dirty="0"/>
          </a:p>
        </p:txBody>
      </p:sp>
      <p:pic>
        <p:nvPicPr>
          <p:cNvPr id="49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content. Replace with your own.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E0922F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CF4EA"/>
          </a:solidFill>
          <a:ln w="15875">
            <a:solidFill>
              <a:srgbClr val="E0922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E0922F"/>
          </a:solidFill>
          <a:ln/>
        </p:spPr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E0922F"/>
          </a:solidFill>
          <a:ln/>
        </p:spPr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5A57C9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EFEEFA"/>
          </a:solidFill>
          <a:ln/>
        </p:spPr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5A57C9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EBEBF9"/>
          </a:solidFill>
          <a:ln/>
        </p:spPr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5A57C9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5A57C9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FEEFA"/>
          </a:solidFill>
          <a:ln w="15875">
            <a:solidFill>
              <a:srgbClr val="5A57C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5A57C9"/>
          </a:solidFill>
          <a:ln/>
        </p:spPr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5A57C9"/>
          </a:solidFill>
          <a:ln/>
        </p:spPr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5A57C9"/>
          </a:solidFill>
          <a:ln/>
        </p:spPr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C7BC2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EAF2F9"/>
          </a:solidFill>
          <a:ln/>
        </p:spPr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C7BC2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E6EFF8"/>
          </a:solidFill>
          <a:ln/>
        </p:spPr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2C7BC2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C7BC2"/>
          </a:solidFill>
          <a:ln/>
        </p:spPr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AF2F9"/>
          </a:solidFill>
          <a:ln w="15875">
            <a:solidFill>
              <a:srgbClr val="2C7BC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2C7BC2"/>
          </a:solidFill>
          <a:ln/>
        </p:spPr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2C7BC2"/>
          </a:solidFill>
          <a:ln/>
        </p:spPr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2C7BC2"/>
          </a:solidFill>
          <a:ln/>
        </p:spPr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2009</Words>
  <Application>Microsoft Macintosh PowerPoint</Application>
  <PresentationFormat>Custom</PresentationFormat>
  <Paragraphs>384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Manrope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Aqualogic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Aqualogic policy at a glance template</dc:title>
  <dc:subject>PptxGenJS Presentation</dc:subject>
  <dc:creator>Alchemy</dc:creator>
  <cp:lastModifiedBy>Jess Morgan</cp:lastModifiedBy>
  <cp:revision>2</cp:revision>
  <dcterms:created xsi:type="dcterms:W3CDTF">2026-06-19T08:48:13Z</dcterms:created>
  <dcterms:modified xsi:type="dcterms:W3CDTF">2026-06-19T08:51:02Z</dcterms:modified>
</cp:coreProperties>
</file>